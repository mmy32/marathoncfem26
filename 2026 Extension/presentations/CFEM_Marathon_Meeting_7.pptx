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iusrqk91B46NvYzkRy7MvpoW7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E0E60C-5CC8-4E51-B46B-359FF162224D}">
  <a:tblStyle styleId="{EEE0E60C-5CC8-4E51-B46B-359FF16222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00E6AFE-3EF9-4296-BEF3-E5894A6DB42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6A51E3E-BD59-4208-A258-3B17EDC5BC88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Cost share</c:v>
          </c:tx>
          <c:spPr>
            <a:solidFill>
              <a:srgbClr val="365778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1-8480-0C46-B533-5B1A194797EB}"/>
              </c:ext>
            </c:extLst>
          </c:dPt>
          <c:dPt>
            <c:idx val="1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3-8480-0C46-B533-5B1A194797EB}"/>
              </c:ext>
            </c:extLst>
          </c:dPt>
          <c:dPt>
            <c:idx val="2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5-8480-0C46-B533-5B1A194797EB}"/>
              </c:ext>
            </c:extLst>
          </c:dPt>
          <c:dPt>
            <c:idx val="3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7-8480-0C46-B533-5B1A194797EB}"/>
              </c:ext>
            </c:extLst>
          </c:dPt>
          <c:dPt>
            <c:idx val="4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9-8480-0C46-B533-5B1A194797EB}"/>
              </c:ext>
            </c:extLst>
          </c:dPt>
          <c:dPt>
            <c:idx val="5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B-8480-0C46-B533-5B1A194797EB}"/>
              </c:ext>
            </c:extLst>
          </c:dPt>
          <c:dPt>
            <c:idx val="6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D-8480-0C46-B533-5B1A194797EB}"/>
              </c:ext>
            </c:extLst>
          </c:dPt>
          <c:dPt>
            <c:idx val="7"/>
            <c:invertIfNegative val="0"/>
            <c:bubble3D val="0"/>
            <c:spPr>
              <a:solidFill>
                <a:srgbClr val="A2ACB9"/>
              </a:solidFill>
            </c:spPr>
            <c:extLst>
              <c:ext xmlns:c16="http://schemas.microsoft.com/office/drawing/2014/chart" uri="{C3380CC4-5D6E-409C-BE32-E72D297353CC}">
                <c16:uniqueId val="{0000000F-8480-0C46-B533-5B1A194797EB}"/>
              </c:ext>
            </c:extLst>
          </c:dPt>
          <c:dPt>
            <c:idx val="8"/>
            <c:invertIfNegative val="0"/>
            <c:bubble3D val="0"/>
            <c:spPr>
              <a:solidFill>
                <a:srgbClr val="B15D32"/>
              </a:solidFill>
            </c:spPr>
            <c:extLst>
              <c:ext xmlns:c16="http://schemas.microsoft.com/office/drawing/2014/chart" uri="{C3380CC4-5D6E-409C-BE32-E72D297353CC}">
                <c16:uniqueId val="{00000011-8480-0C46-B533-5B1A194797EB}"/>
              </c:ext>
            </c:extLst>
          </c:dPt>
          <c:dPt>
            <c:idx val="9"/>
            <c:invertIfNegative val="0"/>
            <c:bubble3D val="0"/>
            <c:spPr>
              <a:solidFill>
                <a:srgbClr val="287B85"/>
              </a:solidFill>
            </c:spPr>
            <c:extLst>
              <c:ext xmlns:c16="http://schemas.microsoft.com/office/drawing/2014/chart" uri="{C3380CC4-5D6E-409C-BE32-E72D297353CC}">
                <c16:uniqueId val="{00000013-8480-0C46-B533-5B1A194797EB}"/>
              </c:ext>
            </c:extLst>
          </c:dPt>
          <c:dPt>
            <c:idx val="10"/>
            <c:invertIfNegative val="0"/>
            <c:bubble3D val="0"/>
            <c:spPr>
              <a:solidFill>
                <a:srgbClr val="1D243E"/>
              </a:solidFill>
            </c:spPr>
            <c:extLst>
              <c:ext xmlns:c16="http://schemas.microsoft.com/office/drawing/2014/chart" uri="{C3380CC4-5D6E-409C-BE32-E72D297353CC}">
                <c16:uniqueId val="{00000015-8480-0C46-B533-5B1A194797EB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0">
                    <a:solidFill>
                      <a:srgbClr val="1D243E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Data'!$A$2:$A$12</c:f>
              <c:strCache>
                <c:ptCount val="11"/>
                <c:pt idx="0">
                  <c:v>Real Estate</c:v>
                </c:pt>
                <c:pt idx="1">
                  <c:v>Energy &amp; Utilities</c:v>
                </c:pt>
                <c:pt idx="2">
                  <c:v>Transportation</c:v>
                </c:pt>
                <c:pt idx="3">
                  <c:v>Communication &amp; Media</c:v>
                </c:pt>
                <c:pt idx="4">
                  <c:v>Materials</c:v>
                </c:pt>
                <c:pt idx="5">
                  <c:v>Financials &amp; Insurance</c:v>
                </c:pt>
                <c:pt idx="6">
                  <c:v>Industrials</c:v>
                </c:pt>
                <c:pt idx="7">
                  <c:v>Unknown</c:v>
                </c:pt>
                <c:pt idx="8">
                  <c:v>Consumer</c:v>
                </c:pt>
                <c:pt idx="9">
                  <c:v>Healthcare</c:v>
                </c:pt>
                <c:pt idx="10">
                  <c:v>Technology</c:v>
                </c:pt>
              </c:strCache>
            </c:strRef>
          </c:cat>
          <c:val>
            <c:numRef>
              <c:f>'Chart Data'!$B$2:$B$12</c:f>
              <c:numCache>
                <c:formatCode>0.00%</c:formatCode>
                <c:ptCount val="11"/>
                <c:pt idx="0">
                  <c:v>1.0236222499999999E-2</c:v>
                </c:pt>
                <c:pt idx="1">
                  <c:v>1.6339938700000001E-2</c:v>
                </c:pt>
                <c:pt idx="2">
                  <c:v>2.7732483499999998E-2</c:v>
                </c:pt>
                <c:pt idx="3">
                  <c:v>3.5292237400000002E-2</c:v>
                </c:pt>
                <c:pt idx="4">
                  <c:v>3.8413871699999998E-2</c:v>
                </c:pt>
                <c:pt idx="5">
                  <c:v>9.2395486999999998E-2</c:v>
                </c:pt>
                <c:pt idx="6">
                  <c:v>0.1159208492</c:v>
                </c:pt>
                <c:pt idx="7">
                  <c:v>0.12070736780000001</c:v>
                </c:pt>
                <c:pt idx="8">
                  <c:v>0.14453458699999999</c:v>
                </c:pt>
                <c:pt idx="9">
                  <c:v>0.1522242154</c:v>
                </c:pt>
                <c:pt idx="10">
                  <c:v>0.24620273989999999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8480-0C46-B533-5B1A194797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5715">
              <a:solidFill>
                <a:srgbClr val="DCE4EC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56647A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1D243E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1F6FA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1F6FA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800" b="1">
                <a:solidFill>
                  <a:srgbClr val="1D243E"/>
                </a:solidFill>
                <a:latin typeface="Arial"/>
                <a:ea typeface="Arial"/>
                <a:cs typeface="Arial"/>
              </a:rPr>
              <a:t>Net discount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Net discount</c:v>
          </c:tx>
          <c:spPr>
            <a:solidFill>
              <a:srgbClr val="365778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1-8576-AD4E-A2B6-467339DB0910}"/>
              </c:ext>
            </c:extLst>
          </c:dPt>
          <c:dPt>
            <c:idx val="1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3-8576-AD4E-A2B6-467339DB0910}"/>
              </c:ext>
            </c:extLst>
          </c:dPt>
          <c:dPt>
            <c:idx val="2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5-8576-AD4E-A2B6-467339DB0910}"/>
              </c:ext>
            </c:extLst>
          </c:dPt>
          <c:dPt>
            <c:idx val="3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7-8576-AD4E-A2B6-467339DB0910}"/>
              </c:ext>
            </c:extLst>
          </c:dPt>
          <c:dPt>
            <c:idx val="4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9-8576-AD4E-A2B6-467339DB0910}"/>
              </c:ext>
            </c:extLst>
          </c:dPt>
          <c:dPt>
            <c:idx val="5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B-8576-AD4E-A2B6-467339DB0910}"/>
              </c:ext>
            </c:extLst>
          </c:dPt>
          <c:dPt>
            <c:idx val="6"/>
            <c:invertIfNegative val="0"/>
            <c:bubble3D val="0"/>
            <c:spPr>
              <a:solidFill>
                <a:srgbClr val="365778"/>
              </a:solidFill>
            </c:spPr>
            <c:extLst>
              <c:ext xmlns:c16="http://schemas.microsoft.com/office/drawing/2014/chart" uri="{C3380CC4-5D6E-409C-BE32-E72D297353CC}">
                <c16:uniqueId val="{0000000D-8576-AD4E-A2B6-467339DB0910}"/>
              </c:ext>
            </c:extLst>
          </c:dPt>
          <c:dPt>
            <c:idx val="7"/>
            <c:invertIfNegative val="0"/>
            <c:bubble3D val="0"/>
            <c:spPr>
              <a:solidFill>
                <a:srgbClr val="A2ACB9"/>
              </a:solidFill>
            </c:spPr>
            <c:extLst>
              <c:ext xmlns:c16="http://schemas.microsoft.com/office/drawing/2014/chart" uri="{C3380CC4-5D6E-409C-BE32-E72D297353CC}">
                <c16:uniqueId val="{0000000F-8576-AD4E-A2B6-467339DB0910}"/>
              </c:ext>
            </c:extLst>
          </c:dPt>
          <c:dPt>
            <c:idx val="8"/>
            <c:invertIfNegative val="0"/>
            <c:bubble3D val="0"/>
            <c:spPr>
              <a:solidFill>
                <a:srgbClr val="B15D32"/>
              </a:solidFill>
            </c:spPr>
            <c:extLst>
              <c:ext xmlns:c16="http://schemas.microsoft.com/office/drawing/2014/chart" uri="{C3380CC4-5D6E-409C-BE32-E72D297353CC}">
                <c16:uniqueId val="{00000011-8576-AD4E-A2B6-467339DB0910}"/>
              </c:ext>
            </c:extLst>
          </c:dPt>
          <c:dPt>
            <c:idx val="9"/>
            <c:invertIfNegative val="0"/>
            <c:bubble3D val="0"/>
            <c:spPr>
              <a:solidFill>
                <a:srgbClr val="287B85"/>
              </a:solidFill>
            </c:spPr>
            <c:extLst>
              <c:ext xmlns:c16="http://schemas.microsoft.com/office/drawing/2014/chart" uri="{C3380CC4-5D6E-409C-BE32-E72D297353CC}">
                <c16:uniqueId val="{00000013-8576-AD4E-A2B6-467339DB0910}"/>
              </c:ext>
            </c:extLst>
          </c:dPt>
          <c:dPt>
            <c:idx val="10"/>
            <c:invertIfNegative val="0"/>
            <c:bubble3D val="0"/>
            <c:spPr>
              <a:solidFill>
                <a:srgbClr val="1D243E"/>
              </a:solidFill>
            </c:spPr>
            <c:extLst>
              <c:ext xmlns:c16="http://schemas.microsoft.com/office/drawing/2014/chart" uri="{C3380CC4-5D6E-409C-BE32-E72D297353CC}">
                <c16:uniqueId val="{00000015-8576-AD4E-A2B6-467339DB0910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0">
                    <a:solidFill>
                      <a:srgbClr val="1D243E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Data'!$A$2:$A$12</c:f>
              <c:strCache>
                <c:ptCount val="11"/>
                <c:pt idx="0">
                  <c:v>Real Estate</c:v>
                </c:pt>
                <c:pt idx="1">
                  <c:v>Energy &amp; Utilities</c:v>
                </c:pt>
                <c:pt idx="2">
                  <c:v>Transportation</c:v>
                </c:pt>
                <c:pt idx="3">
                  <c:v>Communication &amp; Media</c:v>
                </c:pt>
                <c:pt idx="4">
                  <c:v>Materials</c:v>
                </c:pt>
                <c:pt idx="5">
                  <c:v>Financials &amp; Insurance</c:v>
                </c:pt>
                <c:pt idx="6">
                  <c:v>Industrials</c:v>
                </c:pt>
                <c:pt idx="7">
                  <c:v>Unknown</c:v>
                </c:pt>
                <c:pt idx="8">
                  <c:v>Consumer</c:v>
                </c:pt>
                <c:pt idx="9">
                  <c:v>Healthcare</c:v>
                </c:pt>
                <c:pt idx="10">
                  <c:v>Technology</c:v>
                </c:pt>
              </c:strCache>
            </c:strRef>
          </c:cat>
          <c:val>
            <c:numRef>
              <c:f>'Chart Data'!$B$2:$B$12</c:f>
              <c:numCache>
                <c:formatCode>0.00%</c:formatCode>
                <c:ptCount val="11"/>
                <c:pt idx="0">
                  <c:v>2.46978227E-2</c:v>
                </c:pt>
                <c:pt idx="1">
                  <c:v>1.82870766E-2</c:v>
                </c:pt>
                <c:pt idx="2">
                  <c:v>1.30256655E-2</c:v>
                </c:pt>
                <c:pt idx="3">
                  <c:v>2.0854953400000001E-2</c:v>
                </c:pt>
                <c:pt idx="4">
                  <c:v>1.56186081E-2</c:v>
                </c:pt>
                <c:pt idx="5">
                  <c:v>1.06186888E-2</c:v>
                </c:pt>
                <c:pt idx="6">
                  <c:v>1.2879199399999999E-2</c:v>
                </c:pt>
                <c:pt idx="7">
                  <c:v>8.0439689999999998E-3</c:v>
                </c:pt>
                <c:pt idx="8">
                  <c:v>1.33447958E-2</c:v>
                </c:pt>
                <c:pt idx="9">
                  <c:v>2.06845337E-2</c:v>
                </c:pt>
                <c:pt idx="10">
                  <c:v>2.32194846E-2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8576-AD4E-A2B6-467339DB09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5715">
              <a:solidFill>
                <a:srgbClr val="DCE4EC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56647A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1D243E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1F6FA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1F6FA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800" b="1">
                <a:solidFill>
                  <a:srgbClr val="1D243E"/>
                </a:solidFill>
                <a:latin typeface="Arial"/>
                <a:ea typeface="Arial"/>
                <a:cs typeface="Arial"/>
              </a:rPr>
              <a:t>Cost share with FV/Cost &lt; 0.90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Low-valuation Cost share</c:v>
          </c:tx>
          <c:spPr>
            <a:solidFill>
              <a:srgbClr val="365778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EB-0240-8572-C13C6612F21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DEB-0240-8572-C13C6612F21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DEB-0240-8572-C13C6612F21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DEB-0240-8572-C13C6612F21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DEB-0240-8572-C13C6612F21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DEB-0240-8572-C13C6612F21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DEB-0240-8572-C13C6612F21D}"/>
              </c:ext>
            </c:extLst>
          </c:dPt>
          <c:dPt>
            <c:idx val="7"/>
            <c:invertIfNegative val="0"/>
            <c:bubble3D val="0"/>
            <c:spPr>
              <a:solidFill>
                <a:srgbClr val="A2ACB9"/>
              </a:solidFill>
            </c:spPr>
            <c:extLst>
              <c:ext xmlns:c16="http://schemas.microsoft.com/office/drawing/2014/chart" uri="{C3380CC4-5D6E-409C-BE32-E72D297353CC}">
                <c16:uniqueId val="{0000000F-1DEB-0240-8572-C13C6612F21D}"/>
              </c:ext>
            </c:extLst>
          </c:dPt>
          <c:dPt>
            <c:idx val="8"/>
            <c:invertIfNegative val="0"/>
            <c:bubble3D val="0"/>
            <c:spPr>
              <a:solidFill>
                <a:srgbClr val="B15D32"/>
              </a:solidFill>
            </c:spPr>
            <c:extLst>
              <c:ext xmlns:c16="http://schemas.microsoft.com/office/drawing/2014/chart" uri="{C3380CC4-5D6E-409C-BE32-E72D297353CC}">
                <c16:uniqueId val="{00000011-1DEB-0240-8572-C13C6612F21D}"/>
              </c:ext>
            </c:extLst>
          </c:dPt>
          <c:dPt>
            <c:idx val="9"/>
            <c:invertIfNegative val="0"/>
            <c:bubble3D val="0"/>
            <c:spPr>
              <a:solidFill>
                <a:srgbClr val="287B85"/>
              </a:solidFill>
            </c:spPr>
            <c:extLst>
              <c:ext xmlns:c16="http://schemas.microsoft.com/office/drawing/2014/chart" uri="{C3380CC4-5D6E-409C-BE32-E72D297353CC}">
                <c16:uniqueId val="{00000013-1DEB-0240-8572-C13C6612F21D}"/>
              </c:ext>
            </c:extLst>
          </c:dPt>
          <c:dPt>
            <c:idx val="10"/>
            <c:invertIfNegative val="0"/>
            <c:bubble3D val="0"/>
            <c:spPr>
              <a:solidFill>
                <a:srgbClr val="1D243E"/>
              </a:solidFill>
            </c:spPr>
            <c:extLst>
              <c:ext xmlns:c16="http://schemas.microsoft.com/office/drawing/2014/chart" uri="{C3380CC4-5D6E-409C-BE32-E72D297353CC}">
                <c16:uniqueId val="{00000015-1DEB-0240-8572-C13C6612F21D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0">
                    <a:solidFill>
                      <a:srgbClr val="1D243E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Data'!$A$2:$A$12</c:f>
              <c:strCache>
                <c:ptCount val="11"/>
                <c:pt idx="0">
                  <c:v>Real Estate</c:v>
                </c:pt>
                <c:pt idx="1">
                  <c:v>Energy &amp; Utilities</c:v>
                </c:pt>
                <c:pt idx="2">
                  <c:v>Transportation</c:v>
                </c:pt>
                <c:pt idx="3">
                  <c:v>Communication &amp; Media</c:v>
                </c:pt>
                <c:pt idx="4">
                  <c:v>Materials</c:v>
                </c:pt>
                <c:pt idx="5">
                  <c:v>Financials &amp; Insurance</c:v>
                </c:pt>
                <c:pt idx="6">
                  <c:v>Industrials</c:v>
                </c:pt>
                <c:pt idx="7">
                  <c:v>Unknown</c:v>
                </c:pt>
                <c:pt idx="8">
                  <c:v>Consumer</c:v>
                </c:pt>
                <c:pt idx="9">
                  <c:v>Healthcare</c:v>
                </c:pt>
                <c:pt idx="10">
                  <c:v>Technology</c:v>
                </c:pt>
              </c:strCache>
            </c:strRef>
          </c:cat>
          <c:val>
            <c:numRef>
              <c:f>'Chart Data'!$B$2:$B$12</c:f>
              <c:numCache>
                <c:formatCode>0.00%</c:formatCode>
                <c:ptCount val="11"/>
                <c:pt idx="0">
                  <c:v>0.1086543554</c:v>
                </c:pt>
                <c:pt idx="1">
                  <c:v>3.9192957700000003E-2</c:v>
                </c:pt>
                <c:pt idx="2">
                  <c:v>3.9410348499999998E-2</c:v>
                </c:pt>
                <c:pt idx="3">
                  <c:v>7.7960023200000006E-2</c:v>
                </c:pt>
                <c:pt idx="4">
                  <c:v>3.6389902799999999E-2</c:v>
                </c:pt>
                <c:pt idx="5">
                  <c:v>2.7630634599999999E-2</c:v>
                </c:pt>
                <c:pt idx="6">
                  <c:v>3.6764164500000002E-2</c:v>
                </c:pt>
                <c:pt idx="7">
                  <c:v>2.5515766400000001E-2</c:v>
                </c:pt>
                <c:pt idx="8">
                  <c:v>4.4916052599999999E-2</c:v>
                </c:pt>
                <c:pt idx="9">
                  <c:v>8.0074557800000001E-2</c:v>
                </c:pt>
                <c:pt idx="10">
                  <c:v>4.9798626200000001E-2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1DEB-0240-8572-C13C6612F2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5715">
              <a:solidFill>
                <a:srgbClr val="DCE4EC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56647A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1D243E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1F6FA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1F6FA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PIK flagged</c:v>
          </c:tx>
          <c:spPr>
            <a:solidFill>
              <a:srgbClr val="B15D32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1D243E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Net discount</c:v>
                </c:pt>
                <c:pt idx="1">
                  <c:v>Low-valuation Cost share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6.0651345199999998E-2</c:v>
                </c:pt>
                <c:pt idx="1">
                  <c:v>0.17004061940000001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48-B347-A3C8-7D70AC42EFD1}"/>
            </c:ext>
          </c:extLst>
        </c:ser>
        <c:ser>
          <c:idx val="1"/>
          <c:order val="1"/>
          <c:tx>
            <c:v>Not flagged</c:v>
          </c:tx>
          <c:spPr>
            <a:solidFill>
              <a:srgbClr val="365778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1D243E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Net discount</c:v>
                </c:pt>
                <c:pt idx="1">
                  <c:v>Low-valuation Cost share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1.1360454000000001E-2</c:v>
                </c:pt>
                <c:pt idx="1">
                  <c:v>3.3641984299999997E-2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48-B347-A3C8-7D70AC42EF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575">
                <a:solidFill>
                  <a:srgbClr val="1D243E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1"/>
          <c:min val="0"/>
        </c:scaling>
        <c:delete val="0"/>
        <c:axPos val="l"/>
        <c:majorGridlines>
          <c:spPr>
            <a:ln w="5715">
              <a:solidFill>
                <a:srgbClr val="C7D2DC"/>
              </a:solidFill>
            </a:ln>
          </c:spPr>
        </c:majorGridlines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6647A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1F6FA"/>
        </a:solidFill>
      </c:spPr>
    </c:plotArea>
    <c:legend>
      <c:legendPos val="b"/>
      <c:overlay val="0"/>
      <c:txPr>
        <a:bodyPr anchorCtr="1"/>
        <a:lstStyle/>
        <a:p>
          <a:pPr>
            <a:defRPr sz="1575">
              <a:solidFill>
                <a:srgbClr val="1D243E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1F6FA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71c2a19aba2f255b_0_41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h71c2a19aba2f255b_0_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h71c2a19aba2f255b_0_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h1367c7d0c9099557_0_4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h1367c7d0c9099557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h1367c7d0c9099557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h1367c7d0c9099557_0_21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h1367c7d0c9099557_0_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h1367c7d0c9099557_0_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1367c7d0c9099557_0_35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h1367c7d0c9099557_0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h1367c7d0c9099557_0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1367c7d0c9099557_0_4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h1367c7d0c9099557_0_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h1367c7d0c9099557_0_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79338db20bb34079_0_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h79338db20bb34079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h79338db20bb34079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79338db20bb34079_0_15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h79338db20bb34079_0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h79338db20bb34079_0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79338db20bb34079_0_258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h79338db20bb34079_0_2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h79338db20bb34079_0_2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chart" Target="../charts/chart2.xml"/><Relationship Id="rId6" Type="http://schemas.openxmlformats.org/officeDocument/2006/relationships/chart" Target="../charts/chart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chart" Target="../charts/chart4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12" name="Google Shape;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92201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1"/>
          <p:cNvCxnSpPr/>
          <p:nvPr/>
        </p:nvCxnSpPr>
        <p:spPr>
          <a:xfrm>
            <a:off x="993953" y="695858"/>
            <a:ext cx="0" cy="252374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14" name="Google Shape;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2533" y="69220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1356970" y="66659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356970" y="834847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85800" y="1810500"/>
            <a:ext cx="110766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7000"/>
              <a:buFont typeface="Saira"/>
              <a:buNone/>
            </a:pPr>
            <a:r>
              <a:rPr b="1" i="0" lang="en-US" sz="70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Marathon Project Meeting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85800" y="412795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487B8"/>
              </a:buClr>
              <a:buSzPts val="3470"/>
              <a:buFont typeface="DM Sans"/>
              <a:buNone/>
            </a:pPr>
            <a:r>
              <a:rPr b="1" i="0" lang="en-US" sz="3470" u="none" cap="none" strike="noStrike">
                <a:solidFill>
                  <a:srgbClr val="4487B8"/>
                </a:solidFill>
                <a:latin typeface="DM Sans"/>
                <a:ea typeface="DM Sans"/>
                <a:cs typeface="DM Sans"/>
                <a:sym typeface="DM Sans"/>
              </a:rPr>
              <a:t>Examining Data</a:t>
            </a:r>
            <a:r>
              <a:rPr b="1" lang="en-US" sz="3470">
                <a:solidFill>
                  <a:srgbClr val="4487B8"/>
                </a:solidFill>
                <a:latin typeface="DM Sans"/>
                <a:ea typeface="DM Sans"/>
                <a:cs typeface="DM Sans"/>
                <a:sym typeface="DM Sans"/>
              </a:rPr>
              <a:t> Centers and Further Sector Analysis </a:t>
            </a:r>
            <a:endParaRPr b="0" i="0" sz="34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85800" y="54864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SPONSOR: Jason Foster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ADVISOR: Sasha Stoikov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TEAM: Alex Lee, Max Yap, Minxi Lin, Yung Lee, Olivia Mei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b="0" i="0" lang="en-US" sz="133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DATE: October 15, 2026</a:t>
            </a:r>
            <a:endParaRPr b="0" i="0" sz="13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5" name="Google Shape;25;h71c2a19aba2f255b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h71c2a19aba2f255b_0_41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7" name="Google Shape;27;h71c2a19aba2f255b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h71c2a19aba2f255b_0_41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h71c2a19aba2f255b_0_41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h71c2a19aba2f255b_0_41"/>
          <p:cNvSpPr txBox="1"/>
          <p:nvPr/>
        </p:nvSpPr>
        <p:spPr>
          <a:xfrm>
            <a:off x="69775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4 types of data-center-related borrower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h71c2a19aba2f255b_0_41"/>
          <p:cNvSpPr txBox="1"/>
          <p:nvPr/>
        </p:nvSpPr>
        <p:spPr>
          <a:xfrm>
            <a:off x="105450" y="6314475"/>
            <a:ext cx="119811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BDC iXBRL filings. Borrowers identified primarily with Opus 5.5 (Extra Effort), cross-checked manually.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h71c2a19aba2f255b_0_41"/>
          <p:cNvSpPr txBox="1"/>
          <p:nvPr/>
        </p:nvSpPr>
        <p:spPr>
          <a:xfrm>
            <a:off x="717700" y="1305800"/>
            <a:ext cx="105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grouped 52 unique borrowers by what they do in the data center value chain. The first two are the core, and the last two are adjacent.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h71c2a19aba2f255b_0_41"/>
          <p:cNvSpPr txBox="1"/>
          <p:nvPr/>
        </p:nvSpPr>
        <p:spPr>
          <a:xfrm>
            <a:off x="152400" y="4934675"/>
            <a:ext cx="4286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 value held by BDCs in 2026Q2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h71c2a19aba2f255b_0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858400"/>
            <a:ext cx="11887201" cy="3076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40" name="Google Shape;40;h1367c7d0c9099557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h1367c7d0c9099557_0_4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42" name="Google Shape;42;h1367c7d0c9099557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h1367c7d0c9099557_0_4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h1367c7d0c9099557_0_4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h1367c7d0c9099557_0_4"/>
          <p:cNvSpPr txBox="1"/>
          <p:nvPr/>
        </p:nvSpPr>
        <p:spPr>
          <a:xfrm>
            <a:off x="69775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Core components: operators and AI compute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h1367c7d0c9099557_0_4"/>
          <p:cNvSpPr txBox="1"/>
          <p:nvPr/>
        </p:nvSpPr>
        <p:spPr>
          <a:xfrm>
            <a:off x="717700" y="1305800"/>
            <a:ext cx="105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borrowers own the capacity themselves, either the buildings or the chips.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h1367c7d0c9099557_0_4"/>
          <p:cNvSpPr txBox="1"/>
          <p:nvPr/>
        </p:nvSpPr>
        <p:spPr>
          <a:xfrm>
            <a:off x="717700" y="5016550"/>
            <a:ext cx="959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 value held by BDCs in 2026Q2; largest four borrowers listed as examples per 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h1367c7d0c9099557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00" y="1677500"/>
            <a:ext cx="11085425" cy="333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54" name="Google Shape;54;h1367c7d0c909955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h1367c7d0c9099557_0_21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56" name="Google Shape;56;h1367c7d0c909955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h1367c7d0c9099557_0_21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h1367c7d0c9099557_0_21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h1367c7d0c9099557_0_21"/>
          <p:cNvSpPr txBox="1"/>
          <p:nvPr/>
        </p:nvSpPr>
        <p:spPr>
          <a:xfrm>
            <a:off x="697750" y="658375"/>
            <a:ext cx="1075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Ancillary components: hosting and supply chain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h1367c7d0c9099557_0_21"/>
          <p:cNvSpPr txBox="1"/>
          <p:nvPr/>
        </p:nvSpPr>
        <p:spPr>
          <a:xfrm>
            <a:off x="717700" y="1305800"/>
            <a:ext cx="105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borrowers depend on data centers for revenue but do not own the capacity.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h1367c7d0c9099557_0_21"/>
          <p:cNvSpPr txBox="1"/>
          <p:nvPr/>
        </p:nvSpPr>
        <p:spPr>
          <a:xfrm>
            <a:off x="697750" y="4999325"/>
            <a:ext cx="959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 value held by BDCs in 2026Q2; largest four borrowers listed as examples per 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h1367c7d0c9099557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700" y="1677501"/>
            <a:ext cx="11085426" cy="3321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68" name="Google Shape;68;h1367c7d0c9099557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h1367c7d0c9099557_0_3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70" name="Google Shape;70;h1367c7d0c9099557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h1367c7d0c9099557_0_35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h1367c7d0c9099557_0_35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h1367c7d0c9099557_0_35"/>
          <p:cNvSpPr txBox="1"/>
          <p:nvPr/>
        </p:nvSpPr>
        <p:spPr>
          <a:xfrm>
            <a:off x="697750" y="658375"/>
            <a:ext cx="1075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BDC lending to data-center-related borrowers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h1367c7d0c9099557_0_35"/>
          <p:cNvSpPr txBox="1"/>
          <p:nvPr/>
        </p:nvSpPr>
        <p:spPr>
          <a:xfrm>
            <a:off x="717700" y="1305800"/>
            <a:ext cx="105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 value held grew from ~$0.3B in 2023Q1 to ~$6.0B in 2026Q2, approximately 1.1% of all BDC fair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h1367c7d0c9099557_0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7888" y="1706000"/>
            <a:ext cx="8016223" cy="48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81" name="Google Shape;81;h1367c7d0c9099557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h1367c7d0c9099557_0_49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83" name="Google Shape;83;h1367c7d0c9099557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h1367c7d0c9099557_0_49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h1367c7d0c9099557_0_49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1367c7d0c9099557_0_49"/>
          <p:cNvSpPr txBox="1"/>
          <p:nvPr/>
        </p:nvSpPr>
        <p:spPr>
          <a:xfrm>
            <a:off x="697750" y="658375"/>
            <a:ext cx="1075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Most exposed BDCs, 2026Q2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h1367c7d0c9099557_0_49"/>
          <p:cNvGraphicFramePr/>
          <p:nvPr/>
        </p:nvGraphicFramePr>
        <p:xfrm>
          <a:off x="368800" y="135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{EEE0E60C-5CC8-4E51-B46B-359FF162224D}</a:tableStyleId>
              </a:tblPr>
              <a:tblGrid>
                <a:gridCol w="3158975"/>
                <a:gridCol w="1071125"/>
                <a:gridCol w="1172600"/>
              </a:tblGrid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Largest by dollars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$M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% Total FV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Blackstone Private Credit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1,043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1.3%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Apollo Debt Solutions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786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3.1%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Ares Core Infrastructure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574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25.8%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Ares Strategic Income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401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1.9%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Ares Capital Corp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326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1.3%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Google Shape;88;h1367c7d0c9099557_0_49"/>
          <p:cNvGraphicFramePr/>
          <p:nvPr/>
        </p:nvGraphicFramePr>
        <p:xfrm>
          <a:off x="5891116" y="134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{EEE0E60C-5CC8-4E51-B46B-359FF162224D}</a:tableStyleId>
              </a:tblPr>
              <a:tblGrid>
                <a:gridCol w="3265375"/>
                <a:gridCol w="1213225"/>
                <a:gridCol w="1342275"/>
              </a:tblGrid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Most concentrated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$M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% Total FV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Ares Core Infrastructure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574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213D"/>
                          </a:solidFill>
                        </a:rPr>
                        <a:t>25.8%</a:t>
                      </a:r>
                      <a:endParaRPr b="1"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BA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Great Elm Capital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19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10.6%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Apollo Origination II (UL)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57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8.2%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Apollo Origination II (L)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133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8.2%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Sound Point Direct Lending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25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7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4213D"/>
                          </a:solidFill>
                        </a:rPr>
                        <a:t>7.3%</a:t>
                      </a:r>
                      <a:endParaRPr sz="1400" u="none" cap="none" strike="noStrike">
                        <a:solidFill>
                          <a:srgbClr val="14213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C8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h1367c7d0c9099557_0_49"/>
          <p:cNvSpPr txBox="1"/>
          <p:nvPr/>
        </p:nvSpPr>
        <p:spPr>
          <a:xfrm>
            <a:off x="378775" y="4934175"/>
            <a:ext cx="10755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Apollo Origination II (L) and (UL) are the levered and unlevered versions of one strategy, $190M combined.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2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97706" y="733425"/>
            <a:ext cx="10763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Sector coverage and the analysis sample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14375" y="1524000"/>
            <a:ext cx="1066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243E"/>
                </a:solidFill>
                <a:latin typeface="Arial"/>
                <a:ea typeface="Arial"/>
                <a:cs typeface="Arial"/>
                <a:sym typeface="Arial"/>
              </a:rPr>
              <a:t>Coverage measures how much has a usable label within a specified sample.</a:t>
            </a:r>
            <a:endParaRPr/>
          </a:p>
        </p:txBody>
      </p:sp>
      <p:graphicFrame>
        <p:nvGraphicFramePr>
          <p:cNvPr id="102" name="Google Shape;102;p2"/>
          <p:cNvGraphicFramePr/>
          <p:nvPr/>
        </p:nvGraphicFramePr>
        <p:xfrm>
          <a:off x="714375" y="209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{F00E6AFE-3EF9-4296-BEF3-E5894A6DB420}</a:tableStyleId>
              </a:tblPr>
              <a:tblGrid>
                <a:gridCol w="3667125"/>
                <a:gridCol w="4095750"/>
                <a:gridCol w="3000375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coverage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14-quarter numeric dataset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403,787 / 502,299 records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80.39% of records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2026Q2 first-lien baseline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$256.681bn / $291.918bn Cost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2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87.93% of Cost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2"/>
          <p:cNvSpPr/>
          <p:nvPr/>
        </p:nvSpPr>
        <p:spPr>
          <a:xfrm>
            <a:off x="714375" y="42386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Char char="•"/>
            </a:pPr>
            <a:r>
              <a:rPr b="0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Full-data numerator: inherited team labels + retained development candidates.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714375" y="469582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Risk analysis: 24,186 holdings, 112 reporting CIKs. Unknown = 12.07% of Cost.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714375" y="52197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Char char="•"/>
            </a:pPr>
            <a:r>
              <a:rPr b="0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Reported-industry evidence and data-center flags remain separate.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Char char="•"/>
            </a:pPr>
            <a:r>
              <a:rPr b="0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The risk baseline keeps its existing labels. Candidate fills enter sensitivity checks.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11458575" y="64293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3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97706" y="733425"/>
            <a:ext cx="10763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Filing evidence: the TWAS example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14375" y="1571625"/>
            <a:ext cx="50958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243E"/>
                </a:solidFill>
                <a:latin typeface="Arial"/>
                <a:ea typeface="Arial"/>
                <a:cs typeface="Arial"/>
                <a:sym typeface="Arial"/>
              </a:rPr>
              <a:t>Batch extraction: all source checks must pass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14375" y="2343150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365778"/>
                </a:solidFill>
                <a:latin typeface="Arial"/>
                <a:ea typeface="Arial"/>
                <a:cs typeface="Arial"/>
                <a:sym typeface="Arial"/>
              </a:rPr>
              <a:t>1  Same holding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14375" y="2657475"/>
            <a:ext cx="5095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Date, context and full identifier agree.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714375" y="3067050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365778"/>
                </a:solidFill>
                <a:latin typeface="Arial"/>
                <a:ea typeface="Arial"/>
                <a:cs typeface="Arial"/>
                <a:sym typeface="Arial"/>
              </a:rPr>
              <a:t>2  Amounts agree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14375" y="3381375"/>
            <a:ext cx="5095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Cost, fair value and units match.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714375" y="3790950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365778"/>
                </a:solidFill>
                <a:latin typeface="Arial"/>
                <a:ea typeface="Arial"/>
                <a:cs typeface="Arial"/>
                <a:sym typeface="Arial"/>
              </a:rPr>
              <a:t>3  Bounded continuation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714375" y="4105275"/>
            <a:ext cx="5095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Same-date adjacent tables, matching columns.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14375" y="4514850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365778"/>
                </a:solidFill>
                <a:latin typeface="Arial"/>
                <a:ea typeface="Arial"/>
                <a:cs typeface="Arial"/>
                <a:sym typeface="Arial"/>
              </a:rPr>
              <a:t>4  Mapping accepted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714375" y="4829175"/>
            <a:ext cx="5095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Narrow crosswalk, no unresolved conflict.</a:t>
            </a:r>
            <a:endParaRPr/>
          </a:p>
        </p:txBody>
      </p:sp>
      <p:graphicFrame>
        <p:nvGraphicFramePr>
          <p:cNvPr id="127" name="Google Shape;127;p3"/>
          <p:cNvGraphicFramePr/>
          <p:nvPr/>
        </p:nvGraphicFramePr>
        <p:xfrm>
          <a:off x="6191250" y="163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{F00E6AFE-3EF9-4296-BEF3-E5894A6DB420}</a:tableStyleId>
              </a:tblPr>
              <a:tblGrid>
                <a:gridCol w="2333625"/>
                <a:gridCol w="2952750"/>
              </a:tblGrid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TWAS Holdings, 2026Q2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Observed evidence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Old sector / issue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Unknown / heading on earlier page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Filing industry heading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Automobiles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in filing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110,195 × 10³ = $110.195m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Fair value in filing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$110.707m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Separate reported-sector output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75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Consumer, retained for development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3"/>
          <p:cNvSpPr/>
          <p:nvPr/>
        </p:nvSpPr>
        <p:spPr>
          <a:xfrm>
            <a:off x="6191250" y="51911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Industry: table 10, row 48. Holding: table 12, row 20.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The continuation path through table 11 was checked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11458575" y="64293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4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97706" y="733425"/>
            <a:ext cx="10763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How the sector risk measures are calculated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4"/>
          <p:cNvGraphicFramePr/>
          <p:nvPr/>
        </p:nvGraphicFramePr>
        <p:xfrm>
          <a:off x="714375" y="166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{F00E6AFE-3EF9-4296-BEF3-E5894A6DB420}</a:tableStyleId>
              </a:tblPr>
              <a:tblGrid>
                <a:gridCol w="2428875"/>
                <a:gridCol w="4238625"/>
                <a:gridCol w="4095750"/>
              </a:tblGrid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Measure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Calculation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Technology example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Exposure share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 Cost / full-sample Cost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$71.871bn / $291.918bn = 24.62%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discount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1 − sector FV / sector Cost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1 − $70.202bn / $71.871bn = 2.32%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Low-valuation Cost share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Σ Cost for (FV/Cost &lt; 0.90)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÷ Σ sector Cost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$3.579bn / $71.871bn = 4.98%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4"/>
          <p:cNvSpPr/>
          <p:nvPr/>
        </p:nvSpPr>
        <p:spPr>
          <a:xfrm>
            <a:off x="714375" y="4705350"/>
            <a:ext cx="1076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Char char="•"/>
            </a:pPr>
            <a:r>
              <a:rPr b="1" i="0" lang="en-US" sz="20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the dollar amounts first, then calculate each ratio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714375" y="5267325"/>
            <a:ext cx="10763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Char char="•"/>
            </a:pPr>
            <a:r>
              <a:rPr b="0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Screen: positive USD Cost, nonnegative USD FV, fixed first-lien candidate scope.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Char char="•"/>
            </a:pPr>
            <a:r>
              <a:rPr b="0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The 0.90 threshold is descriptive. Tail Cost is just exposure not the amount of loss.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04850" y="6296025"/>
            <a:ext cx="103346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2026Q2 holding-level first-lien screen. Existing sector/seniority labels. Borrower identities unverified.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11458575" y="64293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97706" y="417653"/>
            <a:ext cx="10763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Concentration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62000" y="1099656"/>
            <a:ext cx="10668000" cy="84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Char char="•"/>
            </a:pPr>
            <a:r>
              <a:rPr b="0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Share of the fixed sample’s $291.918bn Cost</a:t>
            </a:r>
            <a:endParaRPr b="0" i="0" sz="1725" u="none" cap="none" strike="noStrike">
              <a:solidFill>
                <a:srgbClr val="5664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Technology, Healthcare and Consumer combined is like 54.3%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12.07% of the sample is Unknown Cost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664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5"/>
          <p:cNvGraphicFramePr/>
          <p:nvPr/>
        </p:nvGraphicFramePr>
        <p:xfrm>
          <a:off x="1132115" y="2129450"/>
          <a:ext cx="9133114" cy="4343399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59" name="Google Shape;159;p5"/>
          <p:cNvSpPr/>
          <p:nvPr/>
        </p:nvSpPr>
        <p:spPr>
          <a:xfrm>
            <a:off x="6219825" y="1284302"/>
            <a:ext cx="261937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5664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1458575" y="64293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6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8" name="Google Shape;1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97706" y="733425"/>
            <a:ext cx="10763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Healthcare’s tail share exceeds Technology’s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6"/>
          <p:cNvGraphicFramePr/>
          <p:nvPr/>
        </p:nvGraphicFramePr>
        <p:xfrm>
          <a:off x="495300" y="1504950"/>
          <a:ext cx="5467350" cy="3857625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id="173" name="Google Shape;173;p6"/>
          <p:cNvGraphicFramePr/>
          <p:nvPr/>
        </p:nvGraphicFramePr>
        <p:xfrm>
          <a:off x="6172200" y="1504950"/>
          <a:ext cx="5467350" cy="3857625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id="174" name="Google Shape;174;p6"/>
          <p:cNvSpPr/>
          <p:nvPr/>
        </p:nvSpPr>
        <p:spPr>
          <a:xfrm>
            <a:off x="714375" y="5578768"/>
            <a:ext cx="10763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Technology + Healthcare: $7.14bn, or 51.12% of all low-valuation Cost.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714375" y="6081424"/>
            <a:ext cx="1076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Real Estate: 10.87% tail share, but only 1.02% of total Cost. Its ranking is label-sensitive.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1458575" y="64293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7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97706" y="733425"/>
            <a:ext cx="10763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PIK flags are associated with deeper marks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14375" y="1495425"/>
            <a:ext cx="10763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PIK flag: PIK text or a positive PIK rate. PIK means payment-in-kind interest.</a:t>
            </a:r>
            <a:endParaRPr/>
          </a:p>
        </p:txBody>
      </p:sp>
      <p:graphicFrame>
        <p:nvGraphicFramePr>
          <p:cNvPr id="189" name="Google Shape;189;p7"/>
          <p:cNvGraphicFramePr/>
          <p:nvPr/>
        </p:nvGraphicFramePr>
        <p:xfrm>
          <a:off x="714375" y="2028825"/>
          <a:ext cx="6572250" cy="352425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90" name="Google Shape;190;p7"/>
          <p:cNvSpPr/>
          <p:nvPr/>
        </p:nvSpPr>
        <p:spPr>
          <a:xfrm>
            <a:off x="7810500" y="2209800"/>
            <a:ext cx="361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243E"/>
                </a:solidFill>
                <a:latin typeface="Arial"/>
                <a:ea typeface="Arial"/>
                <a:cs typeface="Arial"/>
                <a:sym typeface="Arial"/>
              </a:rPr>
              <a:t>10.40% of sample Cost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243E"/>
                </a:solidFill>
                <a:latin typeface="Arial"/>
                <a:ea typeface="Arial"/>
                <a:cs typeface="Arial"/>
                <a:sym typeface="Arial"/>
              </a:rPr>
              <a:t>36.98% of all tail Cost</a:t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7810500" y="3648075"/>
            <a:ext cx="3619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287B85"/>
                </a:solidFill>
                <a:latin typeface="Arial"/>
                <a:ea typeface="Arial"/>
                <a:cs typeface="Arial"/>
                <a:sym typeface="Arial"/>
              </a:rPr>
              <a:t>Healthcare tail share</a:t>
            </a:r>
            <a:endParaRPr/>
          </a:p>
        </p:txBody>
      </p:sp>
      <p:graphicFrame>
        <p:nvGraphicFramePr>
          <p:cNvPr id="192" name="Google Shape;192;p7"/>
          <p:cNvGraphicFramePr/>
          <p:nvPr/>
        </p:nvGraphicFramePr>
        <p:xfrm>
          <a:off x="7810500" y="411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{F00E6AFE-3EF9-4296-BEF3-E5894A6DB420}</a:tableStyleId>
              </a:tblPr>
              <a:tblGrid>
                <a:gridCol w="1809750"/>
                <a:gridCol w="1809750"/>
              </a:tblGrid>
              <a:tr h="5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holdings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Without PIK flags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</a:tr>
              <a:tr h="5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8.01%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4.47%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7"/>
          <p:cNvSpPr/>
          <p:nvPr/>
        </p:nvSpPr>
        <p:spPr>
          <a:xfrm>
            <a:off x="714375" y="5953125"/>
            <a:ext cx="10763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The association warrants a sector × payment-structure comparison. It does not establish causality.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1458575" y="64293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8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2" name="Google Shape;2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97706" y="733425"/>
            <a:ext cx="10763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Validation and the scope of the conclusions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8"/>
          <p:cNvGraphicFramePr/>
          <p:nvPr/>
        </p:nvGraphicFramePr>
        <p:xfrm>
          <a:off x="714375" y="168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{F00E6AFE-3EF9-4296-BEF3-E5894A6DB420}</a:tableStyleId>
              </a:tblPr>
              <a:tblGrid>
                <a:gridCol w="2905125"/>
                <a:gridCol w="4572000"/>
                <a:gridCol w="3286125"/>
              </a:tblGrid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Observed result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supports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</a:tr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Calculation reconciliation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 amounts add to the sample total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Ratios recomputed independently in code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Arithmetic and aggregation consistency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Source-check pilot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12/12 Cost/FV pairs match their source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9/12 have a clear reported-sector reference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Support for these sampled records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Frozen continuation template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Accepted 1 of 4 new cases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accepted case matches its sealed reference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Conservative output, with low pilot yield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8"/>
          <p:cNvSpPr/>
          <p:nvPr/>
        </p:nvSpPr>
        <p:spPr>
          <a:xfrm>
            <a:off x="714375" y="4857750"/>
            <a:ext cx="10763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References came from the same assistant’s source-first review.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Whole-dataset sector accuracy and legal borrower identities remain unverified.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714375" y="5772150"/>
            <a:ext cx="10763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243E"/>
                </a:solidFill>
                <a:latin typeface="Arial"/>
                <a:ea typeface="Arial"/>
                <a:cs typeface="Arial"/>
                <a:sym typeface="Arial"/>
              </a:rPr>
              <a:t>Current use: preliminary exposure and valuation analysis, with Unknown and sensitivities visible.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704850" y="6296025"/>
            <a:ext cx="103346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12 previously unused name families: 6 random, 2 high-FV, 4 template cases. No validation labels deployed.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1458575" y="64293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9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8" name="Google Shape;2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97706" y="733425"/>
            <a:ext cx="107632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Sensitivity checks qualify the sector findings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9"/>
          <p:cNvGraphicFramePr/>
          <p:nvPr/>
        </p:nvGraphicFramePr>
        <p:xfrm>
          <a:off x="714375" y="171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{F00E6AFE-3EF9-4296-BEF3-E5894A6DB420}</a:tableStyleId>
              </a:tblPr>
              <a:tblGrid>
                <a:gridCol w="3429000"/>
                <a:gridCol w="4191000"/>
                <a:gridCol w="3143250"/>
              </a:tblGrid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Observed result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Interpretation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8E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Fill Unknown with direct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reported-sector candidates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 three exposures unchanged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discount change: 0.069 pp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Stable concentration in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tested scenario.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Exclude 103 unresolved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amount records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Pool discount: 1.65% to 1.57%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excluded: 0.094%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Amount issues affect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close comparisons.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Revert six identity-sensitive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labels to Unknown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Estate discount 2.47% to 3.28%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Tail share 10.87% to 14.32%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Small-sector rankings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 u="none" cap="none" strike="noStrike">
                          <a:solidFill>
                            <a:srgbClr val="1D24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are label-sensitive.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2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9"/>
          <p:cNvSpPr/>
          <p:nvPr/>
        </p:nvSpPr>
        <p:spPr>
          <a:xfrm>
            <a:off x="714375" y="5219700"/>
            <a:ext cx="1076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D243E"/>
                </a:solidFill>
                <a:latin typeface="Arial"/>
                <a:ea typeface="Arial"/>
                <a:cs typeface="Arial"/>
                <a:sym typeface="Arial"/>
              </a:rPr>
              <a:t>Concentration is relatively stable. Valuation rankings need qualification.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714375" y="5762625"/>
            <a:ext cx="10763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These are targeted scenarios, not error bounds. Exclusion scenarios recalculate their own denominators.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11458575" y="64293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6647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31" name="Google Shape;231;h79338db20bb3407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h79338db20bb34079_0_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33" name="Google Shape;233;h79338db20bb3407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h79338db20bb34079_0_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h79338db20bb34079_0_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h79338db20bb34079_0_0"/>
          <p:cNvSpPr txBox="1"/>
          <p:nvPr/>
        </p:nvSpPr>
        <p:spPr>
          <a:xfrm>
            <a:off x="697750" y="658375"/>
            <a:ext cx="1075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Borrower Name Cleaning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h79338db20bb34079_0_0"/>
          <p:cNvSpPr txBox="1"/>
          <p:nvPr/>
        </p:nvSpPr>
        <p:spPr>
          <a:xfrm>
            <a:off x="697650" y="1264700"/>
            <a:ext cx="10755600" cy="49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External Company Data Was Not Feasible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/>
              <a:t>Attempted approach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Searched for a comprehensive list of U.S. companies and industry classifications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Public sources do not sufficiently cover private middle-market companies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Cornell’s Data Axle subscription provides Reference Solutions access, but not bulk API access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Commercial full-universe data was inaccessible or too expensive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No single source adequately covers BidCos, HoldCos, SPVs and private borrowers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43" name="Google Shape;243;h79338db20bb34079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h79338db20bb34079_0_15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45" name="Google Shape;245;h79338db20bb34079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h79338db20bb34079_0_15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h79338db20bb34079_0_15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h79338db20bb34079_0_15"/>
          <p:cNvSpPr txBox="1"/>
          <p:nvPr/>
        </p:nvSpPr>
        <p:spPr>
          <a:xfrm>
            <a:off x="697750" y="658375"/>
            <a:ext cx="1075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Borrower Name Cleaning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h79338db20bb34079_0_15"/>
          <p:cNvGrpSpPr/>
          <p:nvPr/>
        </p:nvGrpSpPr>
        <p:grpSpPr>
          <a:xfrm>
            <a:off x="697525" y="1524075"/>
            <a:ext cx="6752799" cy="4677945"/>
            <a:chOff x="3707550" y="1264700"/>
            <a:chExt cx="7139775" cy="3736975"/>
          </a:xfrm>
        </p:grpSpPr>
        <p:sp>
          <p:nvSpPr>
            <p:cNvPr id="250" name="Google Shape;250;h79338db20bb34079_0_15"/>
            <p:cNvSpPr/>
            <p:nvPr/>
          </p:nvSpPr>
          <p:spPr>
            <a:xfrm>
              <a:off x="4501950" y="1264700"/>
              <a:ext cx="31881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Original pipeline + New pipeline</a:t>
              </a:r>
              <a:endParaRPr sz="1513"/>
            </a:p>
          </p:txBody>
        </p:sp>
        <p:sp>
          <p:nvSpPr>
            <p:cNvPr id="251" name="Google Shape;251;h79338db20bb34079_0_15"/>
            <p:cNvSpPr/>
            <p:nvPr/>
          </p:nvSpPr>
          <p:spPr>
            <a:xfrm>
              <a:off x="4789500" y="1921375"/>
              <a:ext cx="26130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Compare cleaned names</a:t>
              </a:r>
              <a:endParaRPr sz="1513"/>
            </a:p>
          </p:txBody>
        </p:sp>
        <p:sp>
          <p:nvSpPr>
            <p:cNvPr id="252" name="Google Shape;252;h79338db20bb34079_0_15"/>
            <p:cNvSpPr/>
            <p:nvPr/>
          </p:nvSpPr>
          <p:spPr>
            <a:xfrm>
              <a:off x="3947400" y="2578050"/>
              <a:ext cx="13050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Same</a:t>
              </a:r>
              <a:endParaRPr sz="151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(201,194)</a:t>
              </a:r>
              <a:endParaRPr sz="1513"/>
            </a:p>
          </p:txBody>
        </p:sp>
        <p:sp>
          <p:nvSpPr>
            <p:cNvPr id="253" name="Google Shape;253;h79338db20bb34079_0_15"/>
            <p:cNvSpPr/>
            <p:nvPr/>
          </p:nvSpPr>
          <p:spPr>
            <a:xfrm>
              <a:off x="7050000" y="2578050"/>
              <a:ext cx="13050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Different</a:t>
              </a:r>
              <a:endParaRPr sz="151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(9,406)</a:t>
              </a:r>
              <a:endParaRPr sz="1513"/>
            </a:p>
          </p:txBody>
        </p:sp>
        <p:sp>
          <p:nvSpPr>
            <p:cNvPr id="254" name="Google Shape;254;h79338db20bb34079_0_15"/>
            <p:cNvSpPr/>
            <p:nvPr/>
          </p:nvSpPr>
          <p:spPr>
            <a:xfrm>
              <a:off x="3707550" y="3234725"/>
              <a:ext cx="17847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Auto-accept</a:t>
              </a:r>
              <a:endParaRPr sz="1513"/>
            </a:p>
          </p:txBody>
        </p:sp>
        <p:sp>
          <p:nvSpPr>
            <p:cNvPr id="255" name="Google Shape;255;h79338db20bb34079_0_15"/>
            <p:cNvSpPr/>
            <p:nvPr/>
          </p:nvSpPr>
          <p:spPr>
            <a:xfrm>
              <a:off x="6396000" y="3234725"/>
              <a:ext cx="26130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ChatGPT + Claude</a:t>
              </a:r>
              <a:endParaRPr sz="1513"/>
            </a:p>
          </p:txBody>
        </p:sp>
        <p:sp>
          <p:nvSpPr>
            <p:cNvPr id="256" name="Google Shape;256;h79338db20bb34079_0_15"/>
            <p:cNvSpPr/>
            <p:nvPr/>
          </p:nvSpPr>
          <p:spPr>
            <a:xfrm>
              <a:off x="7026450" y="3891400"/>
              <a:ext cx="13521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Consensus (7,360)</a:t>
              </a:r>
              <a:endParaRPr sz="1513"/>
            </a:p>
          </p:txBody>
        </p:sp>
        <p:sp>
          <p:nvSpPr>
            <p:cNvPr id="257" name="Google Shape;257;h79338db20bb34079_0_15"/>
            <p:cNvSpPr/>
            <p:nvPr/>
          </p:nvSpPr>
          <p:spPr>
            <a:xfrm>
              <a:off x="9062625" y="3891400"/>
              <a:ext cx="13050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Accept</a:t>
              </a:r>
              <a:endParaRPr sz="1513"/>
            </a:p>
          </p:txBody>
        </p:sp>
        <p:sp>
          <p:nvSpPr>
            <p:cNvPr id="258" name="Google Shape;258;h79338db20bb34079_0_15"/>
            <p:cNvSpPr/>
            <p:nvPr/>
          </p:nvSpPr>
          <p:spPr>
            <a:xfrm>
              <a:off x="6867450" y="4548075"/>
              <a:ext cx="16701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Disagreement</a:t>
              </a:r>
              <a:endParaRPr sz="151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(2,046)</a:t>
              </a:r>
              <a:endParaRPr sz="1513"/>
            </a:p>
          </p:txBody>
        </p:sp>
        <p:sp>
          <p:nvSpPr>
            <p:cNvPr id="259" name="Google Shape;259;h79338db20bb34079_0_15"/>
            <p:cNvSpPr/>
            <p:nvPr/>
          </p:nvSpPr>
          <p:spPr>
            <a:xfrm>
              <a:off x="9062625" y="4548075"/>
              <a:ext cx="1784700" cy="45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500" lIns="86500" spcFirstLastPara="1" rIns="86500" wrap="square" tIns="86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3"/>
                <a:t>Manual-check</a:t>
              </a:r>
              <a:endParaRPr sz="1513"/>
            </a:p>
          </p:txBody>
        </p:sp>
        <p:cxnSp>
          <p:nvCxnSpPr>
            <p:cNvPr id="260" name="Google Shape;260;h79338db20bb34079_0_15"/>
            <p:cNvCxnSpPr>
              <a:stCxn id="250" idx="2"/>
              <a:endCxn id="251" idx="0"/>
            </p:cNvCxnSpPr>
            <p:nvPr/>
          </p:nvCxnSpPr>
          <p:spPr>
            <a:xfrm>
              <a:off x="6096000" y="1718300"/>
              <a:ext cx="0" cy="20310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1" name="Google Shape;261;h79338db20bb34079_0_15"/>
            <p:cNvCxnSpPr>
              <a:endCxn id="252" idx="0"/>
            </p:cNvCxnSpPr>
            <p:nvPr/>
          </p:nvCxnSpPr>
          <p:spPr>
            <a:xfrm flipH="1">
              <a:off x="4599900" y="2374950"/>
              <a:ext cx="1496100" cy="20310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2" name="Google Shape;262;h79338db20bb34079_0_15"/>
            <p:cNvCxnSpPr>
              <a:stCxn id="251" idx="2"/>
              <a:endCxn id="253" idx="0"/>
            </p:cNvCxnSpPr>
            <p:nvPr/>
          </p:nvCxnSpPr>
          <p:spPr>
            <a:xfrm>
              <a:off x="6096000" y="2374975"/>
              <a:ext cx="1606500" cy="20310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3" name="Google Shape;263;h79338db20bb34079_0_15"/>
            <p:cNvCxnSpPr/>
            <p:nvPr/>
          </p:nvCxnSpPr>
          <p:spPr>
            <a:xfrm>
              <a:off x="4599900" y="3031650"/>
              <a:ext cx="0" cy="20310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4" name="Google Shape;264;h79338db20bb34079_0_15"/>
            <p:cNvCxnSpPr/>
            <p:nvPr/>
          </p:nvCxnSpPr>
          <p:spPr>
            <a:xfrm>
              <a:off x="7702500" y="3031650"/>
              <a:ext cx="0" cy="20310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5" name="Google Shape;265;h79338db20bb34079_0_15"/>
            <p:cNvCxnSpPr/>
            <p:nvPr/>
          </p:nvCxnSpPr>
          <p:spPr>
            <a:xfrm>
              <a:off x="7702500" y="3688313"/>
              <a:ext cx="0" cy="20310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6" name="Google Shape;266;h79338db20bb34079_0_15"/>
            <p:cNvCxnSpPr/>
            <p:nvPr/>
          </p:nvCxnSpPr>
          <p:spPr>
            <a:xfrm>
              <a:off x="7702500" y="4344975"/>
              <a:ext cx="0" cy="20310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7" name="Google Shape;267;h79338db20bb34079_0_15"/>
            <p:cNvCxnSpPr>
              <a:stCxn id="256" idx="3"/>
              <a:endCxn id="257" idx="1"/>
            </p:cNvCxnSpPr>
            <p:nvPr/>
          </p:nvCxnSpPr>
          <p:spPr>
            <a:xfrm>
              <a:off x="8378550" y="4118200"/>
              <a:ext cx="684000" cy="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8" name="Google Shape;268;h79338db20bb34079_0_15"/>
            <p:cNvCxnSpPr>
              <a:endCxn id="259" idx="1"/>
            </p:cNvCxnSpPr>
            <p:nvPr/>
          </p:nvCxnSpPr>
          <p:spPr>
            <a:xfrm>
              <a:off x="8539425" y="4774875"/>
              <a:ext cx="523200" cy="0"/>
            </a:xfrm>
            <a:prstGeom prst="straightConnector1">
              <a:avLst/>
            </a:prstGeom>
            <a:noFill/>
            <a:ln cap="flat" cmpd="sng" w="90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69" name="Google Shape;269;h79338db20bb34079_0_15"/>
          <p:cNvSpPr txBox="1"/>
          <p:nvPr/>
        </p:nvSpPr>
        <p:spPr>
          <a:xfrm>
            <a:off x="7556500" y="1545175"/>
            <a:ext cx="4085100" cy="46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Original and new pipelines agreed on 201,194 names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Remaining 9,406 differences were reviewed using ChatGPT and Claude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Model outputs were mapped back using stable IDs, not row position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Random manual checks suggested that Claude was more reliable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Claude’s result was used when the two models differed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9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eal.png" id="275" name="Google Shape;275;h79338db20bb34079_0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h79338db20bb34079_0_258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cap="flat" cmpd="sng" w="9525">
            <a:solidFill>
              <a:srgbClr val="7C808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ssets/mlogo.png" id="277" name="Google Shape;277;h79338db20bb34079_0_2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h79338db20bb34079_0_258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b="0" i="0" lang="en-US" sz="9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h79338db20bb34079_0_258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b="0" i="0" lang="en-US" sz="620" u="none" cap="none" strike="noStrik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b="0" i="0" sz="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h79338db20bb34079_0_258"/>
          <p:cNvSpPr txBox="1"/>
          <p:nvPr/>
        </p:nvSpPr>
        <p:spPr>
          <a:xfrm>
            <a:off x="697750" y="658375"/>
            <a:ext cx="1075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200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Borrower Name Cleaning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h79338db20bb34079_0_258"/>
          <p:cNvSpPr txBox="1"/>
          <p:nvPr/>
        </p:nvSpPr>
        <p:spPr>
          <a:xfrm>
            <a:off x="697750" y="1199450"/>
            <a:ext cx="10944000" cy="53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Final Borrower-Name Decisions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210,395 names, or 99.90%, received a final decision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Claude resolved </a:t>
            </a:r>
            <a:r>
              <a:rPr b="1" lang="en-US" sz="1600">
                <a:solidFill>
                  <a:schemeClr val="dk1"/>
                </a:solidFill>
              </a:rPr>
              <a:t>9,201 of the 9,406 pipeline disagreements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Among Claude-resolved disagreements: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</a:rPr>
              <a:t>80.7%</a:t>
            </a:r>
            <a:r>
              <a:rPr lang="en-US" sz="1600">
                <a:solidFill>
                  <a:schemeClr val="dk1"/>
                </a:solidFill>
              </a:rPr>
              <a:t> retained the original result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</a:rPr>
              <a:t>13.9%</a:t>
            </a:r>
            <a:r>
              <a:rPr lang="en-US" sz="1600">
                <a:solidFill>
                  <a:schemeClr val="dk1"/>
                </a:solidFill>
              </a:rPr>
              <a:t> selected the V2 result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</a:rPr>
              <a:t>5.4%</a:t>
            </a:r>
            <a:r>
              <a:rPr lang="en-US" sz="1600">
                <a:solidFill>
                  <a:schemeClr val="dk1"/>
                </a:solidFill>
              </a:rPr>
              <a:t> required a new borrower name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Only </a:t>
            </a:r>
            <a:r>
              <a:rPr b="1" lang="en-US" sz="1600">
                <a:solidFill>
                  <a:schemeClr val="dk1"/>
                </a:solidFill>
              </a:rPr>
              <a:t>205 names</a:t>
            </a:r>
            <a:r>
              <a:rPr lang="en-US" sz="1600">
                <a:solidFill>
                  <a:schemeClr val="dk1"/>
                </a:solidFill>
              </a:rPr>
              <a:t> remain for manual review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graphicFrame>
        <p:nvGraphicFramePr>
          <p:cNvPr id="282" name="Google Shape;282;h79338db20bb34079_0_258"/>
          <p:cNvGraphicFramePr/>
          <p:nvPr/>
        </p:nvGraphicFramePr>
        <p:xfrm>
          <a:off x="952500" y="168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{46A51E3E-BD59-4208-A258-3B17EDC5BC88}</a:tableStyleId>
              </a:tblPr>
              <a:tblGrid>
                <a:gridCol w="5034150"/>
                <a:gridCol w="2767825"/>
                <a:gridCol w="2485025"/>
              </a:tblGrid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Decision source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Count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Share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Two pipelines</a:t>
                      </a:r>
                      <a:r>
                        <a:rPr lang="en-US" sz="1600"/>
                        <a:t> agreement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201,194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95.54%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Claude selected original pipeline result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7,429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3.53%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Claude selected new pipeline result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1,276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0.61%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Claude provided a new name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496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0.24%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Unresolved / manual review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205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0.10%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2026-09-02T01:49:34Z</dcterms:created>
  <dc:creator>PptxGenJS</dc:creator>
</cp:coreProperties>
</file>