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embeddedFontLst>
    <p:embeddedFont>
      <p:font typeface="DM Sans" pitchFamily="2" charset="0"/>
      <p:regular r:id="rId22"/>
      <p:bold r:id="rId23"/>
      <p:italic r:id="rId24"/>
      <p:boldItalic r:id="rId25"/>
    </p:embeddedFont>
    <p:embeddedFont>
      <p:font typeface="Saira"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iVPous8OOwofPtV0svulWuG5ZxA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D35A4E-98F7-4F77-87ED-E2BD8A616CE8}">
  <a:tblStyle styleId="{C2D35A4E-98F7-4F77-87ED-E2BD8A616CE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AF177DA-8825-4B7D-8D7F-2EE941730BF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48"/>
  </p:normalViewPr>
  <p:slideViewPr>
    <p:cSldViewPr snapToGrid="0">
      <p:cViewPr varScale="1">
        <p:scale>
          <a:sx n="117" d="100"/>
          <a:sy n="117" d="100"/>
        </p:scale>
        <p:origin x="36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customschemas.google.com/relationships/presentationmetadata" Target="metadata"/><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bar"/>
        <c:grouping val="clustered"/>
        <c:varyColors val="0"/>
        <c:ser>
          <c:idx val="0"/>
          <c:order val="0"/>
          <c:tx>
            <c:v>Changed records</c:v>
          </c:tx>
          <c:spPr>
            <a:solidFill>
              <a:srgbClr val="0753D6"/>
            </a:solidFill>
          </c:spPr>
          <c:invertIfNegative val="1"/>
          <c:dPt>
            <c:idx val="0"/>
            <c:invertIfNegative val="0"/>
            <c:bubble3D val="0"/>
            <c:spPr>
              <a:solidFill>
                <a:srgbClr val="0753D6"/>
              </a:solidFill>
            </c:spPr>
            <c:extLst>
              <c:ext xmlns:c16="http://schemas.microsoft.com/office/drawing/2014/chart" uri="{C3380CC4-5D6E-409C-BE32-E72D297353CC}">
                <c16:uniqueId val="{00000001-C167-5345-824F-1FEC3BE24EE9}"/>
              </c:ext>
            </c:extLst>
          </c:dPt>
          <c:dPt>
            <c:idx val="1"/>
            <c:invertIfNegative val="0"/>
            <c:bubble3D val="0"/>
            <c:spPr>
              <a:solidFill>
                <a:srgbClr val="BD650E"/>
              </a:solidFill>
            </c:spPr>
            <c:extLst>
              <c:ext xmlns:c16="http://schemas.microsoft.com/office/drawing/2014/chart" uri="{C3380CC4-5D6E-409C-BE32-E72D297353CC}">
                <c16:uniqueId val="{00000003-C167-5345-824F-1FEC3BE24EE9}"/>
              </c:ext>
            </c:extLst>
          </c:dPt>
          <c:dPt>
            <c:idx val="2"/>
            <c:invertIfNegative val="0"/>
            <c:bubble3D val="0"/>
            <c:spPr>
              <a:solidFill>
                <a:srgbClr val="74859D"/>
              </a:solidFill>
            </c:spPr>
            <c:extLst>
              <c:ext xmlns:c16="http://schemas.microsoft.com/office/drawing/2014/chart" uri="{C3380CC4-5D6E-409C-BE32-E72D297353CC}">
                <c16:uniqueId val="{00000005-C167-5345-824F-1FEC3BE24EE9}"/>
              </c:ext>
            </c:extLst>
          </c:dPt>
          <c:dLbls>
            <c:spPr>
              <a:noFill/>
              <a:ln>
                <a:noFill/>
              </a:ln>
              <a:effectLst/>
            </c:spPr>
            <c:txPr>
              <a:bodyPr anchorCtr="1"/>
              <a:lstStyle/>
              <a:p>
                <a:pPr>
                  <a:defRPr sz="2100" b="1">
                    <a:solidFill>
                      <a:srgbClr val="20283F"/>
                    </a:solidFill>
                    <a:latin typeface="DM Sans"/>
                    <a:ea typeface="DM Sans"/>
                    <a:cs typeface="DM San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Unknown to specific rank</c:v>
                </c:pt>
                <c:pt idx="1">
                  <c:v>Specific rank to Unknown</c:v>
                </c:pt>
                <c:pt idx="2">
                  <c:v>Different specific rank</c:v>
                </c:pt>
              </c:strCache>
            </c:strRef>
          </c:cat>
          <c:val>
            <c:numRef>
              <c:f>'Chart Data'!$B$2:$B$4</c:f>
              <c:numCache>
                <c:formatCode>#,##0</c:formatCode>
                <c:ptCount val="3"/>
                <c:pt idx="0">
                  <c:v>3125</c:v>
                </c:pt>
                <c:pt idx="1">
                  <c:v>2229</c:v>
                </c:pt>
                <c:pt idx="2">
                  <c:v>43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C167-5345-824F-1FEC3BE24EE9}"/>
            </c:ext>
          </c:extLst>
        </c:ser>
        <c:dLbls>
          <c:dLblPos val="outEnd"/>
          <c:showLegendKey val="0"/>
          <c:showVal val="1"/>
          <c:showCatName val="0"/>
          <c:showSerName val="0"/>
          <c:showPercent val="0"/>
          <c:showBubbleSize val="0"/>
        </c:dLbls>
        <c:gapWidth val="62"/>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875">
                <a:solidFill>
                  <a:srgbClr val="20283F"/>
                </a:solidFill>
                <a:latin typeface="DM Sans"/>
                <a:ea typeface="DM Sans"/>
                <a:cs typeface="DM Sans"/>
              </a:defRPr>
            </a:pPr>
            <a:endParaRPr lang="zh-CN"/>
          </a:p>
        </c:txPr>
        <c:crossAx val="48672768"/>
        <c:crosses val="autoZero"/>
        <c:auto val="1"/>
        <c:lblAlgn val="ctr"/>
        <c:lblOffset val="100"/>
        <c:noMultiLvlLbl val="1"/>
      </c:catAx>
      <c:valAx>
        <c:axId val="48672768"/>
        <c:scaling>
          <c:orientation val="minMax"/>
        </c:scaling>
        <c:delete val="0"/>
        <c:axPos val="b"/>
        <c:numFmt formatCode="#,##0" sourceLinked="1"/>
        <c:majorTickMark val="none"/>
        <c:minorTickMark val="none"/>
        <c:tickLblPos val="nextTo"/>
        <c:spPr>
          <a:ln w="0">
            <a:noFill/>
          </a:ln>
        </c:spPr>
        <c:txPr>
          <a:bodyPr anchorCtr="1"/>
          <a:lstStyle/>
          <a:p>
            <a:pPr>
              <a:defRPr sz="1575">
                <a:solidFill>
                  <a:srgbClr val="627086"/>
                </a:solidFill>
                <a:latin typeface="DM Sans"/>
                <a:ea typeface="DM Sans"/>
                <a:cs typeface="DM Sans"/>
              </a:defRPr>
            </a:pPr>
            <a:endParaRPr lang="zh-CN"/>
          </a:p>
        </c:txPr>
        <c:crossAx val="48650112"/>
        <c:crosses val="autoZero"/>
        <c:crossBetween val="between"/>
      </c:valAx>
      <c:spPr>
        <a:noFill/>
        <a:ln w="0">
          <a:noFill/>
        </a:ln>
      </c:spPr>
    </c:plotArea>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h41e2656091d0bc1b_0_0: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 name="Google Shape;22;h41e2656091d0bc1b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23" name="Google Shape;23;h41e2656091d0bc1b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h71c2a19aba2f255b_0_15: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 name="Google Shape;43;h71c2a19aba2f255b_0_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44" name="Google Shape;44;h71c2a19aba2f255b_0_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h71c2a19aba2f255b_0_41: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 name="Google Shape;65;h71c2a19aba2f255b_0_4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66" name="Google Shape;66;h71c2a19aba2f255b_0_4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h71c2a19aba2f255b_0_71: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 name="Google Shape;85;h71c2a19aba2f255b_0_7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86" name="Google Shape;86;h71c2a19aba2f255b_0_7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h71c2a19aba2f255b_0_96: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8" name="Google Shape;98;h71c2a19aba2f255b_0_9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99" name="Google Shape;99;h71c2a19aba2f255b_0_9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h71c2a19aba2f255b_0_115: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2" name="Google Shape;112;h71c2a19aba2f255b_0_1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113" name="Google Shape;113;h71c2a19aba2f255b_0_1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h71c2a19aba2f255b_0_129: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5" name="Google Shape;125;h71c2a19aba2f255b_0_1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126" name="Google Shape;126;h71c2a19aba2f255b_0_12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h71c2a19aba2f255b_0_142: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h71c2a19aba2f255b_0_14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139" name="Google Shape;139;h71c2a19aba2f255b_0_14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h71c2a19aba2f255b_0_156: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 name="Google Shape;151;h71c2a19aba2f255b_0_15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152" name="Google Shape;152;h71c2a19aba2f255b_0_15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h71c2a19aba2f255b_0_175: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5" name="Google Shape;165;h71c2a19aba2f255b_0_17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166" name="Google Shape;166;h71c2a19aba2f255b_0_17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h620169dc979318e4_0_44: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8" name="Google Shape;178;h620169dc979318e4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179" name="Google Shape;179;h620169dc979318e4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h620169dc979318e4_0_67: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 name="Google Shape;191;h620169dc979318e4_0_6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192" name="Google Shape;192;h620169dc979318e4_0_6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h620169dc979318e4_0_10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h620169dc979318e4_0_10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205" name="Google Shape;205;h620169dc979318e4_0_10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pPr marL="0" marR="0" lvl="0" indent="0" algn="l">
              <a:lnSpc>
                <a:spcPct val="100000"/>
              </a:lnSpc>
              <a:spcBef>
                <a:spcPts val="0"/>
              </a:spcBef>
              <a:spcAft>
                <a:spcPts val="0"/>
              </a:spcAft>
              <a:buSzPts val="1100"/>
              <a:buNone/>
            </a:pPr>
            <a:r>
              <a:t>This week I focused on our sector and seniority classification task. I built on the team's existing rules and saved LLM results, and moved the workflow beyond the development examples. I first ran Q2, checked the output, and then ran all fourteen quarters. The full source table contains about six hundred and nine thousand records.</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For sector, I kept the existing ten categories. The original rules still take priority. If a rule cannot classify a record, the workflow can reuse a saved LLM answer when the full original description matches exactly and the score meets the team's existing threshold. I did not merge companies with similar names.</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For seniority, I kept the old label and added a separate candidate, together with the words that triggered it. I also kept lien rank separate from loan structure. For example, One Stop can describe the structure even when the text does not tell us the lien rank.</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The output preserves the original description and source links. These are holding-level records, not unique borrowers. It also marks which records belong to the smaller numeric-cleaned table, so we can keep the two sample definitions separate.</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中文提示（不朗读）</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这页讲本周工作的范围和方法：沿用团队规则与旧LLM结果，先Q2后全期；seniority、lien和structure分开。记录数不是公司数，也没有做borrower合并。</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Source</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/Users/olivia/Desktop/FE project_Technology/03_Research_研究/Risk_by_Sector/runs/2026-09-30_LLM_S1S2_offline_batch_v1/results/full/summary.json: cohorts raw_full and numeric_full; policy/EXECUTION_POLICY.txt; code/batch_classify.py. Full input SHA256 8f0de8093d21988336848f99ace9f61a3226c4a8e6f322edbe1c96290e548ddd.</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Meeting: October 1, 2026. All figures describe development candidates, not validated risk conclusions.</a:t>
            </a:r>
            <a:endParaRPr sz="1200">
              <a:solidFill>
                <a:schemeClr val="dk1"/>
              </a:solidFill>
              <a:latin typeface="Calibri"/>
              <a:ea typeface="Calibri"/>
              <a:cs typeface="Calibr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pPr marL="0" marR="0" lvl="0" indent="0" algn="l">
              <a:lnSpc>
                <a:spcPct val="100000"/>
              </a:lnSpc>
              <a:spcBef>
                <a:spcPts val="0"/>
              </a:spcBef>
              <a:spcAft>
                <a:spcPts val="0"/>
              </a:spcAft>
              <a:buSzPts val="1100"/>
              <a:buNone/>
            </a:pPr>
            <a:r>
              <a:t>Across the full source table, the revised text checks produced five thousand, three hundred and ninety-seven changes to the seniority candidate. The chart separates the changes because simply counting more filled labels would miss part of the work.</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There were three thousand, one hundred and twenty-five records where an Unknown became a specific candidate. There were also two thousand, two hundred and twenty-nine records where an existing label went back to Unknown. In those cases, the checks found that the original text did not clearly support the old label, or that it needed further review. Another forty-three records changed between specific categories.</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The latest quarter is included in these totals. Q2 had five hundred and eighty-eight changes. Within Q2, the three hundred and seventy-nine additions all came from recognizing hyphenated first-lien wording. They span four filing entities, so they should not be described as three hundred and seventy-nine different companies.</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These figures count candidate changes. I have not established that every change is correct. The useful output is that we can now see each difference and trace it back to the original text.</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中文提示（不朗读）</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核心数字只记5,397和Q2的588。补回、撤回、改类要分开讲。379条连字符例子不是本周新发现的独立风险事件，而是旧开发规则的全量应用。</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Source</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/Users/olivia/Desktop/FE project_Technology/03_Research_研究/Risk_by_Sector/runs/2026-09-30_LLM_S1S2_offline_batch_v1/results/full/summary.json: raw_full seniority_candidate_changes 5397 = 3125 + 2229 + 43; raw_Q2 588 = 379 + 200 + 9. REPORT_阶段一二结果.txt section 3: Q2 hyphen additions across 4 filing CIKs.</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Meeting: October 1, 2026. All figures describe development candidates, not validated risk conclusions.</a:t>
            </a:r>
            <a:endParaRPr sz="1200">
              <a:solidFill>
                <a:schemeClr val="dk1"/>
              </a:solidFill>
              <a:latin typeface="Calibri"/>
              <a:ea typeface="Calibri"/>
              <a:cs typeface="Calibr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pPr marL="0" marR="0" lvl="0" indent="0" algn="l">
              <a:lnSpc>
                <a:spcPct val="100000"/>
              </a:lnSpc>
              <a:spcBef>
                <a:spcPts val="0"/>
              </a:spcBef>
              <a:spcAft>
                <a:spcPts val="0"/>
              </a:spcAft>
              <a:buSzPts val="1100"/>
              <a:buNone/>
            </a:pPr>
            <a:r>
              <a:t>These examples show why the distinction matters for the project.</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The first record is a Raptor loan whose description says First-lien revolving loan. The old rule missed that wording because of the hyphen. The revised check returns a first-lien candidate. This is a formatting issue where the description already contains the information.</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The second example is Diamond Mezzanine 24 LLC. Mezzanine appears in the company name, but the same record describes the instrument as a first lien senior secured loan. The old rule returned a subordinated or mezzanine category. The new candidate follows the loan wording. This illustrates why finding a word anywhere in the description can give us the wrong type of information.</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The third example says Junior Secured Loans. The old rule treated that as second lien. The wording supports a secured loan, but it does not specify second lien. So the candidate leaves the rank unresolved while retaining secured status. We would need more source evidence to go further.</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These decisions could change how a portfolio looks when we compare seniority categories. I have not yet measured their effect on risk metrics. The examples support a classification review, not a conclusion that these borrowers became safer or riskier.</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中文提示（不朗读）</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不要把3个例子讲成3个信用事件。重点是公司名里的Mezzanine不等于贷款是夹层债；Junior Secured也不能直接等同Second Lien。候选变化的风险指标影响尚未测量。</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Source</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/Users/olivia/Desktop/FE project_Technology/03_Research_研究/Risk_by_Sector/runs/2026-09-30_LLM_S1S2_offline_batch_v1/results/full/seniority_candidate_changes.csv.gz. Raptor record_id bb94074568f74fdecdce42c1078918e2d588ab9b27e21acf0ea1eb080971405b, accession 000119312526332725, context C_812b8596-c7ad-4817-997c-08ba3332ffca. Diamond record_id fa4120e5056777532d26966ce19a111bf569d53a89b3389b7434642fc22b4d5a, accession 000162828026050307, context c-1140. First Brands record_id d55e2bf05e9bc7cbf077279f3bd6ee96af770d5efd213b066156cf25acebc73e, accession 000174231326000046, context c-757. All period 2026-06-30. Identifier excerpts only; independent filing review not performed for this release.</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Meeting: October 1, 2026. All figures describe development candidates, not validated risk conclusions.</a:t>
            </a:r>
            <a:endParaRPr sz="1200">
              <a:solidFill>
                <a:schemeClr val="dk1"/>
              </a:solidFill>
              <a:latin typeface="Calibri"/>
              <a:ea typeface="Calibri"/>
              <a:cs typeface="Calibr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pPr marL="0" marR="0" lvl="0" indent="0" algn="l">
              <a:lnSpc>
                <a:spcPct val="100000"/>
              </a:lnSpc>
              <a:spcBef>
                <a:spcPts val="0"/>
              </a:spcBef>
              <a:spcAft>
                <a:spcPts val="0"/>
              </a:spcAft>
              <a:buSzPts val="1100"/>
              <a:buNone/>
            </a:pPr>
            <a:r>
              <a:t>For sector classification, the main progress this week was reproducing the existing results and making their source traceable. I have not added new sector labels in this run.</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The full source table has sector candidates for about seventy percent of records. The numeric-cleaned subset has about seventy-nine percent. These percentages use different samples. The higher number does not mean the classifier improved. It is the same method applied to the smaller table. Neither percentage measures accuracy.</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The next sector check is whether the label follows a clearly attributed industry description, or whether it comes from a company-name word or an unverified inference. We also need consistent mappings from detailed industry descriptions into our ten categories.</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The output keeps the original records intact. I checked the exported source cells and reproduced the old final labels without differences. Those checks support record alignment and reproducibility. They do not establish that the classifications are economically correct.</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For later risk-by-sector work, we will still need to validate the labels and sample boundaries. Borrower identity remains unresolved, so this output does not support borrower concentration or crowding claims by itself.</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中文提示（不朗读）</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79.19%是数值清洗子集上的原团队基线，不是我们的提升，也不是准确率。这里强调sector部分的实际进度是复现与可追溯性，新增LLM分类尚未做。</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Source</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/Users/olivia/Desktop/FE project_Technology/03_Research_研究/Risk_by_Sector/runs/2026-09-30_LLM_S1S2_offline_batch_v1/results/full/summary.json: raw_full 427152/608680 = 70.17677597423934%; numeric_full 397763/502299 = 79.18849131692478%. validation/release_checks.json: 19477760 original source cells checked, 0 differences, exact Q2/full consistency.</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Meeting: October 1, 2026. All figures describe development candidates, not validated risk conclusions.</a:t>
            </a:r>
            <a:endParaRPr sz="1200">
              <a:solidFill>
                <a:schemeClr val="dk1"/>
              </a:solidFill>
              <a:latin typeface="Calibri"/>
              <a:ea typeface="Calibri"/>
              <a:cs typeface="Calibr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pPr marL="0" marR="0" lvl="0" indent="0" algn="l">
              <a:lnSpc>
                <a:spcPct val="100000"/>
              </a:lnSpc>
              <a:spcBef>
                <a:spcPts val="0"/>
              </a:spcBef>
              <a:spcAft>
                <a:spcPts val="0"/>
              </a:spcAft>
              <a:buSzPts val="1100"/>
              <a:buNone/>
            </a:pPr>
            <a:r>
              <a:t>To summarize, I now have a full-period candidate table, a reproducible workflow, and a list of records that need further review. We can inspect changes directly instead of replacing the old labels without an explanation.</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My next step is to test the revised prompt on a small batch of real model responses. After checking the returned labels and their evidence, I would process the relevant review groups. The review queue is not a request for someone to manually inspect every record, or a list we should blindly send to an API. Some records first need more context from the filing.</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After that, we should check records that were not used to develop the rules or prompt, including both filled labels and Unknowns. That will give us a better basis for deciding whether the results are ready for sector analysis.</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One practical dependency is API access. I reused the team's saved LLM answers, but I have not made new API calls. The new API cost so far is zero. I would like to confirm the team's preferred model access and classification policy before that next run.</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中文提示（不朗读）</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最后用一两句话提出API依赖，不把整份汇报讲成缺权限。提出希望确认团队可用的模型调用方式与行业口径即可。没有请求无限预算，也没有说已经完成新版LLM运行。</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Source</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/Users/olivia/Desktop/FE project_Technology/03_Research_研究/Risk_by_Sector/runs/2026-09-30_LLM_S1S2_offline_batch_v1/results/full/summary.json: fresh_llm_status NOT_RUN_MISSING_API_KEY; new_api_calls 0; new_api_cost_usd 0; independent_validation NOT_PERFORMED. code/get_seniority_debttype.py and policy/EXECUTION_POLICY.txt. Next steps are proposed, not completed.</a:t>
            </a: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endParaRPr sz="1200">
              <a:solidFill>
                <a:schemeClr val="dk1"/>
              </a:solidFill>
              <a:latin typeface="Calibri"/>
              <a:ea typeface="Calibri"/>
              <a:cs typeface="Calibri"/>
            </a:endParaRPr>
          </a:p>
          <a:p>
            <a:pPr marL="0" marR="0" lvl="0" indent="0" algn="l">
              <a:lnSpc>
                <a:spcPct val="100000"/>
              </a:lnSpc>
              <a:spcBef>
                <a:spcPts val="0"/>
              </a:spcBef>
              <a:spcAft>
                <a:spcPts val="0"/>
              </a:spcAft>
              <a:buSzPts val="1100"/>
              <a:buNone/>
            </a:pPr>
            <a:r>
              <a:t>Meeting: October 1, 2026. All figures describe development candidates, not validated risk conclusions.</a:t>
            </a:r>
            <a:endParaRPr sz="1200">
              <a:solidFill>
                <a:schemeClr val="dk1"/>
              </a:solidFill>
              <a:latin typeface="Calibri"/>
              <a:ea typeface="Calibri"/>
              <a:cs typeface="Calibri"/>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
        <p:cNvGrpSpPr/>
        <p:nvPr/>
      </p:nvGrpSpPr>
      <p:grpSpPr>
        <a:xfrm>
          <a:off x="0" y="0"/>
          <a:ext cx="0" cy="0"/>
          <a:chOff x="0" y="0"/>
          <a:chExt cx="0" cy="0"/>
        </a:xfrm>
      </p:grpSpPr>
      <p:pic>
        <p:nvPicPr>
          <p:cNvPr id="12" name="Google Shape;12;p1" descr="assets/seal.png"/>
          <p:cNvPicPr preferRelativeResize="0"/>
          <p:nvPr/>
        </p:nvPicPr>
        <p:blipFill rotWithShape="1">
          <a:blip r:embed="rId4">
            <a:alphaModFix/>
          </a:blip>
          <a:srcRect/>
          <a:stretch/>
        </p:blipFill>
        <p:spPr>
          <a:xfrm>
            <a:off x="685800" y="692201"/>
            <a:ext cx="254203" cy="254203"/>
          </a:xfrm>
          <a:prstGeom prst="rect">
            <a:avLst/>
          </a:prstGeom>
          <a:noFill/>
          <a:ln>
            <a:noFill/>
          </a:ln>
        </p:spPr>
      </p:pic>
      <p:cxnSp>
        <p:nvCxnSpPr>
          <p:cNvPr id="13" name="Google Shape;13;p1"/>
          <p:cNvCxnSpPr/>
          <p:nvPr/>
        </p:nvCxnSpPr>
        <p:spPr>
          <a:xfrm>
            <a:off x="993953" y="695858"/>
            <a:ext cx="0" cy="252374"/>
          </a:xfrm>
          <a:prstGeom prst="straightConnector1">
            <a:avLst/>
          </a:prstGeom>
          <a:noFill/>
          <a:ln w="9525" cap="flat" cmpd="sng">
            <a:solidFill>
              <a:srgbClr val="7C808B"/>
            </a:solidFill>
            <a:prstDash val="solid"/>
            <a:round/>
            <a:headEnd type="none" w="sm" len="sm"/>
            <a:tailEnd type="none" w="sm" len="sm"/>
          </a:ln>
        </p:spPr>
      </p:cxnSp>
      <p:pic>
        <p:nvPicPr>
          <p:cNvPr id="14" name="Google Shape;14;p1" descr="assets/mlogo.png"/>
          <p:cNvPicPr preferRelativeResize="0"/>
          <p:nvPr/>
        </p:nvPicPr>
        <p:blipFill rotWithShape="1">
          <a:blip r:embed="rId5">
            <a:alphaModFix/>
          </a:blip>
          <a:srcRect/>
          <a:stretch/>
        </p:blipFill>
        <p:spPr>
          <a:xfrm>
            <a:off x="1062533" y="692201"/>
            <a:ext cx="241402" cy="241402"/>
          </a:xfrm>
          <a:prstGeom prst="rect">
            <a:avLst/>
          </a:prstGeom>
          <a:noFill/>
          <a:ln>
            <a:noFill/>
          </a:ln>
        </p:spPr>
      </p:pic>
      <p:sp>
        <p:nvSpPr>
          <p:cNvPr id="15" name="Google Shape;15;p1"/>
          <p:cNvSpPr txBox="1"/>
          <p:nvPr/>
        </p:nvSpPr>
        <p:spPr>
          <a:xfrm>
            <a:off x="1356970" y="666598"/>
            <a:ext cx="2377440" cy="18288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16" name="Google Shape;16;p1"/>
          <p:cNvSpPr txBox="1"/>
          <p:nvPr/>
        </p:nvSpPr>
        <p:spPr>
          <a:xfrm>
            <a:off x="1356970" y="834847"/>
            <a:ext cx="2377440" cy="14630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17" name="Google Shape;17;p1"/>
          <p:cNvSpPr txBox="1"/>
          <p:nvPr/>
        </p:nvSpPr>
        <p:spPr>
          <a:xfrm>
            <a:off x="685800" y="1810500"/>
            <a:ext cx="11076600" cy="2159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1D243E"/>
              </a:buClr>
              <a:buSzPts val="7000"/>
              <a:buFont typeface="Saira"/>
              <a:buNone/>
            </a:pPr>
            <a:r>
              <a:rPr lang="en-US" sz="7000" b="1" i="0" u="none" strike="noStrike" cap="none">
                <a:solidFill>
                  <a:srgbClr val="1D243E"/>
                </a:solidFill>
                <a:latin typeface="Saira"/>
                <a:ea typeface="Saira"/>
                <a:cs typeface="Saira"/>
                <a:sym typeface="Saira"/>
              </a:rPr>
              <a:t>Marathon Project Meeting</a:t>
            </a:r>
            <a:endParaRPr sz="7000" b="0" i="0" u="none" strike="noStrike" cap="none">
              <a:solidFill>
                <a:schemeClr val="dk1"/>
              </a:solidFill>
              <a:latin typeface="Calibri"/>
              <a:ea typeface="Calibri"/>
              <a:cs typeface="Calibri"/>
              <a:sym typeface="Calibri"/>
            </a:endParaRPr>
          </a:p>
        </p:txBody>
      </p:sp>
      <p:sp>
        <p:nvSpPr>
          <p:cNvPr id="18" name="Google Shape;18;p1"/>
          <p:cNvSpPr txBox="1"/>
          <p:nvPr/>
        </p:nvSpPr>
        <p:spPr>
          <a:xfrm>
            <a:off x="685800" y="4127950"/>
            <a:ext cx="10972800" cy="1200000"/>
          </a:xfrm>
          <a:prstGeom prst="rect">
            <a:avLst/>
          </a:prstGeom>
          <a:noFill/>
          <a:ln>
            <a:noFill/>
          </a:ln>
        </p:spPr>
        <p:txBody>
          <a:bodyPr spcFirstLastPara="1" wrap="square" lIns="0" tIns="0" rIns="0" bIns="0" anchor="t" anchorCtr="0">
            <a:noAutofit/>
          </a:bodyPr>
          <a:lstStyle/>
          <a:p>
            <a:pPr marL="0" marR="0" lvl="0" indent="0" algn="l" rtl="0">
              <a:lnSpc>
                <a:spcPct val="99000"/>
              </a:lnSpc>
              <a:spcBef>
                <a:spcPts val="0"/>
              </a:spcBef>
              <a:spcAft>
                <a:spcPts val="0"/>
              </a:spcAft>
              <a:buClr>
                <a:srgbClr val="4487B8"/>
              </a:buClr>
              <a:buSzPts val="3470"/>
              <a:buFont typeface="DM Sans"/>
              <a:buNone/>
            </a:pPr>
            <a:r>
              <a:rPr lang="en-US" sz="3470" b="1">
                <a:solidFill>
                  <a:srgbClr val="4487B8"/>
                </a:solidFill>
                <a:latin typeface="DM Sans"/>
                <a:ea typeface="DM Sans"/>
                <a:cs typeface="DM Sans"/>
                <a:sym typeface="DM Sans"/>
              </a:rPr>
              <a:t>Revisiting Data Cleaning Incorporating LLM</a:t>
            </a:r>
            <a:endParaRPr sz="3470" b="0" i="0" u="none" strike="noStrike" cap="none">
              <a:solidFill>
                <a:schemeClr val="dk1"/>
              </a:solidFill>
              <a:latin typeface="Calibri"/>
              <a:ea typeface="Calibri"/>
              <a:cs typeface="Calibri"/>
              <a:sym typeface="Calibri"/>
            </a:endParaRPr>
          </a:p>
        </p:txBody>
      </p:sp>
      <p:sp>
        <p:nvSpPr>
          <p:cNvPr id="19" name="Google Shape;19;p1"/>
          <p:cNvSpPr txBox="1"/>
          <p:nvPr/>
        </p:nvSpPr>
        <p:spPr>
          <a:xfrm>
            <a:off x="685800" y="5486400"/>
            <a:ext cx="6858000" cy="109728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404451"/>
              </a:buClr>
              <a:buSzPts val="1330"/>
              <a:buFont typeface="DM Sans"/>
              <a:buNone/>
            </a:pPr>
            <a:r>
              <a:rPr lang="en-US" sz="1330" b="0" i="0" u="none" strike="noStrike" cap="none">
                <a:solidFill>
                  <a:srgbClr val="404451"/>
                </a:solidFill>
                <a:latin typeface="DM Sans"/>
                <a:ea typeface="DM Sans"/>
                <a:cs typeface="DM Sans"/>
                <a:sym typeface="DM Sans"/>
              </a:rPr>
              <a:t>SPONSOR: Jason Foster</a:t>
            </a:r>
            <a:endParaRPr sz="13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404451"/>
              </a:buClr>
              <a:buSzPts val="1330"/>
              <a:buFont typeface="DM Sans"/>
              <a:buNone/>
            </a:pPr>
            <a:r>
              <a:rPr lang="en-US" sz="1330" b="0" i="0" u="none" strike="noStrike" cap="none">
                <a:solidFill>
                  <a:srgbClr val="404451"/>
                </a:solidFill>
                <a:latin typeface="DM Sans"/>
                <a:ea typeface="DM Sans"/>
                <a:cs typeface="DM Sans"/>
                <a:sym typeface="DM Sans"/>
              </a:rPr>
              <a:t>ADVISOR: Sasha Stoikov</a:t>
            </a:r>
            <a:endParaRPr sz="13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404451"/>
              </a:buClr>
              <a:buSzPts val="1330"/>
              <a:buFont typeface="DM Sans"/>
              <a:buNone/>
            </a:pPr>
            <a:r>
              <a:rPr lang="en-US" sz="1330" b="0" i="0" u="none" strike="noStrike" cap="none">
                <a:solidFill>
                  <a:srgbClr val="404451"/>
                </a:solidFill>
                <a:latin typeface="DM Sans"/>
                <a:ea typeface="DM Sans"/>
                <a:cs typeface="DM Sans"/>
                <a:sym typeface="DM Sans"/>
              </a:rPr>
              <a:t>TEAM: Alex Lee, Max Yap, Minxi Lin, Yung Lee, Olivia Mei</a:t>
            </a:r>
            <a:endParaRPr sz="13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404451"/>
              </a:buClr>
              <a:buSzPts val="1330"/>
              <a:buFont typeface="DM Sans"/>
              <a:buNone/>
            </a:pPr>
            <a:r>
              <a:rPr lang="en-US" sz="1330" b="0" i="0" u="none" strike="noStrike" cap="none">
                <a:solidFill>
                  <a:srgbClr val="404451"/>
                </a:solidFill>
                <a:latin typeface="DM Sans"/>
                <a:ea typeface="DM Sans"/>
                <a:cs typeface="DM Sans"/>
                <a:sym typeface="DM Sans"/>
              </a:rPr>
              <a:t>DATE: </a:t>
            </a:r>
            <a:r>
              <a:rPr lang="en-US" sz="1330">
                <a:solidFill>
                  <a:srgbClr val="404451"/>
                </a:solidFill>
                <a:latin typeface="DM Sans"/>
                <a:ea typeface="DM Sans"/>
                <a:cs typeface="DM Sans"/>
                <a:sym typeface="DM Sans"/>
              </a:rPr>
              <a:t>October 1</a:t>
            </a:r>
            <a:r>
              <a:rPr lang="en-US" sz="1330" b="0" i="0" u="none" strike="noStrike" cap="none">
                <a:solidFill>
                  <a:srgbClr val="404451"/>
                </a:solidFill>
                <a:latin typeface="DM Sans"/>
                <a:ea typeface="DM Sans"/>
                <a:cs typeface="DM Sans"/>
                <a:sym typeface="DM Sans"/>
              </a:rPr>
              <a:t>, 2026</a:t>
            </a:r>
            <a:endParaRPr sz="133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24"/>
        <p:cNvGrpSpPr/>
        <p:nvPr/>
      </p:nvGrpSpPr>
      <p:grpSpPr>
        <a:xfrm>
          <a:off x="0" y="0"/>
          <a:ext cx="0" cy="0"/>
          <a:chOff x="0" y="0"/>
          <a:chExt cx="0" cy="0"/>
        </a:xfrm>
      </p:grpSpPr>
      <p:pic>
        <p:nvPicPr>
          <p:cNvPr id="25" name="Google Shape;25;h41e2656091d0bc1b_0_0"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26" name="Google Shape;26;h41e2656091d0bc1b_0_0"/>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27" name="Google Shape;27;h41e2656091d0bc1b_0_0"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28" name="Google Shape;28;h41e2656091d0bc1b_0_0"/>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29" name="Google Shape;29;h41e2656091d0bc1b_0_0"/>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30" name="Google Shape;30;h41e2656091d0bc1b_0_0"/>
          <p:cNvSpPr txBox="1"/>
          <p:nvPr/>
        </p:nvSpPr>
        <p:spPr>
          <a:xfrm>
            <a:off x="685800" y="658375"/>
            <a:ext cx="90630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One change to the share filter</a:t>
            </a:r>
            <a:endParaRPr sz="1800" b="0" i="0" u="none" strike="noStrike" cap="none">
              <a:solidFill>
                <a:schemeClr val="dk1"/>
              </a:solidFill>
              <a:latin typeface="Calibri"/>
              <a:ea typeface="Calibri"/>
              <a:cs typeface="Calibri"/>
              <a:sym typeface="Calibri"/>
            </a:endParaRPr>
          </a:p>
        </p:txBody>
      </p:sp>
      <p:sp>
        <p:nvSpPr>
          <p:cNvPr id="31" name="Google Shape;31;h41e2656091d0bc1b_0_0"/>
          <p:cNvSpPr txBox="1"/>
          <p:nvPr/>
        </p:nvSpPr>
        <p:spPr>
          <a:xfrm>
            <a:off x="685800" y="218275"/>
            <a:ext cx="2860800" cy="44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rgbClr val="1155CC"/>
                </a:solidFill>
              </a:rPr>
              <a:t>Preprocessing</a:t>
            </a:r>
            <a:endParaRPr sz="1600" b="1">
              <a:solidFill>
                <a:srgbClr val="1155CC"/>
              </a:solidFill>
            </a:endParaRPr>
          </a:p>
        </p:txBody>
      </p:sp>
      <p:graphicFrame>
        <p:nvGraphicFramePr>
          <p:cNvPr id="32" name="Google Shape;32;h41e2656091d0bc1b_0_0"/>
          <p:cNvGraphicFramePr/>
          <p:nvPr/>
        </p:nvGraphicFramePr>
        <p:xfrm>
          <a:off x="685800" y="1344175"/>
          <a:ext cx="3000000" cy="3000000"/>
        </p:xfrm>
        <a:graphic>
          <a:graphicData uri="http://schemas.openxmlformats.org/drawingml/2006/table">
            <a:tbl>
              <a:tblPr>
                <a:noFill/>
                <a:tableStyleId>{C2D35A4E-98F7-4F77-87ED-E2BD8A616CE8}</a:tableStyleId>
              </a:tblPr>
              <a:tblGrid>
                <a:gridCol w="2876550">
                  <a:extLst>
                    <a:ext uri="{9D8B030D-6E8A-4147-A177-3AD203B41FA5}">
                      <a16:colId xmlns:a16="http://schemas.microsoft.com/office/drawing/2014/main" val="20000"/>
                    </a:ext>
                  </a:extLst>
                </a:gridCol>
                <a:gridCol w="1400175">
                  <a:extLst>
                    <a:ext uri="{9D8B030D-6E8A-4147-A177-3AD203B41FA5}">
                      <a16:colId xmlns:a16="http://schemas.microsoft.com/office/drawing/2014/main" val="20001"/>
                    </a:ext>
                  </a:extLst>
                </a:gridCol>
                <a:gridCol w="1400175">
                  <a:extLst>
                    <a:ext uri="{9D8B030D-6E8A-4147-A177-3AD203B41FA5}">
                      <a16:colId xmlns:a16="http://schemas.microsoft.com/office/drawing/2014/main" val="20002"/>
                    </a:ext>
                  </a:extLst>
                </a:gridCol>
              </a:tblGrid>
              <a:tr h="390525">
                <a:tc>
                  <a:txBody>
                    <a:bodyPr/>
                    <a:lstStyle/>
                    <a:p>
                      <a:pPr marL="0" lvl="0" indent="0" algn="l" rtl="0">
                        <a:lnSpc>
                          <a:spcPct val="178181"/>
                        </a:lnSpc>
                        <a:spcBef>
                          <a:spcPts val="0"/>
                        </a:spcBef>
                        <a:spcAft>
                          <a:spcPts val="0"/>
                        </a:spcAft>
                        <a:buNone/>
                      </a:pPr>
                      <a:r>
                        <a:rPr lang="en-US" b="1">
                          <a:solidFill>
                            <a:srgbClr val="1C2541"/>
                          </a:solidFill>
                          <a:latin typeface="DM Sans"/>
                          <a:ea typeface="DM Sans"/>
                          <a:cs typeface="DM Sans"/>
                          <a:sym typeface="DM Sans"/>
                        </a:rPr>
                        <a:t>Step</a:t>
                      </a:r>
                      <a:endParaRPr b="1">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tc>
                  <a:txBody>
                    <a:bodyPr/>
                    <a:lstStyle/>
                    <a:p>
                      <a:pPr marL="0" lvl="0" indent="0" algn="r" rtl="0">
                        <a:lnSpc>
                          <a:spcPct val="178181"/>
                        </a:lnSpc>
                        <a:spcBef>
                          <a:spcPts val="0"/>
                        </a:spcBef>
                        <a:spcAft>
                          <a:spcPts val="0"/>
                        </a:spcAft>
                        <a:buNone/>
                      </a:pPr>
                      <a:r>
                        <a:rPr lang="en-US" b="1">
                          <a:solidFill>
                            <a:srgbClr val="1C2541"/>
                          </a:solidFill>
                          <a:latin typeface="DM Sans"/>
                          <a:ea typeface="DM Sans"/>
                          <a:cs typeface="DM Sans"/>
                          <a:sym typeface="DM Sans"/>
                        </a:rPr>
                        <a:t>Meeting 2</a:t>
                      </a:r>
                      <a:endParaRPr b="1">
                        <a:solidFill>
                          <a:srgbClr val="1C2541"/>
                        </a:solidFill>
                        <a:latin typeface="DM Sans"/>
                        <a:ea typeface="DM Sans"/>
                        <a:cs typeface="DM Sans"/>
                        <a:sym typeface="DM Sans"/>
                      </a:endParaRPr>
                    </a:p>
                  </a:txBody>
                  <a:tcPr marL="91425" marR="91425" marT="91425" marB="91425">
                    <a:lnL w="9525" cap="flat" cmpd="sng">
                      <a:solidFill>
                        <a:srgbClr val="B3B5B8"/>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tc>
                  <a:txBody>
                    <a:bodyPr/>
                    <a:lstStyle/>
                    <a:p>
                      <a:pPr marL="0" lvl="0" indent="0" algn="r" rtl="0">
                        <a:lnSpc>
                          <a:spcPct val="178181"/>
                        </a:lnSpc>
                        <a:spcBef>
                          <a:spcPts val="0"/>
                        </a:spcBef>
                        <a:spcAft>
                          <a:spcPts val="0"/>
                        </a:spcAft>
                        <a:buNone/>
                      </a:pPr>
                      <a:r>
                        <a:rPr lang="en-US" b="1">
                          <a:solidFill>
                            <a:srgbClr val="1C2541"/>
                          </a:solidFill>
                          <a:latin typeface="DM Sans"/>
                          <a:ea typeface="DM Sans"/>
                          <a:cs typeface="DM Sans"/>
                          <a:sym typeface="DM Sans"/>
                        </a:rPr>
                        <a:t>Now</a:t>
                      </a:r>
                      <a:endParaRPr b="1">
                        <a:solidFill>
                          <a:srgbClr val="1C2541"/>
                        </a:solidFill>
                        <a:latin typeface="DM Sans"/>
                        <a:ea typeface="DM Sans"/>
                        <a:cs typeface="DM Sans"/>
                        <a:sym typeface="DM Sans"/>
                      </a:endParaRPr>
                    </a:p>
                  </a:txBody>
                  <a:tcPr marL="91425" marR="91425" marT="91425" marB="91425">
                    <a:lnL w="9525" cap="flat" cmpd="sng">
                      <a:solidFill>
                        <a:srgbClr val="B3B5B8"/>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extLst>
                  <a:ext uri="{0D108BD9-81ED-4DB2-BD59-A6C34878D82A}">
                    <a16:rowId xmlns:a16="http://schemas.microsoft.com/office/drawing/2014/main" val="10000"/>
                  </a:ext>
                </a:extLst>
              </a:tr>
              <a:tr h="390525">
                <a:tc>
                  <a:txBody>
                    <a:bodyPr/>
                    <a:lstStyle/>
                    <a:p>
                      <a:pPr marL="0" lvl="0" indent="0" algn="l" rtl="0">
                        <a:lnSpc>
                          <a:spcPct val="178181"/>
                        </a:lnSpc>
                        <a:spcBef>
                          <a:spcPts val="0"/>
                        </a:spcBef>
                        <a:spcAft>
                          <a:spcPts val="0"/>
                        </a:spcAft>
                        <a:buNone/>
                      </a:pPr>
                      <a:r>
                        <a:rPr lang="en-US">
                          <a:solidFill>
                            <a:srgbClr val="1C2541"/>
                          </a:solidFill>
                          <a:latin typeface="DM Sans"/>
                          <a:ea typeface="DM Sans"/>
                          <a:cs typeface="DM Sans"/>
                          <a:sym typeface="DM Sans"/>
                        </a:rPr>
                        <a:t>Raw parsed rows</a:t>
                      </a:r>
                      <a:endParaRPr>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78181"/>
                        </a:lnSpc>
                        <a:spcBef>
                          <a:spcPts val="0"/>
                        </a:spcBef>
                        <a:spcAft>
                          <a:spcPts val="0"/>
                        </a:spcAft>
                        <a:buNone/>
                      </a:pPr>
                      <a:r>
                        <a:rPr lang="en-US">
                          <a:solidFill>
                            <a:srgbClr val="1C2541"/>
                          </a:solidFill>
                          <a:latin typeface="DM Sans"/>
                          <a:ea typeface="DM Sans"/>
                          <a:cs typeface="DM Sans"/>
                          <a:sym typeface="DM Sans"/>
                        </a:rPr>
                        <a:t>771,544</a:t>
                      </a:r>
                      <a:endParaRPr>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78181"/>
                        </a:lnSpc>
                        <a:spcBef>
                          <a:spcPts val="0"/>
                        </a:spcBef>
                        <a:spcAft>
                          <a:spcPts val="0"/>
                        </a:spcAft>
                        <a:buNone/>
                      </a:pPr>
                      <a:r>
                        <a:rPr lang="en-US">
                          <a:solidFill>
                            <a:srgbClr val="1C2541"/>
                          </a:solidFill>
                          <a:latin typeface="DM Sans"/>
                          <a:ea typeface="DM Sans"/>
                          <a:cs typeface="DM Sans"/>
                          <a:sym typeface="DM Sans"/>
                        </a:rPr>
                        <a:t>771,544</a:t>
                      </a:r>
                      <a:endParaRPr>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1"/>
                  </a:ext>
                </a:extLst>
              </a:tr>
              <a:tr h="390525">
                <a:tc>
                  <a:txBody>
                    <a:bodyPr/>
                    <a:lstStyle/>
                    <a:p>
                      <a:pPr marL="0" lvl="0" indent="0" algn="l" rtl="0">
                        <a:lnSpc>
                          <a:spcPct val="178181"/>
                        </a:lnSpc>
                        <a:spcBef>
                          <a:spcPts val="0"/>
                        </a:spcBef>
                        <a:spcAft>
                          <a:spcPts val="0"/>
                        </a:spcAft>
                        <a:buNone/>
                      </a:pPr>
                      <a:r>
                        <a:rPr lang="en-US">
                          <a:solidFill>
                            <a:srgbClr val="1C2541"/>
                          </a:solidFill>
                          <a:latin typeface="DM Sans"/>
                          <a:ea typeface="DM Sans"/>
                          <a:cs typeface="DM Sans"/>
                          <a:sym typeface="DM Sans"/>
                        </a:rPr>
                        <a:t>Restrict to 2023Q1 onward</a:t>
                      </a:r>
                      <a:endParaRPr>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78181"/>
                        </a:lnSpc>
                        <a:spcBef>
                          <a:spcPts val="0"/>
                        </a:spcBef>
                        <a:spcAft>
                          <a:spcPts val="0"/>
                        </a:spcAft>
                        <a:buNone/>
                      </a:pPr>
                      <a:r>
                        <a:rPr lang="en-US">
                          <a:solidFill>
                            <a:srgbClr val="1C2541"/>
                          </a:solidFill>
                          <a:latin typeface="DM Sans"/>
                          <a:ea typeface="DM Sans"/>
                          <a:cs typeface="DM Sans"/>
                          <a:sym typeface="DM Sans"/>
                        </a:rPr>
                        <a:t>742,986</a:t>
                      </a:r>
                      <a:endParaRPr>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78181"/>
                        </a:lnSpc>
                        <a:spcBef>
                          <a:spcPts val="0"/>
                        </a:spcBef>
                        <a:spcAft>
                          <a:spcPts val="0"/>
                        </a:spcAft>
                        <a:buNone/>
                      </a:pPr>
                      <a:r>
                        <a:rPr lang="en-US">
                          <a:solidFill>
                            <a:srgbClr val="1C2541"/>
                          </a:solidFill>
                          <a:latin typeface="DM Sans"/>
                          <a:ea typeface="DM Sans"/>
                          <a:cs typeface="DM Sans"/>
                          <a:sym typeface="DM Sans"/>
                        </a:rPr>
                        <a:t>742,986</a:t>
                      </a:r>
                      <a:endParaRPr>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2"/>
                  </a:ext>
                </a:extLst>
              </a:tr>
              <a:tr h="390525">
                <a:tc>
                  <a:txBody>
                    <a:bodyPr/>
                    <a:lstStyle/>
                    <a:p>
                      <a:pPr marL="0" lvl="0" indent="0" algn="l" rtl="0">
                        <a:lnSpc>
                          <a:spcPct val="178181"/>
                        </a:lnSpc>
                        <a:spcBef>
                          <a:spcPts val="0"/>
                        </a:spcBef>
                        <a:spcAft>
                          <a:spcPts val="0"/>
                        </a:spcAft>
                        <a:buNone/>
                      </a:pPr>
                      <a:r>
                        <a:rPr lang="en-US">
                          <a:solidFill>
                            <a:srgbClr val="1C2541"/>
                          </a:solidFill>
                          <a:latin typeface="DM Sans"/>
                          <a:ea typeface="DM Sans"/>
                          <a:cs typeface="DM Sans"/>
                          <a:sym typeface="DM Sans"/>
                        </a:rPr>
                        <a:t>Drop share-denominated rows</a:t>
                      </a:r>
                      <a:endParaRPr>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8BFB7"/>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8BFB7"/>
                      </a:solidFill>
                      <a:prstDash val="solid"/>
                      <a:round/>
                      <a:headEnd type="none" w="sm" len="sm"/>
                      <a:tailEnd type="none" w="sm" len="sm"/>
                    </a:lnB>
                  </a:tcPr>
                </a:tc>
                <a:tc>
                  <a:txBody>
                    <a:bodyPr/>
                    <a:lstStyle/>
                    <a:p>
                      <a:pPr marL="0" lvl="0" indent="0" algn="r" rtl="0">
                        <a:lnSpc>
                          <a:spcPct val="178181"/>
                        </a:lnSpc>
                        <a:spcBef>
                          <a:spcPts val="0"/>
                        </a:spcBef>
                        <a:spcAft>
                          <a:spcPts val="0"/>
                        </a:spcAft>
                        <a:buNone/>
                      </a:pPr>
                      <a:r>
                        <a:rPr lang="en-US">
                          <a:solidFill>
                            <a:srgbClr val="1C2541"/>
                          </a:solidFill>
                          <a:latin typeface="DM Sans"/>
                          <a:ea typeface="DM Sans"/>
                          <a:cs typeface="DM Sans"/>
                          <a:sym typeface="DM Sans"/>
                        </a:rPr>
                        <a:t>667,273</a:t>
                      </a:r>
                      <a:endParaRPr>
                        <a:solidFill>
                          <a:srgbClr val="1C2541"/>
                        </a:solidFill>
                        <a:latin typeface="DM Sans"/>
                        <a:ea typeface="DM Sans"/>
                        <a:cs typeface="DM Sans"/>
                        <a:sym typeface="DM Sans"/>
                      </a:endParaRPr>
                    </a:p>
                  </a:txBody>
                  <a:tcPr marL="91425" marR="91425" marT="91425" marB="91425">
                    <a:lnL w="9525" cap="flat" cmpd="sng">
                      <a:solidFill>
                        <a:srgbClr val="C8BFB7"/>
                      </a:solidFill>
                      <a:prstDash val="solid"/>
                      <a:round/>
                      <a:headEnd type="none" w="sm" len="sm"/>
                      <a:tailEnd type="none" w="sm" len="sm"/>
                    </a:lnL>
                    <a:lnR w="9525" cap="flat" cmpd="sng">
                      <a:solidFill>
                        <a:srgbClr val="C8BFB7"/>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8BFB7"/>
                      </a:solidFill>
                      <a:prstDash val="solid"/>
                      <a:round/>
                      <a:headEnd type="none" w="sm" len="sm"/>
                      <a:tailEnd type="none" w="sm" len="sm"/>
                    </a:lnB>
                  </a:tcPr>
                </a:tc>
                <a:tc>
                  <a:txBody>
                    <a:bodyPr/>
                    <a:lstStyle/>
                    <a:p>
                      <a:pPr marL="0" lvl="0" indent="0" algn="r" rtl="0">
                        <a:lnSpc>
                          <a:spcPct val="178181"/>
                        </a:lnSpc>
                        <a:spcBef>
                          <a:spcPts val="0"/>
                        </a:spcBef>
                        <a:spcAft>
                          <a:spcPts val="0"/>
                        </a:spcAft>
                        <a:buNone/>
                      </a:pPr>
                      <a:r>
                        <a:rPr lang="en-US">
                          <a:solidFill>
                            <a:srgbClr val="A9561C"/>
                          </a:solidFill>
                          <a:latin typeface="DM Sans"/>
                          <a:ea typeface="DM Sans"/>
                          <a:cs typeface="DM Sans"/>
                          <a:sym typeface="DM Sans"/>
                        </a:rPr>
                        <a:t>680,296</a:t>
                      </a:r>
                      <a:endParaRPr>
                        <a:solidFill>
                          <a:srgbClr val="A9561C"/>
                        </a:solidFill>
                        <a:latin typeface="DM Sans"/>
                        <a:ea typeface="DM Sans"/>
                        <a:cs typeface="DM Sans"/>
                        <a:sym typeface="DM Sans"/>
                      </a:endParaRPr>
                    </a:p>
                  </a:txBody>
                  <a:tcPr marL="91425" marR="91425" marT="91425" marB="91425">
                    <a:lnL w="9525" cap="flat" cmpd="sng">
                      <a:solidFill>
                        <a:srgbClr val="C8BFB7"/>
                      </a:solidFill>
                      <a:prstDash val="solid"/>
                      <a:round/>
                      <a:headEnd type="none" w="sm" len="sm"/>
                      <a:tailEnd type="none" w="sm" len="sm"/>
                    </a:lnL>
                    <a:lnR w="9525" cap="flat" cmpd="sng">
                      <a:solidFill>
                        <a:srgbClr val="C8BFB7"/>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8BFB7"/>
                      </a:solidFill>
                      <a:prstDash val="solid"/>
                      <a:round/>
                      <a:headEnd type="none" w="sm" len="sm"/>
                      <a:tailEnd type="none" w="sm" len="sm"/>
                    </a:lnB>
                  </a:tcPr>
                </a:tc>
                <a:extLst>
                  <a:ext uri="{0D108BD9-81ED-4DB2-BD59-A6C34878D82A}">
                    <a16:rowId xmlns:a16="http://schemas.microsoft.com/office/drawing/2014/main" val="10003"/>
                  </a:ext>
                </a:extLst>
              </a:tr>
              <a:tr h="390525">
                <a:tc>
                  <a:txBody>
                    <a:bodyPr/>
                    <a:lstStyle/>
                    <a:p>
                      <a:pPr marL="0" lvl="0" indent="0" algn="l" rtl="0">
                        <a:lnSpc>
                          <a:spcPct val="178181"/>
                        </a:lnSpc>
                        <a:spcBef>
                          <a:spcPts val="0"/>
                        </a:spcBef>
                        <a:spcAft>
                          <a:spcPts val="0"/>
                        </a:spcAft>
                        <a:buNone/>
                      </a:pPr>
                      <a:r>
                        <a:rPr lang="en-US">
                          <a:solidFill>
                            <a:srgbClr val="1C2541"/>
                          </a:solidFill>
                          <a:latin typeface="DM Sans"/>
                          <a:ea typeface="DM Sans"/>
                          <a:cs typeface="DM Sans"/>
                          <a:sym typeface="DM Sans"/>
                        </a:rPr>
                        <a:t>Drop “amounts_only” rows</a:t>
                      </a:r>
                      <a:endParaRPr>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8BFB7"/>
                      </a:solidFill>
                      <a:prstDash val="solid"/>
                      <a:round/>
                      <a:headEnd type="none" w="sm" len="sm"/>
                      <a:tailEnd type="none" w="sm" len="sm"/>
                    </a:lnR>
                    <a:lnT w="9525" cap="flat" cmpd="sng">
                      <a:solidFill>
                        <a:srgbClr val="C8BFB7"/>
                      </a:solidFill>
                      <a:prstDash val="solid"/>
                      <a:round/>
                      <a:headEnd type="none" w="sm" len="sm"/>
                      <a:tailEnd type="none" w="sm" len="sm"/>
                    </a:lnT>
                    <a:lnB w="9525" cap="flat" cmpd="sng">
                      <a:solidFill>
                        <a:srgbClr val="C8BFB7"/>
                      </a:solidFill>
                      <a:prstDash val="solid"/>
                      <a:round/>
                      <a:headEnd type="none" w="sm" len="sm"/>
                      <a:tailEnd type="none" w="sm" len="sm"/>
                    </a:lnB>
                  </a:tcPr>
                </a:tc>
                <a:tc>
                  <a:txBody>
                    <a:bodyPr/>
                    <a:lstStyle/>
                    <a:p>
                      <a:pPr marL="0" lvl="0" indent="0" algn="r" rtl="0">
                        <a:lnSpc>
                          <a:spcPct val="178181"/>
                        </a:lnSpc>
                        <a:spcBef>
                          <a:spcPts val="0"/>
                        </a:spcBef>
                        <a:spcAft>
                          <a:spcPts val="0"/>
                        </a:spcAft>
                        <a:buNone/>
                      </a:pPr>
                      <a:r>
                        <a:rPr lang="en-US">
                          <a:solidFill>
                            <a:srgbClr val="1C2541"/>
                          </a:solidFill>
                          <a:latin typeface="DM Sans"/>
                          <a:ea typeface="DM Sans"/>
                          <a:cs typeface="DM Sans"/>
                          <a:sym typeface="DM Sans"/>
                        </a:rPr>
                        <a:t>595,657</a:t>
                      </a:r>
                      <a:endParaRPr>
                        <a:solidFill>
                          <a:srgbClr val="1C2541"/>
                        </a:solidFill>
                        <a:latin typeface="DM Sans"/>
                        <a:ea typeface="DM Sans"/>
                        <a:cs typeface="DM Sans"/>
                        <a:sym typeface="DM Sans"/>
                      </a:endParaRPr>
                    </a:p>
                  </a:txBody>
                  <a:tcPr marL="91425" marR="91425" marT="91425" marB="91425">
                    <a:lnL w="9525" cap="flat" cmpd="sng">
                      <a:solidFill>
                        <a:srgbClr val="C8BFB7"/>
                      </a:solidFill>
                      <a:prstDash val="solid"/>
                      <a:round/>
                      <a:headEnd type="none" w="sm" len="sm"/>
                      <a:tailEnd type="none" w="sm" len="sm"/>
                    </a:lnL>
                    <a:lnR w="9525" cap="flat" cmpd="sng">
                      <a:solidFill>
                        <a:srgbClr val="C8BFB7"/>
                      </a:solidFill>
                      <a:prstDash val="solid"/>
                      <a:round/>
                      <a:headEnd type="none" w="sm" len="sm"/>
                      <a:tailEnd type="none" w="sm" len="sm"/>
                    </a:lnR>
                    <a:lnT w="9525" cap="flat" cmpd="sng">
                      <a:solidFill>
                        <a:srgbClr val="C8BFB7"/>
                      </a:solidFill>
                      <a:prstDash val="solid"/>
                      <a:round/>
                      <a:headEnd type="none" w="sm" len="sm"/>
                      <a:tailEnd type="none" w="sm" len="sm"/>
                    </a:lnT>
                    <a:lnB w="9525" cap="flat" cmpd="sng">
                      <a:solidFill>
                        <a:srgbClr val="C8BFB7"/>
                      </a:solidFill>
                      <a:prstDash val="solid"/>
                      <a:round/>
                      <a:headEnd type="none" w="sm" len="sm"/>
                      <a:tailEnd type="none" w="sm" len="sm"/>
                    </a:lnB>
                  </a:tcPr>
                </a:tc>
                <a:tc>
                  <a:txBody>
                    <a:bodyPr/>
                    <a:lstStyle/>
                    <a:p>
                      <a:pPr marL="0" lvl="0" indent="0" algn="r" rtl="0">
                        <a:lnSpc>
                          <a:spcPct val="178181"/>
                        </a:lnSpc>
                        <a:spcBef>
                          <a:spcPts val="0"/>
                        </a:spcBef>
                        <a:spcAft>
                          <a:spcPts val="0"/>
                        </a:spcAft>
                        <a:buNone/>
                      </a:pPr>
                      <a:r>
                        <a:rPr lang="en-US">
                          <a:solidFill>
                            <a:srgbClr val="A9561C"/>
                          </a:solidFill>
                          <a:latin typeface="DM Sans"/>
                          <a:ea typeface="DM Sans"/>
                          <a:cs typeface="DM Sans"/>
                          <a:sym typeface="DM Sans"/>
                        </a:rPr>
                        <a:t>608,680</a:t>
                      </a:r>
                      <a:endParaRPr>
                        <a:solidFill>
                          <a:srgbClr val="A9561C"/>
                        </a:solidFill>
                        <a:latin typeface="DM Sans"/>
                        <a:ea typeface="DM Sans"/>
                        <a:cs typeface="DM Sans"/>
                        <a:sym typeface="DM Sans"/>
                      </a:endParaRPr>
                    </a:p>
                  </a:txBody>
                  <a:tcPr marL="91425" marR="91425" marT="91425" marB="91425">
                    <a:lnL w="9525" cap="flat" cmpd="sng">
                      <a:solidFill>
                        <a:srgbClr val="C8BFB7"/>
                      </a:solidFill>
                      <a:prstDash val="solid"/>
                      <a:round/>
                      <a:headEnd type="none" w="sm" len="sm"/>
                      <a:tailEnd type="none" w="sm" len="sm"/>
                    </a:lnL>
                    <a:lnR w="9525" cap="flat" cmpd="sng">
                      <a:solidFill>
                        <a:srgbClr val="C8BFB7"/>
                      </a:solidFill>
                      <a:prstDash val="solid"/>
                      <a:round/>
                      <a:headEnd type="none" w="sm" len="sm"/>
                      <a:tailEnd type="none" w="sm" len="sm"/>
                    </a:lnR>
                    <a:lnT w="9525" cap="flat" cmpd="sng">
                      <a:solidFill>
                        <a:srgbClr val="C8BFB7"/>
                      </a:solidFill>
                      <a:prstDash val="solid"/>
                      <a:round/>
                      <a:headEnd type="none" w="sm" len="sm"/>
                      <a:tailEnd type="none" w="sm" len="sm"/>
                    </a:lnT>
                    <a:lnB w="9525" cap="flat" cmpd="sng">
                      <a:solidFill>
                        <a:srgbClr val="C8BFB7"/>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3" name="Google Shape;33;h41e2656091d0bc1b_0_0"/>
          <p:cNvSpPr txBox="1"/>
          <p:nvPr/>
        </p:nvSpPr>
        <p:spPr>
          <a:xfrm>
            <a:off x="697750" y="4724850"/>
            <a:ext cx="2252700" cy="2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 name="Google Shape;34;h41e2656091d0bc1b_0_0"/>
          <p:cNvSpPr txBox="1"/>
          <p:nvPr/>
        </p:nvSpPr>
        <p:spPr>
          <a:xfrm>
            <a:off x="717700" y="4734800"/>
            <a:ext cx="1973700" cy="2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 name="Google Shape;35;h41e2656091d0bc1b_0_0"/>
          <p:cNvSpPr txBox="1"/>
          <p:nvPr/>
        </p:nvSpPr>
        <p:spPr>
          <a:xfrm>
            <a:off x="685800" y="4249725"/>
            <a:ext cx="5664900" cy="38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rgbClr val="999999"/>
                </a:solidFill>
              </a:rPr>
              <a:t>Rows remaining after each step; the other two steps are unchanged.</a:t>
            </a:r>
            <a:endParaRPr>
              <a:solidFill>
                <a:srgbClr val="999999"/>
              </a:solidFill>
            </a:endParaRPr>
          </a:p>
        </p:txBody>
      </p:sp>
      <p:pic>
        <p:nvPicPr>
          <p:cNvPr id="36" name="Google Shape;36;h41e2656091d0bc1b_0_0"/>
          <p:cNvPicPr preferRelativeResize="0"/>
          <p:nvPr/>
        </p:nvPicPr>
        <p:blipFill>
          <a:blip r:embed="rId5">
            <a:alphaModFix/>
          </a:blip>
          <a:stretch>
            <a:fillRect/>
          </a:stretch>
        </p:blipFill>
        <p:spPr>
          <a:xfrm>
            <a:off x="6631525" y="1344175"/>
            <a:ext cx="4981226" cy="1815700"/>
          </a:xfrm>
          <a:prstGeom prst="rect">
            <a:avLst/>
          </a:prstGeom>
          <a:noFill/>
          <a:ln>
            <a:noFill/>
          </a:ln>
        </p:spPr>
      </p:pic>
      <p:sp>
        <p:nvSpPr>
          <p:cNvPr id="37" name="Google Shape;37;h41e2656091d0bc1b_0_0"/>
          <p:cNvSpPr txBox="1"/>
          <p:nvPr/>
        </p:nvSpPr>
        <p:spPr>
          <a:xfrm>
            <a:off x="6924525" y="1604175"/>
            <a:ext cx="4276200" cy="129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rgbClr val="0B0B0B"/>
                </a:solidFill>
              </a:rPr>
              <a:t>Meeting 2 rule</a:t>
            </a:r>
            <a:endParaRPr sz="1800" b="1">
              <a:solidFill>
                <a:srgbClr val="0B0B0B"/>
              </a:solidFill>
            </a:endParaRPr>
          </a:p>
          <a:p>
            <a:pPr marL="0" lvl="0" indent="0" algn="l" rtl="0">
              <a:spcBef>
                <a:spcPts val="0"/>
              </a:spcBef>
              <a:spcAft>
                <a:spcPts val="0"/>
              </a:spcAft>
              <a:buNone/>
            </a:pPr>
            <a:endParaRPr/>
          </a:p>
          <a:p>
            <a:pPr marL="0" lvl="0" indent="0" algn="l" rtl="0">
              <a:spcBef>
                <a:spcPts val="0"/>
              </a:spcBef>
              <a:spcAft>
                <a:spcPts val="0"/>
              </a:spcAft>
              <a:buNone/>
            </a:pPr>
            <a:r>
              <a:rPr lang="en-US" sz="1600"/>
              <a:t>Drop every row with a share count (InvestmentOwnedBalanceShares not NA)</a:t>
            </a:r>
            <a:endParaRPr sz="1600"/>
          </a:p>
        </p:txBody>
      </p:sp>
      <p:pic>
        <p:nvPicPr>
          <p:cNvPr id="38" name="Google Shape;38;h41e2656091d0bc1b_0_0"/>
          <p:cNvPicPr preferRelativeResize="0"/>
          <p:nvPr/>
        </p:nvPicPr>
        <p:blipFill>
          <a:blip r:embed="rId6">
            <a:alphaModFix/>
          </a:blip>
          <a:stretch>
            <a:fillRect/>
          </a:stretch>
        </p:blipFill>
        <p:spPr>
          <a:xfrm>
            <a:off x="6631525" y="3398775"/>
            <a:ext cx="4981226" cy="1904588"/>
          </a:xfrm>
          <a:prstGeom prst="rect">
            <a:avLst/>
          </a:prstGeom>
          <a:noFill/>
          <a:ln>
            <a:noFill/>
          </a:ln>
        </p:spPr>
      </p:pic>
      <p:sp>
        <p:nvSpPr>
          <p:cNvPr id="39" name="Google Shape;39;h41e2656091d0bc1b_0_0"/>
          <p:cNvSpPr txBox="1"/>
          <p:nvPr/>
        </p:nvSpPr>
        <p:spPr>
          <a:xfrm>
            <a:off x="6984038" y="3703225"/>
            <a:ext cx="4276200" cy="129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rgbClr val="B45F06"/>
                </a:solidFill>
              </a:rPr>
              <a:t>Current rule</a:t>
            </a:r>
            <a:endParaRPr sz="1800" b="1">
              <a:solidFill>
                <a:srgbClr val="B45F06"/>
              </a:solidFill>
            </a:endParaRPr>
          </a:p>
          <a:p>
            <a:pPr marL="0" lvl="0" indent="0" algn="l" rtl="0">
              <a:spcBef>
                <a:spcPts val="0"/>
              </a:spcBef>
              <a:spcAft>
                <a:spcPts val="0"/>
              </a:spcAft>
              <a:buNone/>
            </a:pPr>
            <a:endParaRPr/>
          </a:p>
          <a:p>
            <a:pPr marL="0" lvl="0" indent="0" algn="l" rtl="0">
              <a:spcBef>
                <a:spcPts val="0"/>
              </a:spcBef>
              <a:spcAft>
                <a:spcPts val="0"/>
              </a:spcAft>
              <a:buNone/>
            </a:pPr>
            <a:r>
              <a:rPr lang="en-US" sz="1600"/>
              <a:t>Also keep share-tagged rows when they report rate terms and amounts together (context_type = “mixed”).  </a:t>
            </a:r>
            <a:endParaRPr sz="1600"/>
          </a:p>
        </p:txBody>
      </p:sp>
      <p:sp>
        <p:nvSpPr>
          <p:cNvPr id="40" name="Google Shape;40;h41e2656091d0bc1b_0_0"/>
          <p:cNvSpPr txBox="1"/>
          <p:nvPr/>
        </p:nvSpPr>
        <p:spPr>
          <a:xfrm>
            <a:off x="6631525" y="5412625"/>
            <a:ext cx="3678300" cy="38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t>+13,023 rows across 750 filer-quarters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45"/>
        <p:cNvGrpSpPr/>
        <p:nvPr/>
      </p:nvGrpSpPr>
      <p:grpSpPr>
        <a:xfrm>
          <a:off x="0" y="0"/>
          <a:ext cx="0" cy="0"/>
          <a:chOff x="0" y="0"/>
          <a:chExt cx="0" cy="0"/>
        </a:xfrm>
      </p:grpSpPr>
      <p:pic>
        <p:nvPicPr>
          <p:cNvPr id="46" name="Google Shape;46;h71c2a19aba2f255b_0_15"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47" name="Google Shape;47;h71c2a19aba2f255b_0_15"/>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48" name="Google Shape;48;h71c2a19aba2f255b_0_15"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49" name="Google Shape;49;h71c2a19aba2f255b_0_15"/>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50" name="Google Shape;50;h71c2a19aba2f255b_0_15"/>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51" name="Google Shape;51;h71c2a19aba2f255b_0_15"/>
          <p:cNvSpPr txBox="1"/>
          <p:nvPr/>
        </p:nvSpPr>
        <p:spPr>
          <a:xfrm>
            <a:off x="685800" y="658375"/>
            <a:ext cx="90630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HPS Corporate Lending Fund, 2026Q1</a:t>
            </a:r>
            <a:endParaRPr sz="1800" b="0" i="0" u="none" strike="noStrike" cap="none">
              <a:solidFill>
                <a:schemeClr val="dk1"/>
              </a:solidFill>
              <a:latin typeface="Calibri"/>
              <a:ea typeface="Calibri"/>
              <a:cs typeface="Calibri"/>
              <a:sym typeface="Calibri"/>
            </a:endParaRPr>
          </a:p>
        </p:txBody>
      </p:sp>
      <p:sp>
        <p:nvSpPr>
          <p:cNvPr id="52" name="Google Shape;52;h71c2a19aba2f255b_0_15"/>
          <p:cNvSpPr txBox="1"/>
          <p:nvPr/>
        </p:nvSpPr>
        <p:spPr>
          <a:xfrm>
            <a:off x="685800" y="218275"/>
            <a:ext cx="2876400" cy="44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rgbClr val="1155CC"/>
                </a:solidFill>
              </a:rPr>
              <a:t>Preprocessing | Case </a:t>
            </a:r>
            <a:endParaRPr sz="1600" b="1">
              <a:solidFill>
                <a:srgbClr val="1155CC"/>
              </a:solidFill>
            </a:endParaRPr>
          </a:p>
        </p:txBody>
      </p:sp>
      <p:sp>
        <p:nvSpPr>
          <p:cNvPr id="53" name="Google Shape;53;h71c2a19aba2f255b_0_15"/>
          <p:cNvSpPr txBox="1"/>
          <p:nvPr/>
        </p:nvSpPr>
        <p:spPr>
          <a:xfrm>
            <a:off x="697750" y="4724850"/>
            <a:ext cx="2252700" cy="2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h71c2a19aba2f255b_0_15"/>
          <p:cNvSpPr txBox="1"/>
          <p:nvPr/>
        </p:nvSpPr>
        <p:spPr>
          <a:xfrm>
            <a:off x="717700" y="4734800"/>
            <a:ext cx="1973700" cy="2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55" name="Google Shape;55;h71c2a19aba2f255b_0_15"/>
          <p:cNvPicPr preferRelativeResize="0"/>
          <p:nvPr/>
        </p:nvPicPr>
        <p:blipFill>
          <a:blip r:embed="rId5">
            <a:alphaModFix/>
          </a:blip>
          <a:stretch>
            <a:fillRect/>
          </a:stretch>
        </p:blipFill>
        <p:spPr>
          <a:xfrm>
            <a:off x="685800" y="1333500"/>
            <a:ext cx="3331325" cy="1904600"/>
          </a:xfrm>
          <a:prstGeom prst="rect">
            <a:avLst/>
          </a:prstGeom>
          <a:noFill/>
          <a:ln>
            <a:noFill/>
          </a:ln>
        </p:spPr>
      </p:pic>
      <p:sp>
        <p:nvSpPr>
          <p:cNvPr id="56" name="Google Shape;56;h71c2a19aba2f255b_0_15"/>
          <p:cNvSpPr txBox="1"/>
          <p:nvPr/>
        </p:nvSpPr>
        <p:spPr>
          <a:xfrm>
            <a:off x="839613" y="1483588"/>
            <a:ext cx="3023700" cy="16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rgbClr val="B45F06"/>
                </a:solidFill>
              </a:rPr>
              <a:t>63.7%</a:t>
            </a:r>
            <a:endParaRPr sz="2200" b="1">
              <a:solidFill>
                <a:srgbClr val="B45F06"/>
              </a:solidFill>
            </a:endParaRPr>
          </a:p>
          <a:p>
            <a:pPr marL="0" lvl="0" indent="0" algn="l" rtl="0">
              <a:spcBef>
                <a:spcPts val="0"/>
              </a:spcBef>
              <a:spcAft>
                <a:spcPts val="0"/>
              </a:spcAft>
              <a:buNone/>
            </a:pPr>
            <a:endParaRPr/>
          </a:p>
          <a:p>
            <a:pPr marL="0" lvl="0" indent="0" algn="l" rtl="0">
              <a:spcBef>
                <a:spcPts val="0"/>
              </a:spcBef>
              <a:spcAft>
                <a:spcPts val="0"/>
              </a:spcAft>
              <a:buNone/>
            </a:pPr>
            <a:r>
              <a:rPr lang="en-US" sz="1600"/>
              <a:t>of positions tagged with a share count (696 out of 1,092), compared to 0–3.8% in its other 13 quarters</a:t>
            </a:r>
            <a:endParaRPr sz="1600"/>
          </a:p>
        </p:txBody>
      </p:sp>
      <p:pic>
        <p:nvPicPr>
          <p:cNvPr id="57" name="Google Shape;57;h71c2a19aba2f255b_0_15"/>
          <p:cNvPicPr preferRelativeResize="0"/>
          <p:nvPr/>
        </p:nvPicPr>
        <p:blipFill rotWithShape="1">
          <a:blip r:embed="rId6">
            <a:alphaModFix/>
          </a:blip>
          <a:srcRect t="39060" b="-39060"/>
          <a:stretch/>
        </p:blipFill>
        <p:spPr>
          <a:xfrm>
            <a:off x="-49825" y="3913236"/>
            <a:ext cx="12192000" cy="2552129"/>
          </a:xfrm>
          <a:prstGeom prst="rect">
            <a:avLst/>
          </a:prstGeom>
          <a:noFill/>
          <a:ln>
            <a:noFill/>
          </a:ln>
        </p:spPr>
      </p:pic>
      <p:pic>
        <p:nvPicPr>
          <p:cNvPr id="58" name="Google Shape;58;h71c2a19aba2f255b_0_15"/>
          <p:cNvPicPr preferRelativeResize="0"/>
          <p:nvPr/>
        </p:nvPicPr>
        <p:blipFill>
          <a:blip r:embed="rId7">
            <a:alphaModFix/>
          </a:blip>
          <a:stretch>
            <a:fillRect/>
          </a:stretch>
        </p:blipFill>
        <p:spPr>
          <a:xfrm>
            <a:off x="0" y="3500150"/>
            <a:ext cx="11887199" cy="349818"/>
          </a:xfrm>
          <a:prstGeom prst="rect">
            <a:avLst/>
          </a:prstGeom>
          <a:noFill/>
          <a:ln>
            <a:noFill/>
          </a:ln>
        </p:spPr>
      </p:pic>
      <p:pic>
        <p:nvPicPr>
          <p:cNvPr id="59" name="Google Shape;59;h71c2a19aba2f255b_0_15"/>
          <p:cNvPicPr preferRelativeResize="0"/>
          <p:nvPr/>
        </p:nvPicPr>
        <p:blipFill>
          <a:blip r:embed="rId5">
            <a:alphaModFix/>
          </a:blip>
          <a:stretch>
            <a:fillRect/>
          </a:stretch>
        </p:blipFill>
        <p:spPr>
          <a:xfrm>
            <a:off x="4490038" y="1333500"/>
            <a:ext cx="3331325" cy="1904600"/>
          </a:xfrm>
          <a:prstGeom prst="rect">
            <a:avLst/>
          </a:prstGeom>
          <a:noFill/>
          <a:ln>
            <a:noFill/>
          </a:ln>
        </p:spPr>
      </p:pic>
      <p:sp>
        <p:nvSpPr>
          <p:cNvPr id="60" name="Google Shape;60;h71c2a19aba2f255b_0_15"/>
          <p:cNvSpPr txBox="1"/>
          <p:nvPr/>
        </p:nvSpPr>
        <p:spPr>
          <a:xfrm>
            <a:off x="4643850" y="1483588"/>
            <a:ext cx="3023700" cy="16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rgbClr val="0B0B0B"/>
                </a:solidFill>
              </a:rPr>
              <a:t>539</a:t>
            </a:r>
            <a:endParaRPr>
              <a:solidFill>
                <a:schemeClr val="dk1"/>
              </a:solidFill>
            </a:endParaRPr>
          </a:p>
          <a:p>
            <a:pPr marL="0" lvl="0" indent="0" algn="l" rtl="0">
              <a:spcBef>
                <a:spcPts val="0"/>
              </a:spcBef>
              <a:spcAft>
                <a:spcPts val="0"/>
              </a:spcAft>
              <a:buNone/>
            </a:pPr>
            <a:endParaRPr sz="1600">
              <a:solidFill>
                <a:schemeClr val="dk1"/>
              </a:solidFill>
            </a:endParaRPr>
          </a:p>
          <a:p>
            <a:pPr marL="0" lvl="0" indent="0" algn="l" rtl="0">
              <a:spcBef>
                <a:spcPts val="0"/>
              </a:spcBef>
              <a:spcAft>
                <a:spcPts val="0"/>
              </a:spcAft>
              <a:buClr>
                <a:schemeClr val="dk1"/>
              </a:buClr>
              <a:buSzPts val="1100"/>
              <a:buFont typeface="Arial"/>
              <a:buNone/>
            </a:pPr>
            <a:r>
              <a:rPr lang="en-US" sz="1600">
                <a:solidFill>
                  <a:schemeClr val="dk1"/>
                </a:solidFill>
              </a:rPr>
              <a:t>of them are term loans with a real rate or spread, cost and fair value </a:t>
            </a:r>
            <a:endParaRPr sz="2200" b="1">
              <a:solidFill>
                <a:srgbClr val="0B0B0B"/>
              </a:solidFill>
            </a:endParaRPr>
          </a:p>
        </p:txBody>
      </p:sp>
      <p:pic>
        <p:nvPicPr>
          <p:cNvPr id="61" name="Google Shape;61;h71c2a19aba2f255b_0_15"/>
          <p:cNvPicPr preferRelativeResize="0"/>
          <p:nvPr/>
        </p:nvPicPr>
        <p:blipFill>
          <a:blip r:embed="rId5">
            <a:alphaModFix/>
          </a:blip>
          <a:stretch>
            <a:fillRect/>
          </a:stretch>
        </p:blipFill>
        <p:spPr>
          <a:xfrm>
            <a:off x="8294275" y="1333500"/>
            <a:ext cx="3331325" cy="1904600"/>
          </a:xfrm>
          <a:prstGeom prst="rect">
            <a:avLst/>
          </a:prstGeom>
          <a:noFill/>
          <a:ln>
            <a:noFill/>
          </a:ln>
        </p:spPr>
      </p:pic>
      <p:sp>
        <p:nvSpPr>
          <p:cNvPr id="62" name="Google Shape;62;h71c2a19aba2f255b_0_15"/>
          <p:cNvSpPr txBox="1"/>
          <p:nvPr/>
        </p:nvSpPr>
        <p:spPr>
          <a:xfrm>
            <a:off x="8448088" y="1483588"/>
            <a:ext cx="3023700" cy="16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rgbClr val="B45F06"/>
                </a:solidFill>
              </a:rPr>
              <a:t>$26.1B</a:t>
            </a:r>
            <a:endParaRPr sz="2200" b="1">
              <a:solidFill>
                <a:srgbClr val="B45F06"/>
              </a:solidFill>
            </a:endParaRPr>
          </a:p>
          <a:p>
            <a:pPr marL="0" lvl="0" indent="0" algn="l" rtl="0">
              <a:spcBef>
                <a:spcPts val="0"/>
              </a:spcBef>
              <a:spcAft>
                <a:spcPts val="0"/>
              </a:spcAft>
              <a:buNone/>
            </a:pPr>
            <a:endParaRPr/>
          </a:p>
          <a:p>
            <a:pPr marL="0" lvl="0" indent="0" algn="l" rtl="0">
              <a:spcBef>
                <a:spcPts val="0"/>
              </a:spcBef>
              <a:spcAft>
                <a:spcPts val="0"/>
              </a:spcAft>
              <a:buNone/>
            </a:pPr>
            <a:r>
              <a:rPr lang="en-US" sz="1600"/>
              <a:t>fund fair value kept; Meeting 2 rule only leaves $5.6B, a drop of 79% from 2025Q4</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67"/>
        <p:cNvGrpSpPr/>
        <p:nvPr/>
      </p:nvGrpSpPr>
      <p:grpSpPr>
        <a:xfrm>
          <a:off x="0" y="0"/>
          <a:ext cx="0" cy="0"/>
          <a:chOff x="0" y="0"/>
          <a:chExt cx="0" cy="0"/>
        </a:xfrm>
      </p:grpSpPr>
      <p:pic>
        <p:nvPicPr>
          <p:cNvPr id="68" name="Google Shape;68;h71c2a19aba2f255b_0_41"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69" name="Google Shape;69;h71c2a19aba2f255b_0_41"/>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70" name="Google Shape;70;h71c2a19aba2f255b_0_41"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71" name="Google Shape;71;h71c2a19aba2f255b_0_41"/>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72" name="Google Shape;72;h71c2a19aba2f255b_0_41"/>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73" name="Google Shape;73;h71c2a19aba2f255b_0_41"/>
          <p:cNvSpPr txBox="1"/>
          <p:nvPr/>
        </p:nvSpPr>
        <p:spPr>
          <a:xfrm>
            <a:off x="685800" y="658375"/>
            <a:ext cx="90630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Built on the 2025 final report’s two identities</a:t>
            </a:r>
            <a:endParaRPr sz="1800" b="0" i="0" u="none" strike="noStrike" cap="none">
              <a:solidFill>
                <a:schemeClr val="dk1"/>
              </a:solidFill>
              <a:latin typeface="Calibri"/>
              <a:ea typeface="Calibri"/>
              <a:cs typeface="Calibri"/>
              <a:sym typeface="Calibri"/>
            </a:endParaRPr>
          </a:p>
        </p:txBody>
      </p:sp>
      <p:sp>
        <p:nvSpPr>
          <p:cNvPr id="74" name="Google Shape;74;h71c2a19aba2f255b_0_41"/>
          <p:cNvSpPr txBox="1"/>
          <p:nvPr/>
        </p:nvSpPr>
        <p:spPr>
          <a:xfrm>
            <a:off x="685800" y="218275"/>
            <a:ext cx="3678300" cy="44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rgbClr val="1155CC"/>
                </a:solidFill>
              </a:rPr>
              <a:t>Rate Imputation | Foundation</a:t>
            </a:r>
            <a:endParaRPr sz="1600" b="1">
              <a:solidFill>
                <a:srgbClr val="1155CC"/>
              </a:solidFill>
            </a:endParaRPr>
          </a:p>
        </p:txBody>
      </p:sp>
      <p:sp>
        <p:nvSpPr>
          <p:cNvPr id="75" name="Google Shape;75;h71c2a19aba2f255b_0_41"/>
          <p:cNvSpPr txBox="1"/>
          <p:nvPr/>
        </p:nvSpPr>
        <p:spPr>
          <a:xfrm>
            <a:off x="697750" y="4724850"/>
            <a:ext cx="2252700" cy="2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h71c2a19aba2f255b_0_41"/>
          <p:cNvSpPr txBox="1"/>
          <p:nvPr/>
        </p:nvSpPr>
        <p:spPr>
          <a:xfrm>
            <a:off x="717700" y="4734800"/>
            <a:ext cx="1973700" cy="25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77" name="Google Shape;77;h71c2a19aba2f255b_0_41"/>
          <p:cNvPicPr preferRelativeResize="0"/>
          <p:nvPr/>
        </p:nvPicPr>
        <p:blipFill>
          <a:blip r:embed="rId5">
            <a:alphaModFix/>
          </a:blip>
          <a:stretch>
            <a:fillRect/>
          </a:stretch>
        </p:blipFill>
        <p:spPr>
          <a:xfrm>
            <a:off x="685800" y="1344175"/>
            <a:ext cx="4981226" cy="1815700"/>
          </a:xfrm>
          <a:prstGeom prst="rect">
            <a:avLst/>
          </a:prstGeom>
          <a:noFill/>
          <a:ln>
            <a:noFill/>
          </a:ln>
        </p:spPr>
      </p:pic>
      <p:sp>
        <p:nvSpPr>
          <p:cNvPr id="78" name="Google Shape;78;h71c2a19aba2f255b_0_41"/>
          <p:cNvSpPr txBox="1"/>
          <p:nvPr/>
        </p:nvSpPr>
        <p:spPr>
          <a:xfrm>
            <a:off x="978800" y="1604175"/>
            <a:ext cx="4276200" cy="129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700" b="1">
                <a:solidFill>
                  <a:srgbClr val="1C4587"/>
                </a:solidFill>
              </a:rPr>
              <a:t>Identity 1 – takes precedence</a:t>
            </a:r>
            <a:endParaRPr sz="1700" b="1">
              <a:solidFill>
                <a:srgbClr val="1C4587"/>
              </a:solidFill>
            </a:endParaRPr>
          </a:p>
          <a:p>
            <a:pPr marL="0" lvl="0" indent="0" algn="l" rtl="0">
              <a:spcBef>
                <a:spcPts val="0"/>
              </a:spcBef>
              <a:spcAft>
                <a:spcPts val="0"/>
              </a:spcAft>
              <a:buNone/>
            </a:pPr>
            <a:endParaRPr/>
          </a:p>
          <a:p>
            <a:pPr marL="0" lvl="0" indent="0" algn="l" rtl="0">
              <a:spcBef>
                <a:spcPts val="0"/>
              </a:spcBef>
              <a:spcAft>
                <a:spcPts val="0"/>
              </a:spcAft>
              <a:buNone/>
            </a:pPr>
            <a:r>
              <a:rPr lang="en-US" sz="1800" b="1"/>
              <a:t>IR = PIC + PIK</a:t>
            </a:r>
            <a:endParaRPr sz="1800" b="1"/>
          </a:p>
          <a:p>
            <a:pPr marL="0" lvl="0" indent="0" algn="l" rtl="0">
              <a:spcBef>
                <a:spcPts val="0"/>
              </a:spcBef>
              <a:spcAft>
                <a:spcPts val="0"/>
              </a:spcAft>
              <a:buNone/>
            </a:pPr>
            <a:endParaRPr sz="1600"/>
          </a:p>
          <a:p>
            <a:pPr marL="0" lvl="0" indent="0" algn="l" rtl="0">
              <a:spcBef>
                <a:spcPts val="0"/>
              </a:spcBef>
              <a:spcAft>
                <a:spcPts val="0"/>
              </a:spcAft>
              <a:buNone/>
            </a:pPr>
            <a:r>
              <a:rPr lang="en-US" sz="1600"/>
              <a:t>Checked whenever PIC or PIK is present</a:t>
            </a:r>
            <a:endParaRPr sz="1600"/>
          </a:p>
        </p:txBody>
      </p:sp>
      <p:pic>
        <p:nvPicPr>
          <p:cNvPr id="79" name="Google Shape;79;h71c2a19aba2f255b_0_41"/>
          <p:cNvPicPr preferRelativeResize="0"/>
          <p:nvPr/>
        </p:nvPicPr>
        <p:blipFill>
          <a:blip r:embed="rId5">
            <a:alphaModFix/>
          </a:blip>
          <a:stretch>
            <a:fillRect/>
          </a:stretch>
        </p:blipFill>
        <p:spPr>
          <a:xfrm>
            <a:off x="6390963" y="1344175"/>
            <a:ext cx="4981226" cy="1815700"/>
          </a:xfrm>
          <a:prstGeom prst="rect">
            <a:avLst/>
          </a:prstGeom>
          <a:noFill/>
          <a:ln>
            <a:noFill/>
          </a:ln>
        </p:spPr>
      </p:pic>
      <p:sp>
        <p:nvSpPr>
          <p:cNvPr id="80" name="Google Shape;80;h71c2a19aba2f255b_0_41"/>
          <p:cNvSpPr txBox="1"/>
          <p:nvPr/>
        </p:nvSpPr>
        <p:spPr>
          <a:xfrm>
            <a:off x="6683963" y="1604175"/>
            <a:ext cx="4276200" cy="129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700" b="1">
                <a:solidFill>
                  <a:srgbClr val="1C4587"/>
                </a:solidFill>
              </a:rPr>
              <a:t>Identity 2</a:t>
            </a:r>
            <a:endParaRPr sz="1700" b="1">
              <a:solidFill>
                <a:srgbClr val="1C4587"/>
              </a:solidFill>
            </a:endParaRPr>
          </a:p>
          <a:p>
            <a:pPr marL="0" lvl="0" indent="0" algn="l" rtl="0">
              <a:spcBef>
                <a:spcPts val="0"/>
              </a:spcBef>
              <a:spcAft>
                <a:spcPts val="0"/>
              </a:spcAft>
              <a:buNone/>
            </a:pPr>
            <a:endParaRPr/>
          </a:p>
          <a:p>
            <a:pPr marL="0" lvl="0" indent="0" algn="l" rtl="0">
              <a:spcBef>
                <a:spcPts val="0"/>
              </a:spcBef>
              <a:spcAft>
                <a:spcPts val="0"/>
              </a:spcAft>
              <a:buNone/>
            </a:pPr>
            <a:r>
              <a:rPr lang="en-US" sz="1800" b="1"/>
              <a:t>IR </a:t>
            </a:r>
            <a:r>
              <a:rPr lang="en-US" sz="2200">
                <a:solidFill>
                  <a:srgbClr val="1C2541"/>
                </a:solidFill>
              </a:rPr>
              <a:t>≈ </a:t>
            </a:r>
            <a:r>
              <a:rPr lang="en-US" sz="1100">
                <a:solidFill>
                  <a:schemeClr val="dk1"/>
                </a:solidFill>
              </a:rPr>
              <a:t> </a:t>
            </a:r>
            <a:r>
              <a:rPr lang="en-US" sz="1800" b="1">
                <a:solidFill>
                  <a:schemeClr val="dk1"/>
                </a:solidFill>
              </a:rPr>
              <a:t>base + spread</a:t>
            </a:r>
            <a:endParaRPr sz="1800" b="1"/>
          </a:p>
          <a:p>
            <a:pPr marL="0" lvl="0" indent="0" algn="l" rtl="0">
              <a:spcBef>
                <a:spcPts val="0"/>
              </a:spcBef>
              <a:spcAft>
                <a:spcPts val="0"/>
              </a:spcAft>
              <a:buNone/>
            </a:pPr>
            <a:endParaRPr sz="1600"/>
          </a:p>
          <a:p>
            <a:pPr marL="0" lvl="0" indent="0" algn="l" rtl="0">
              <a:spcBef>
                <a:spcPts val="0"/>
              </a:spcBef>
              <a:spcAft>
                <a:spcPts val="0"/>
              </a:spcAft>
              <a:buNone/>
            </a:pPr>
            <a:r>
              <a:rPr lang="en-US" sz="1600"/>
              <a:t>Used where identity 1 cannot be checked</a:t>
            </a:r>
            <a:endParaRPr sz="1600"/>
          </a:p>
        </p:txBody>
      </p:sp>
      <p:sp>
        <p:nvSpPr>
          <p:cNvPr id="81" name="Google Shape;81;h71c2a19aba2f255b_0_41"/>
          <p:cNvSpPr txBox="1"/>
          <p:nvPr/>
        </p:nvSpPr>
        <p:spPr>
          <a:xfrm>
            <a:off x="152400" y="3463488"/>
            <a:ext cx="6947700" cy="48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rgbClr val="0B0B0B"/>
                </a:solidFill>
              </a:rPr>
              <a:t>Priority when fields are missing or disagree:</a:t>
            </a:r>
            <a:endParaRPr b="1">
              <a:solidFill>
                <a:srgbClr val="0B0B0B"/>
              </a:solidFill>
            </a:endParaRPr>
          </a:p>
        </p:txBody>
      </p:sp>
      <p:pic>
        <p:nvPicPr>
          <p:cNvPr id="82" name="Google Shape;82;h71c2a19aba2f255b_0_41"/>
          <p:cNvPicPr preferRelativeResize="0"/>
          <p:nvPr/>
        </p:nvPicPr>
        <p:blipFill>
          <a:blip r:embed="rId6">
            <a:alphaModFix/>
          </a:blip>
          <a:stretch>
            <a:fillRect/>
          </a:stretch>
        </p:blipFill>
        <p:spPr>
          <a:xfrm>
            <a:off x="152400" y="4108700"/>
            <a:ext cx="11887203" cy="5689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87"/>
        <p:cNvGrpSpPr/>
        <p:nvPr/>
      </p:nvGrpSpPr>
      <p:grpSpPr>
        <a:xfrm>
          <a:off x="0" y="0"/>
          <a:ext cx="0" cy="0"/>
          <a:chOff x="0" y="0"/>
          <a:chExt cx="0" cy="0"/>
        </a:xfrm>
      </p:grpSpPr>
      <p:pic>
        <p:nvPicPr>
          <p:cNvPr id="88" name="Google Shape;88;h71c2a19aba2f255b_0_71"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89" name="Google Shape;89;h71c2a19aba2f255b_0_71"/>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90" name="Google Shape;90;h71c2a19aba2f255b_0_71"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91" name="Google Shape;91;h71c2a19aba2f255b_0_71"/>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92" name="Google Shape;92;h71c2a19aba2f255b_0_71"/>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93" name="Google Shape;93;h71c2a19aba2f255b_0_71"/>
          <p:cNvSpPr txBox="1"/>
          <p:nvPr/>
        </p:nvSpPr>
        <p:spPr>
          <a:xfrm>
            <a:off x="685800" y="658375"/>
            <a:ext cx="90630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Built on the 2025 final report’s two identities</a:t>
            </a:r>
            <a:endParaRPr sz="1800" b="0" i="0" u="none" strike="noStrike" cap="none">
              <a:solidFill>
                <a:schemeClr val="dk1"/>
              </a:solidFill>
              <a:latin typeface="Calibri"/>
              <a:ea typeface="Calibri"/>
              <a:cs typeface="Calibri"/>
              <a:sym typeface="Calibri"/>
            </a:endParaRPr>
          </a:p>
        </p:txBody>
      </p:sp>
      <p:sp>
        <p:nvSpPr>
          <p:cNvPr id="94" name="Google Shape;94;h71c2a19aba2f255b_0_71"/>
          <p:cNvSpPr txBox="1"/>
          <p:nvPr/>
        </p:nvSpPr>
        <p:spPr>
          <a:xfrm>
            <a:off x="685800" y="218275"/>
            <a:ext cx="5125500" cy="44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rgbClr val="1155CC"/>
                </a:solidFill>
              </a:rPr>
              <a:t>Rate Imputation | The Report’s Rules</a:t>
            </a:r>
            <a:endParaRPr sz="1600" b="1">
              <a:solidFill>
                <a:srgbClr val="1155CC"/>
              </a:solidFill>
            </a:endParaRPr>
          </a:p>
        </p:txBody>
      </p:sp>
      <p:graphicFrame>
        <p:nvGraphicFramePr>
          <p:cNvPr id="95" name="Google Shape;95;h71c2a19aba2f255b_0_71"/>
          <p:cNvGraphicFramePr/>
          <p:nvPr/>
        </p:nvGraphicFramePr>
        <p:xfrm>
          <a:off x="685800" y="1411725"/>
          <a:ext cx="3000000" cy="3000000"/>
        </p:xfrm>
        <a:graphic>
          <a:graphicData uri="http://schemas.openxmlformats.org/drawingml/2006/table">
            <a:tbl>
              <a:tblPr>
                <a:noFill/>
                <a:tableStyleId>{C2D35A4E-98F7-4F77-87ED-E2BD8A616CE8}</a:tableStyleId>
              </a:tblPr>
              <a:tblGrid>
                <a:gridCol w="5215800">
                  <a:extLst>
                    <a:ext uri="{9D8B030D-6E8A-4147-A177-3AD203B41FA5}">
                      <a16:colId xmlns:a16="http://schemas.microsoft.com/office/drawing/2014/main" val="20000"/>
                    </a:ext>
                  </a:extLst>
                </a:gridCol>
                <a:gridCol w="5637375">
                  <a:extLst>
                    <a:ext uri="{9D8B030D-6E8A-4147-A177-3AD203B41FA5}">
                      <a16:colId xmlns:a16="http://schemas.microsoft.com/office/drawing/2014/main" val="20001"/>
                    </a:ext>
                  </a:extLst>
                </a:gridCol>
              </a:tblGrid>
              <a:tr h="361950">
                <a:tc>
                  <a:txBody>
                    <a:bodyPr/>
                    <a:lstStyle/>
                    <a:p>
                      <a:pPr marL="0" lvl="0" indent="0" algn="l" rtl="0">
                        <a:lnSpc>
                          <a:spcPct val="165454"/>
                        </a:lnSpc>
                        <a:spcBef>
                          <a:spcPts val="0"/>
                        </a:spcBef>
                        <a:spcAft>
                          <a:spcPts val="0"/>
                        </a:spcAft>
                        <a:buNone/>
                      </a:pPr>
                      <a:r>
                        <a:rPr lang="en-US" sz="1300" b="1">
                          <a:solidFill>
                            <a:srgbClr val="1C2541"/>
                          </a:solidFill>
                          <a:latin typeface="DM Sans"/>
                          <a:ea typeface="DM Sans"/>
                          <a:cs typeface="DM Sans"/>
                          <a:sym typeface="DM Sans"/>
                        </a:rPr>
                        <a:t>2025 report rule</a:t>
                      </a:r>
                      <a:endParaRPr sz="1300" b="1">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tc>
                  <a:txBody>
                    <a:bodyPr/>
                    <a:lstStyle/>
                    <a:p>
                      <a:pPr marL="0" lvl="0" indent="0" algn="l" rtl="0">
                        <a:lnSpc>
                          <a:spcPct val="165454"/>
                        </a:lnSpc>
                        <a:spcBef>
                          <a:spcPts val="0"/>
                        </a:spcBef>
                        <a:spcAft>
                          <a:spcPts val="0"/>
                        </a:spcAft>
                        <a:buNone/>
                      </a:pPr>
                      <a:r>
                        <a:rPr lang="en-US" sz="1300" b="1">
                          <a:solidFill>
                            <a:srgbClr val="1C2541"/>
                          </a:solidFill>
                          <a:latin typeface="DM Sans"/>
                          <a:ea typeface="DM Sans"/>
                          <a:cs typeface="DM Sans"/>
                          <a:sym typeface="DM Sans"/>
                        </a:rPr>
                        <a:t>In the current code</a:t>
                      </a:r>
                      <a:endParaRPr sz="1300" b="1">
                        <a:solidFill>
                          <a:srgbClr val="1C2541"/>
                        </a:solidFill>
                        <a:latin typeface="DM Sans"/>
                        <a:ea typeface="DM Sans"/>
                        <a:cs typeface="DM Sans"/>
                        <a:sym typeface="DM Sans"/>
                      </a:endParaRPr>
                    </a:p>
                  </a:txBody>
                  <a:tcPr marL="91425" marR="91425" marT="91425" marB="91425">
                    <a:lnL w="9525" cap="flat" cmpd="sng">
                      <a:solidFill>
                        <a:srgbClr val="B3B5B8"/>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extLst>
                  <a:ext uri="{0D108BD9-81ED-4DB2-BD59-A6C34878D82A}">
                    <a16:rowId xmlns:a16="http://schemas.microsoft.com/office/drawing/2014/main" val="10000"/>
                  </a:ext>
                </a:extLst>
              </a:tr>
              <a:tr h="361950">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Rescale rates (/100 or /10,000), fix signs</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Kept</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1"/>
                  </a:ext>
                </a:extLst>
              </a:tr>
              <a:tr h="361950">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Missing coupon = spread + SOFR</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Kept and extended: each currency's base, floors, Prime</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2"/>
                  </a:ext>
                </a:extLst>
              </a:tr>
              <a:tr h="361950">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2.1 rate &gt; PIK → PIC = rate − PIK</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Kept · fills 43,913 rows </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3"/>
                  </a:ext>
                </a:extLst>
              </a:tr>
              <a:tr h="361950">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2.2 rate &lt; PIK → PIC = rate, IR = rate + PIK</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Kept · fixes 1,223 rows</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4"/>
                  </a:ext>
                </a:extLst>
              </a:tr>
              <a:tr h="361950">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3.2 rate &gt; PIC → spread = PIC, PIC = rate</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Kept when rate − PIC ≈ base rate (</a:t>
                      </a:r>
                      <a:r>
                        <a:rPr lang="en-US" sz="1950">
                          <a:solidFill>
                            <a:srgbClr val="1C2541"/>
                          </a:solidFill>
                          <a:highlight>
                            <a:srgbClr val="F2F5F8"/>
                          </a:highlight>
                          <a:latin typeface="DM Sans"/>
                          <a:ea typeface="DM Sans"/>
                          <a:cs typeface="DM Sans"/>
                          <a:sym typeface="DM Sans"/>
                        </a:rPr>
                        <a:t>±</a:t>
                      </a:r>
                      <a:r>
                        <a:rPr lang="en-US" sz="1300">
                          <a:solidFill>
                            <a:srgbClr val="1C2541"/>
                          </a:solidFill>
                          <a:latin typeface="DM Sans"/>
                          <a:ea typeface="DM Sans"/>
                          <a:cs typeface="DM Sans"/>
                          <a:sym typeface="DM Sans"/>
                        </a:rPr>
                        <a:t>50bp) · fixes 1,514 of 1,558 cand.</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5"/>
                  </a:ext>
                </a:extLst>
              </a:tr>
              <a:tr h="361950">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3.3 rate &lt; PIC → spread = rate, IR = PIC</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65454"/>
                        </a:lnSpc>
                        <a:spcBef>
                          <a:spcPts val="0"/>
                        </a:spcBef>
                        <a:spcAft>
                          <a:spcPts val="0"/>
                        </a:spcAft>
                        <a:buNone/>
                      </a:pPr>
                      <a:r>
                        <a:rPr lang="en-US" sz="1300">
                          <a:solidFill>
                            <a:srgbClr val="1C2541"/>
                          </a:solidFill>
                          <a:latin typeface="DM Sans"/>
                          <a:ea typeface="DM Sans"/>
                          <a:cs typeface="DM Sans"/>
                          <a:sym typeface="DM Sans"/>
                        </a:rPr>
                        <a:t>Kept · fixes 4,066 rows</a:t>
                      </a:r>
                      <a:endParaRPr sz="13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6"/>
                  </a:ext>
                </a:extLst>
              </a:tr>
              <a:tr h="361950">
                <a:tc>
                  <a:txBody>
                    <a:bodyPr/>
                    <a:lstStyle/>
                    <a:p>
                      <a:pPr marL="0" lvl="0" indent="0" algn="l" rtl="0">
                        <a:lnSpc>
                          <a:spcPct val="165454"/>
                        </a:lnSpc>
                        <a:spcBef>
                          <a:spcPts val="0"/>
                        </a:spcBef>
                        <a:spcAft>
                          <a:spcPts val="0"/>
                        </a:spcAft>
                        <a:buNone/>
                      </a:pPr>
                      <a:r>
                        <a:rPr lang="en-US" sz="1300" b="1">
                          <a:solidFill>
                            <a:srgbClr val="1C2541"/>
                          </a:solidFill>
                          <a:latin typeface="DM Sans"/>
                          <a:ea typeface="DM Sans"/>
                          <a:cs typeface="DM Sans"/>
                          <a:sym typeface="DM Sans"/>
                        </a:rPr>
                        <a:t>1 lone rate in the spread range → spread</a:t>
                      </a:r>
                      <a:endParaRPr sz="1300" b="1">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BABDC1"/>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ABDC1"/>
                      </a:solidFill>
                      <a:prstDash val="solid"/>
                      <a:round/>
                      <a:headEnd type="none" w="sm" len="sm"/>
                      <a:tailEnd type="none" w="sm" len="sm"/>
                    </a:lnB>
                  </a:tcPr>
                </a:tc>
                <a:tc>
                  <a:txBody>
                    <a:bodyPr/>
                    <a:lstStyle/>
                    <a:p>
                      <a:pPr marL="0" lvl="0" indent="0" algn="l" rtl="0">
                        <a:lnSpc>
                          <a:spcPct val="165454"/>
                        </a:lnSpc>
                        <a:spcBef>
                          <a:spcPts val="0"/>
                        </a:spcBef>
                        <a:spcAft>
                          <a:spcPts val="0"/>
                        </a:spcAft>
                        <a:buNone/>
                      </a:pPr>
                      <a:r>
                        <a:rPr lang="en-US" sz="1300" b="1">
                          <a:solidFill>
                            <a:srgbClr val="1C2541"/>
                          </a:solidFill>
                          <a:latin typeface="DM Sans"/>
                          <a:ea typeface="DM Sans"/>
                          <a:cs typeface="DM Sans"/>
                          <a:sym typeface="DM Sans"/>
                        </a:rPr>
                        <a:t>Not adopted: mostly money-market funds and fixed bonds at 4–7%</a:t>
                      </a:r>
                      <a:endParaRPr sz="1300" b="1">
                        <a:solidFill>
                          <a:srgbClr val="1C2541"/>
                        </a:solidFill>
                        <a:latin typeface="DM Sans"/>
                        <a:ea typeface="DM Sans"/>
                        <a:cs typeface="DM Sans"/>
                        <a:sym typeface="DM Sans"/>
                      </a:endParaRPr>
                    </a:p>
                  </a:txBody>
                  <a:tcPr marL="91425" marR="91425" marT="91425" marB="91425">
                    <a:lnL w="9525" cap="flat" cmpd="sng">
                      <a:solidFill>
                        <a:srgbClr val="BABDC1"/>
                      </a:solidFill>
                      <a:prstDash val="solid"/>
                      <a:round/>
                      <a:headEnd type="none" w="sm" len="sm"/>
                      <a:tailEnd type="none" w="sm" len="sm"/>
                    </a:lnL>
                    <a:lnR w="9525" cap="flat" cmpd="sng">
                      <a:solidFill>
                        <a:srgbClr val="BABDC1"/>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ABDC1"/>
                      </a:solidFill>
                      <a:prstDash val="solid"/>
                      <a:round/>
                      <a:headEnd type="none" w="sm" len="sm"/>
                      <a:tailEnd type="none" w="sm" len="sm"/>
                    </a:lnB>
                  </a:tcPr>
                </a:tc>
                <a:extLst>
                  <a:ext uri="{0D108BD9-81ED-4DB2-BD59-A6C34878D82A}">
                    <a16:rowId xmlns:a16="http://schemas.microsoft.com/office/drawing/2014/main" val="10007"/>
                  </a:ext>
                </a:extLst>
              </a:tr>
              <a:tr h="361950">
                <a:tc>
                  <a:txBody>
                    <a:bodyPr/>
                    <a:lstStyle/>
                    <a:p>
                      <a:pPr marL="0" lvl="0" indent="0" algn="l" rtl="0">
                        <a:lnSpc>
                          <a:spcPct val="165454"/>
                        </a:lnSpc>
                        <a:spcBef>
                          <a:spcPts val="0"/>
                        </a:spcBef>
                        <a:spcAft>
                          <a:spcPts val="0"/>
                        </a:spcAft>
                        <a:buNone/>
                      </a:pPr>
                      <a:r>
                        <a:rPr lang="en-US" sz="1300" b="1">
                          <a:solidFill>
                            <a:srgbClr val="1C2541"/>
                          </a:solidFill>
                          <a:latin typeface="DM Sans"/>
                          <a:ea typeface="DM Sans"/>
                          <a:cs typeface="DM Sans"/>
                          <a:sym typeface="DM Sans"/>
                        </a:rPr>
                        <a:t>2.3 rate &lt; PIK, sum implausible</a:t>
                      </a:r>
                      <a:endParaRPr sz="1300" b="1">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BABDC1"/>
                      </a:solidFill>
                      <a:prstDash val="solid"/>
                      <a:round/>
                      <a:headEnd type="none" w="sm" len="sm"/>
                      <a:tailEnd type="none" w="sm" len="sm"/>
                    </a:lnR>
                    <a:lnT w="9525" cap="flat" cmpd="sng">
                      <a:solidFill>
                        <a:srgbClr val="BABDC1"/>
                      </a:solidFill>
                      <a:prstDash val="solid"/>
                      <a:round/>
                      <a:headEnd type="none" w="sm" len="sm"/>
                      <a:tailEnd type="none" w="sm" len="sm"/>
                    </a:lnT>
                    <a:lnB w="9525" cap="flat" cmpd="sng">
                      <a:solidFill>
                        <a:srgbClr val="BABDC1"/>
                      </a:solidFill>
                      <a:prstDash val="solid"/>
                      <a:round/>
                      <a:headEnd type="none" w="sm" len="sm"/>
                      <a:tailEnd type="none" w="sm" len="sm"/>
                    </a:lnB>
                  </a:tcPr>
                </a:tc>
                <a:tc>
                  <a:txBody>
                    <a:bodyPr/>
                    <a:lstStyle/>
                    <a:p>
                      <a:pPr marL="0" lvl="0" indent="0" algn="l" rtl="0">
                        <a:lnSpc>
                          <a:spcPct val="165454"/>
                        </a:lnSpc>
                        <a:spcBef>
                          <a:spcPts val="0"/>
                        </a:spcBef>
                        <a:spcAft>
                          <a:spcPts val="0"/>
                        </a:spcAft>
                        <a:buNone/>
                      </a:pPr>
                      <a:r>
                        <a:rPr lang="en-US" sz="1300" b="1">
                          <a:solidFill>
                            <a:srgbClr val="1C2541"/>
                          </a:solidFill>
                          <a:latin typeface="DM Sans"/>
                          <a:ea typeface="DM Sans"/>
                          <a:cs typeface="DM Sans"/>
                          <a:sym typeface="DM Sans"/>
                        </a:rPr>
                        <a:t>Not needed: no such rows</a:t>
                      </a:r>
                      <a:endParaRPr sz="1300" b="1">
                        <a:solidFill>
                          <a:srgbClr val="1C2541"/>
                        </a:solidFill>
                        <a:latin typeface="DM Sans"/>
                        <a:ea typeface="DM Sans"/>
                        <a:cs typeface="DM Sans"/>
                        <a:sym typeface="DM Sans"/>
                      </a:endParaRPr>
                    </a:p>
                  </a:txBody>
                  <a:tcPr marL="91425" marR="91425" marT="91425" marB="91425">
                    <a:lnL w="9525" cap="flat" cmpd="sng">
                      <a:solidFill>
                        <a:srgbClr val="BABDC1"/>
                      </a:solidFill>
                      <a:prstDash val="solid"/>
                      <a:round/>
                      <a:headEnd type="none" w="sm" len="sm"/>
                      <a:tailEnd type="none" w="sm" len="sm"/>
                    </a:lnL>
                    <a:lnR w="9525" cap="flat" cmpd="sng">
                      <a:solidFill>
                        <a:srgbClr val="BABDC1"/>
                      </a:solidFill>
                      <a:prstDash val="solid"/>
                      <a:round/>
                      <a:headEnd type="none" w="sm" len="sm"/>
                      <a:tailEnd type="none" w="sm" len="sm"/>
                    </a:lnR>
                    <a:lnT w="9525" cap="flat" cmpd="sng">
                      <a:solidFill>
                        <a:srgbClr val="BABDC1"/>
                      </a:solidFill>
                      <a:prstDash val="solid"/>
                      <a:round/>
                      <a:headEnd type="none" w="sm" len="sm"/>
                      <a:tailEnd type="none" w="sm" len="sm"/>
                    </a:lnT>
                    <a:lnB w="9525" cap="flat" cmpd="sng">
                      <a:solidFill>
                        <a:srgbClr val="BABDC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100"/>
        <p:cNvGrpSpPr/>
        <p:nvPr/>
      </p:nvGrpSpPr>
      <p:grpSpPr>
        <a:xfrm>
          <a:off x="0" y="0"/>
          <a:ext cx="0" cy="0"/>
          <a:chOff x="0" y="0"/>
          <a:chExt cx="0" cy="0"/>
        </a:xfrm>
      </p:grpSpPr>
      <p:pic>
        <p:nvPicPr>
          <p:cNvPr id="101" name="Google Shape;101;h71c2a19aba2f255b_0_96"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102" name="Google Shape;102;h71c2a19aba2f255b_0_96"/>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103" name="Google Shape;103;h71c2a19aba2f255b_0_96"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104" name="Google Shape;104;h71c2a19aba2f255b_0_96"/>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105" name="Google Shape;105;h71c2a19aba2f255b_0_96"/>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106" name="Google Shape;106;h71c2a19aba2f255b_0_96"/>
          <p:cNvSpPr txBox="1"/>
          <p:nvPr/>
        </p:nvSpPr>
        <p:spPr>
          <a:xfrm>
            <a:off x="596100" y="576075"/>
            <a:ext cx="11385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Rules Added</a:t>
            </a:r>
            <a:endParaRPr sz="1800" b="0" i="0" u="none" strike="noStrike" cap="none">
              <a:solidFill>
                <a:schemeClr val="dk1"/>
              </a:solidFill>
              <a:latin typeface="Calibri"/>
              <a:ea typeface="Calibri"/>
              <a:cs typeface="Calibri"/>
              <a:sym typeface="Calibri"/>
            </a:endParaRPr>
          </a:p>
        </p:txBody>
      </p:sp>
      <p:sp>
        <p:nvSpPr>
          <p:cNvPr id="107" name="Google Shape;107;h71c2a19aba2f255b_0_96"/>
          <p:cNvSpPr txBox="1"/>
          <p:nvPr/>
        </p:nvSpPr>
        <p:spPr>
          <a:xfrm>
            <a:off x="596100" y="150725"/>
            <a:ext cx="5125500" cy="44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rgbClr val="1155CC"/>
                </a:solidFill>
              </a:rPr>
              <a:t>Rate Imputation | Upgrades</a:t>
            </a:r>
            <a:endParaRPr sz="1600" b="1">
              <a:solidFill>
                <a:srgbClr val="1155CC"/>
              </a:solidFill>
            </a:endParaRPr>
          </a:p>
        </p:txBody>
      </p:sp>
      <p:graphicFrame>
        <p:nvGraphicFramePr>
          <p:cNvPr id="108" name="Google Shape;108;h71c2a19aba2f255b_0_96"/>
          <p:cNvGraphicFramePr/>
          <p:nvPr/>
        </p:nvGraphicFramePr>
        <p:xfrm>
          <a:off x="297075" y="1101800"/>
          <a:ext cx="3000000" cy="3000000"/>
        </p:xfrm>
        <a:graphic>
          <a:graphicData uri="http://schemas.openxmlformats.org/drawingml/2006/table">
            <a:tbl>
              <a:tblPr>
                <a:noFill/>
                <a:tableStyleId>{C2D35A4E-98F7-4F77-87ED-E2BD8A616CE8}</a:tableStyleId>
              </a:tblPr>
              <a:tblGrid>
                <a:gridCol w="3584450">
                  <a:extLst>
                    <a:ext uri="{9D8B030D-6E8A-4147-A177-3AD203B41FA5}">
                      <a16:colId xmlns:a16="http://schemas.microsoft.com/office/drawing/2014/main" val="20000"/>
                    </a:ext>
                  </a:extLst>
                </a:gridCol>
                <a:gridCol w="4360850">
                  <a:extLst>
                    <a:ext uri="{9D8B030D-6E8A-4147-A177-3AD203B41FA5}">
                      <a16:colId xmlns:a16="http://schemas.microsoft.com/office/drawing/2014/main" val="20001"/>
                    </a:ext>
                  </a:extLst>
                </a:gridCol>
                <a:gridCol w="1244425">
                  <a:extLst>
                    <a:ext uri="{9D8B030D-6E8A-4147-A177-3AD203B41FA5}">
                      <a16:colId xmlns:a16="http://schemas.microsoft.com/office/drawing/2014/main" val="20002"/>
                    </a:ext>
                  </a:extLst>
                </a:gridCol>
                <a:gridCol w="2584600">
                  <a:extLst>
                    <a:ext uri="{9D8B030D-6E8A-4147-A177-3AD203B41FA5}">
                      <a16:colId xmlns:a16="http://schemas.microsoft.com/office/drawing/2014/main" val="20003"/>
                    </a:ext>
                  </a:extLst>
                </a:gridCol>
              </a:tblGrid>
              <a:tr h="295275">
                <a:tc>
                  <a:txBody>
                    <a:bodyPr/>
                    <a:lstStyle/>
                    <a:p>
                      <a:pPr marL="0" lvl="0" indent="0" algn="l" rtl="0">
                        <a:lnSpc>
                          <a:spcPct val="138272"/>
                        </a:lnSpc>
                        <a:spcBef>
                          <a:spcPts val="0"/>
                        </a:spcBef>
                        <a:spcAft>
                          <a:spcPts val="0"/>
                        </a:spcAft>
                        <a:buNone/>
                      </a:pPr>
                      <a:r>
                        <a:rPr lang="en-US" sz="1100" b="1">
                          <a:solidFill>
                            <a:srgbClr val="1C2541"/>
                          </a:solidFill>
                          <a:latin typeface="DM Sans"/>
                          <a:ea typeface="DM Sans"/>
                          <a:cs typeface="DM Sans"/>
                          <a:sym typeface="DM Sans"/>
                        </a:rPr>
                        <a:t>Added rule</a:t>
                      </a:r>
                      <a:endParaRPr sz="1100" b="1">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b="1">
                          <a:solidFill>
                            <a:srgbClr val="1C2541"/>
                          </a:solidFill>
                          <a:latin typeface="DM Sans"/>
                          <a:ea typeface="DM Sans"/>
                          <a:cs typeface="DM Sans"/>
                          <a:sym typeface="DM Sans"/>
                        </a:rPr>
                        <a:t>What it catches</a:t>
                      </a:r>
                      <a:endParaRPr sz="1100" b="1">
                        <a:solidFill>
                          <a:srgbClr val="1C2541"/>
                        </a:solidFill>
                        <a:latin typeface="DM Sans"/>
                        <a:ea typeface="DM Sans"/>
                        <a:cs typeface="DM Sans"/>
                        <a:sym typeface="DM Sans"/>
                      </a:endParaRPr>
                    </a:p>
                  </a:txBody>
                  <a:tcPr marL="91425" marR="91425" marT="91425" marB="91425">
                    <a:lnL w="9525" cap="flat" cmpd="sng">
                      <a:solidFill>
                        <a:srgbClr val="B3B5B8"/>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b="1">
                          <a:solidFill>
                            <a:srgbClr val="1C2541"/>
                          </a:solidFill>
                          <a:latin typeface="DM Sans"/>
                          <a:ea typeface="DM Sans"/>
                          <a:cs typeface="DM Sans"/>
                          <a:sym typeface="DM Sans"/>
                        </a:rPr>
                        <a:t>Rows</a:t>
                      </a:r>
                      <a:endParaRPr sz="1100" b="1">
                        <a:solidFill>
                          <a:srgbClr val="1C2541"/>
                        </a:solidFill>
                        <a:latin typeface="DM Sans"/>
                        <a:ea typeface="DM Sans"/>
                        <a:cs typeface="DM Sans"/>
                        <a:sym typeface="DM Sans"/>
                      </a:endParaRPr>
                    </a:p>
                  </a:txBody>
                  <a:tcPr marL="91425" marR="91425" marT="91425" marB="91425">
                    <a:lnL w="9525" cap="flat" cmpd="sng">
                      <a:solidFill>
                        <a:srgbClr val="B3B5B8"/>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b="1">
                          <a:solidFill>
                            <a:srgbClr val="1C2541"/>
                          </a:solidFill>
                          <a:latin typeface="DM Sans"/>
                          <a:ea typeface="DM Sans"/>
                          <a:cs typeface="DM Sans"/>
                          <a:sym typeface="DM Sans"/>
                        </a:rPr>
                        <a:t>Without it</a:t>
                      </a:r>
                      <a:endParaRPr sz="1100" b="1">
                        <a:solidFill>
                          <a:srgbClr val="1C2541"/>
                        </a:solidFill>
                        <a:latin typeface="DM Sans"/>
                        <a:ea typeface="DM Sans"/>
                        <a:cs typeface="DM Sans"/>
                        <a:sym typeface="DM Sans"/>
                      </a:endParaRPr>
                    </a:p>
                  </a:txBody>
                  <a:tcPr marL="91425" marR="91425" marT="91425" marB="91425">
                    <a:lnL w="9525" cap="flat" cmpd="sng">
                      <a:solidFill>
                        <a:srgbClr val="B3B5B8"/>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extLst>
                  <a:ext uri="{0D108BD9-81ED-4DB2-BD59-A6C34878D82A}">
                    <a16:rowId xmlns:a16="http://schemas.microsoft.com/office/drawing/2014/main" val="10000"/>
                  </a:ext>
                </a:extLst>
              </a:tr>
              <a:tr h="295275">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rate_is_spread_floating</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Floating loan, spread = IR: the value is the spread</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a:solidFill>
                            <a:srgbClr val="1C2541"/>
                          </a:solidFill>
                          <a:latin typeface="DM Sans"/>
                          <a:ea typeface="DM Sans"/>
                          <a:cs typeface="DM Sans"/>
                          <a:sym typeface="DM Sans"/>
                        </a:rPr>
                        <a:t>259</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+234 identity-2 failures</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1"/>
                  </a:ext>
                </a:extLst>
              </a:tr>
              <a:tr h="295275">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rate_is_spread_untagged</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Untagged loan, spread = IR at 2–9%: a spread</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a:solidFill>
                            <a:srgbClr val="1C2541"/>
                          </a:solidFill>
                          <a:latin typeface="DM Sans"/>
                          <a:ea typeface="DM Sans"/>
                          <a:cs typeface="DM Sans"/>
                          <a:sym typeface="DM Sans"/>
                        </a:rPr>
                        <a:t>498</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+463 identity-2 failures</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2"/>
                  </a:ext>
                </a:extLst>
              </a:tr>
              <a:tr h="295275">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clear_spread_untagged_coupon</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Untagged loan, spread = IR above 9%: the coupon</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a:solidFill>
                            <a:srgbClr val="1C2541"/>
                          </a:solidFill>
                          <a:latin typeface="DM Sans"/>
                          <a:ea typeface="DM Sans"/>
                          <a:cs typeface="DM Sans"/>
                          <a:sym typeface="DM Sans"/>
                        </a:rPr>
                        <a:t>445</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+320 identity-2 failures</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3"/>
                  </a:ext>
                </a:extLst>
              </a:tr>
              <a:tr h="295275">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fixed_spread_is_rate</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Fixed loan with only a “spread”</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a:solidFill>
                            <a:srgbClr val="1C2541"/>
                          </a:solidFill>
                          <a:latin typeface="DM Sans"/>
                          <a:ea typeface="DM Sans"/>
                          <a:cs typeface="DM Sans"/>
                          <a:sym typeface="DM Sans"/>
                        </a:rPr>
                        <a:t>3</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3 loans with no rate</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4"/>
                  </a:ext>
                </a:extLst>
              </a:tr>
              <a:tr h="295275">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spread_is_allin_rate</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Spread = PIC + PIK: spread field holds the coupon</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a:solidFill>
                            <a:srgbClr val="1C2541"/>
                          </a:solidFill>
                          <a:latin typeface="DM Sans"/>
                          <a:ea typeface="DM Sans"/>
                          <a:cs typeface="DM Sans"/>
                          <a:sym typeface="DM Sans"/>
                        </a:rPr>
                        <a:t>1,164</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+80 identity-1 failures</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5"/>
                  </a:ext>
                </a:extLst>
              </a:tr>
              <a:tr h="295275">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rate_below_spread_replaced</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IR below the spread: IR held a floor or base</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a:solidFill>
                            <a:srgbClr val="1C2541"/>
                          </a:solidFill>
                          <a:latin typeface="DM Sans"/>
                          <a:ea typeface="DM Sans"/>
                          <a:cs typeface="DM Sans"/>
                          <a:sym typeface="DM Sans"/>
                        </a:rPr>
                        <a:t>498</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+205 identity-2 failures</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6"/>
                  </a:ext>
                </a:extLst>
              </a:tr>
              <a:tr h="409575">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rate_from_base_plus_spread_plus_pik</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PIK paid on top of base + spread</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a:solidFill>
                            <a:srgbClr val="1C2541"/>
                          </a:solidFill>
                          <a:latin typeface="DM Sans"/>
                          <a:ea typeface="DM Sans"/>
                          <a:cs typeface="DM Sans"/>
                          <a:sym typeface="DM Sans"/>
                        </a:rPr>
                        <a:t>674</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+445 IR &gt; 2pp below base + spread</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7"/>
                  </a:ext>
                </a:extLst>
              </a:tr>
              <a:tr h="295275">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pic_from_rate_minus_pik_reconcile</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All three reported, IR ≠ PIC + PIK</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a:solidFill>
                            <a:srgbClr val="1C2541"/>
                          </a:solidFill>
                          <a:latin typeface="DM Sans"/>
                          <a:ea typeface="DM Sans"/>
                          <a:cs typeface="DM Sans"/>
                          <a:sym typeface="DM Sans"/>
                        </a:rPr>
                        <a:t>1,541</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+1,541 identity-1 failures</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8"/>
                  </a:ext>
                </a:extLst>
              </a:tr>
              <a:tr h="409575">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rate_is_spread_components_exceed</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PIC + PIK above IR: IR held the spread</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a:solidFill>
                            <a:srgbClr val="1C2541"/>
                          </a:solidFill>
                          <a:latin typeface="DM Sans"/>
                          <a:ea typeface="DM Sans"/>
                          <a:cs typeface="DM Sans"/>
                          <a:sym typeface="DM Sans"/>
                        </a:rPr>
                        <a:t>18</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11 rows with IR &lt; PIK</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9"/>
                  </a:ext>
                </a:extLst>
              </a:tr>
              <a:tr h="409575">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rate_is_cash_part_of_base_plus_spread</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IR + PIK ≈ base + spread (±50bp): IR is only the cash part</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a:solidFill>
                            <a:srgbClr val="1C2541"/>
                          </a:solidFill>
                          <a:latin typeface="DM Sans"/>
                          <a:ea typeface="DM Sans"/>
                          <a:cs typeface="DM Sans"/>
                          <a:sym typeface="DM Sans"/>
                        </a:rPr>
                        <a:t>3,973</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+3,032 IR &gt; 2pp below base + spread</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10"/>
                  </a:ext>
                </a:extLst>
              </a:tr>
              <a:tr h="295275">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fix_component_scale</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PIK tagged in percent (0.50 = 0.50%)</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a:solidFill>
                            <a:srgbClr val="1C2541"/>
                          </a:solidFill>
                          <a:latin typeface="DM Sans"/>
                          <a:ea typeface="DM Sans"/>
                          <a:cs typeface="DM Sans"/>
                          <a:sym typeface="DM Sans"/>
                        </a:rPr>
                        <a:t>14</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a:solidFill>
                            <a:srgbClr val="1C2541"/>
                          </a:solidFill>
                          <a:latin typeface="DM Sans"/>
                          <a:ea typeface="DM Sans"/>
                          <a:cs typeface="DM Sans"/>
                          <a:sym typeface="DM Sans"/>
                        </a:rPr>
                        <a:t>6 negative coupons</a:t>
                      </a:r>
                      <a:endParaRPr sz="110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11"/>
                  </a:ext>
                </a:extLst>
              </a:tr>
              <a:tr h="295275">
                <a:tc>
                  <a:txBody>
                    <a:bodyPr/>
                    <a:lstStyle/>
                    <a:p>
                      <a:pPr marL="0" lvl="0" indent="0" algn="l" rtl="0">
                        <a:lnSpc>
                          <a:spcPct val="138272"/>
                        </a:lnSpc>
                        <a:spcBef>
                          <a:spcPts val="0"/>
                        </a:spcBef>
                        <a:spcAft>
                          <a:spcPts val="0"/>
                        </a:spcAft>
                        <a:buNone/>
                      </a:pPr>
                      <a:r>
                        <a:rPr lang="en-US" sz="1100" b="1">
                          <a:solidFill>
                            <a:srgbClr val="1C2541"/>
                          </a:solidFill>
                          <a:latin typeface="DM Sans"/>
                          <a:ea typeface="DM Sans"/>
                          <a:cs typeface="DM Sans"/>
                          <a:sym typeface="DM Sans"/>
                        </a:rPr>
                        <a:t>Base rate · currency, floor, Prime</a:t>
                      </a:r>
                      <a:endParaRPr sz="1100" b="1">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b="1">
                          <a:solidFill>
                            <a:srgbClr val="1C2541"/>
                          </a:solidFill>
                          <a:latin typeface="DM Sans"/>
                          <a:ea typeface="DM Sans"/>
                          <a:cs typeface="DM Sans"/>
                          <a:sym typeface="DM Sans"/>
                        </a:rPr>
                        <a:t>14 currencies, 0% floor, reported floors, Prime</a:t>
                      </a:r>
                      <a:endParaRPr sz="1100" b="1">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38272"/>
                        </a:lnSpc>
                        <a:spcBef>
                          <a:spcPts val="0"/>
                        </a:spcBef>
                        <a:spcAft>
                          <a:spcPts val="0"/>
                        </a:spcAft>
                        <a:buNone/>
                      </a:pPr>
                      <a:r>
                        <a:rPr lang="en-US" sz="1100" b="1">
                          <a:solidFill>
                            <a:srgbClr val="1C2541"/>
                          </a:solidFill>
                          <a:latin typeface="DM Sans"/>
                          <a:ea typeface="DM Sans"/>
                          <a:cs typeface="DM Sans"/>
                          <a:sym typeface="DM Sans"/>
                        </a:rPr>
                        <a:t>87,556</a:t>
                      </a:r>
                      <a:endParaRPr sz="1100" b="1">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l" rtl="0">
                        <a:lnSpc>
                          <a:spcPct val="138272"/>
                        </a:lnSpc>
                        <a:spcBef>
                          <a:spcPts val="0"/>
                        </a:spcBef>
                        <a:spcAft>
                          <a:spcPts val="0"/>
                        </a:spcAft>
                        <a:buNone/>
                      </a:pPr>
                      <a:r>
                        <a:rPr lang="en-US" sz="1100" b="1">
                          <a:solidFill>
                            <a:srgbClr val="1C2541"/>
                          </a:solidFill>
                          <a:latin typeface="DM Sans"/>
                          <a:ea typeface="DM Sans"/>
                          <a:cs typeface="DM Sans"/>
                          <a:sym typeface="DM Sans"/>
                        </a:rPr>
                        <a:t>Non-USD loans get no rate</a:t>
                      </a:r>
                      <a:endParaRPr sz="1100" b="1">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
        <p:nvSpPr>
          <p:cNvPr id="109" name="Google Shape;109;h71c2a19aba2f255b_0_96"/>
          <p:cNvSpPr txBox="1"/>
          <p:nvPr/>
        </p:nvSpPr>
        <p:spPr>
          <a:xfrm>
            <a:off x="297075" y="6450650"/>
            <a:ext cx="8832300" cy="2541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rgbClr val="5B6778"/>
              </a:buClr>
              <a:buSzPts val="1200"/>
              <a:buFont typeface="DM Sans"/>
              <a:buChar char="●"/>
            </a:pPr>
            <a:r>
              <a:rPr lang="en-US" sz="1200">
                <a:solidFill>
                  <a:srgbClr val="5B6778"/>
                </a:solidFill>
                <a:latin typeface="DM Sans"/>
                <a:ea typeface="DM Sans"/>
                <a:cs typeface="DM Sans"/>
                <a:sym typeface="DM Sans"/>
              </a:rPr>
              <a:t>“≈” within 50bp · identity 1 fails beyond 1bp, identity 2 beyond 2pp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114"/>
        <p:cNvGrpSpPr/>
        <p:nvPr/>
      </p:nvGrpSpPr>
      <p:grpSpPr>
        <a:xfrm>
          <a:off x="0" y="0"/>
          <a:ext cx="0" cy="0"/>
          <a:chOff x="0" y="0"/>
          <a:chExt cx="0" cy="0"/>
        </a:xfrm>
      </p:grpSpPr>
      <p:pic>
        <p:nvPicPr>
          <p:cNvPr id="115" name="Google Shape;115;h71c2a19aba2f255b_0_115"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116" name="Google Shape;116;h71c2a19aba2f255b_0_115"/>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117" name="Google Shape;117;h71c2a19aba2f255b_0_115"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118" name="Google Shape;118;h71c2a19aba2f255b_0_115"/>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119" name="Google Shape;119;h71c2a19aba2f255b_0_115"/>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120" name="Google Shape;120;h71c2a19aba2f255b_0_115"/>
          <p:cNvSpPr txBox="1"/>
          <p:nvPr/>
        </p:nvSpPr>
        <p:spPr>
          <a:xfrm>
            <a:off x="596100" y="576075"/>
            <a:ext cx="11385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Is the number a spread of a coupon?</a:t>
            </a:r>
            <a:endParaRPr sz="1800" b="0" i="0" u="none" strike="noStrike" cap="none">
              <a:solidFill>
                <a:schemeClr val="dk1"/>
              </a:solidFill>
              <a:latin typeface="Calibri"/>
              <a:ea typeface="Calibri"/>
              <a:cs typeface="Calibri"/>
              <a:sym typeface="Calibri"/>
            </a:endParaRPr>
          </a:p>
        </p:txBody>
      </p:sp>
      <p:sp>
        <p:nvSpPr>
          <p:cNvPr id="121" name="Google Shape;121;h71c2a19aba2f255b_0_115"/>
          <p:cNvSpPr txBox="1"/>
          <p:nvPr/>
        </p:nvSpPr>
        <p:spPr>
          <a:xfrm>
            <a:off x="596100" y="150725"/>
            <a:ext cx="6252000" cy="44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rgbClr val="1155CC"/>
                </a:solidFill>
              </a:rPr>
              <a:t>Examples | Handling Spread = IR</a:t>
            </a:r>
            <a:endParaRPr sz="1600" b="1">
              <a:solidFill>
                <a:srgbClr val="1155CC"/>
              </a:solidFill>
            </a:endParaRPr>
          </a:p>
        </p:txBody>
      </p:sp>
      <p:pic>
        <p:nvPicPr>
          <p:cNvPr id="122" name="Google Shape;122;h71c2a19aba2f255b_0_115"/>
          <p:cNvPicPr preferRelativeResize="0"/>
          <p:nvPr/>
        </p:nvPicPr>
        <p:blipFill>
          <a:blip r:embed="rId5">
            <a:alphaModFix/>
          </a:blip>
          <a:stretch>
            <a:fillRect/>
          </a:stretch>
        </p:blipFill>
        <p:spPr>
          <a:xfrm>
            <a:off x="152400" y="1261875"/>
            <a:ext cx="11887202" cy="33953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127"/>
        <p:cNvGrpSpPr/>
        <p:nvPr/>
      </p:nvGrpSpPr>
      <p:grpSpPr>
        <a:xfrm>
          <a:off x="0" y="0"/>
          <a:ext cx="0" cy="0"/>
          <a:chOff x="0" y="0"/>
          <a:chExt cx="0" cy="0"/>
        </a:xfrm>
      </p:grpSpPr>
      <p:pic>
        <p:nvPicPr>
          <p:cNvPr id="128" name="Google Shape;128;h71c2a19aba2f255b_0_129"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129" name="Google Shape;129;h71c2a19aba2f255b_0_129"/>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130" name="Google Shape;130;h71c2a19aba2f255b_0_129"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131" name="Google Shape;131;h71c2a19aba2f255b_0_129"/>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132" name="Google Shape;132;h71c2a19aba2f255b_0_129"/>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133" name="Google Shape;133;h71c2a19aba2f255b_0_129"/>
          <p:cNvSpPr txBox="1"/>
          <p:nvPr/>
        </p:nvSpPr>
        <p:spPr>
          <a:xfrm>
            <a:off x="596100" y="576075"/>
            <a:ext cx="11385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Moving values back until the identities hold</a:t>
            </a:r>
            <a:endParaRPr sz="1800" b="0" i="0" u="none" strike="noStrike" cap="none">
              <a:solidFill>
                <a:schemeClr val="dk1"/>
              </a:solidFill>
              <a:latin typeface="Calibri"/>
              <a:ea typeface="Calibri"/>
              <a:cs typeface="Calibri"/>
              <a:sym typeface="Calibri"/>
            </a:endParaRPr>
          </a:p>
        </p:txBody>
      </p:sp>
      <p:sp>
        <p:nvSpPr>
          <p:cNvPr id="134" name="Google Shape;134;h71c2a19aba2f255b_0_129"/>
          <p:cNvSpPr txBox="1"/>
          <p:nvPr/>
        </p:nvSpPr>
        <p:spPr>
          <a:xfrm>
            <a:off x="596100" y="150725"/>
            <a:ext cx="6252000" cy="44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rgbClr val="1155CC"/>
                </a:solidFill>
              </a:rPr>
              <a:t>Examples | Handling Wrong Placeholder</a:t>
            </a:r>
            <a:endParaRPr sz="1600" b="1">
              <a:solidFill>
                <a:srgbClr val="1155CC"/>
              </a:solidFill>
            </a:endParaRPr>
          </a:p>
        </p:txBody>
      </p:sp>
      <p:pic>
        <p:nvPicPr>
          <p:cNvPr id="135" name="Google Shape;135;h71c2a19aba2f255b_0_129"/>
          <p:cNvPicPr preferRelativeResize="0"/>
          <p:nvPr/>
        </p:nvPicPr>
        <p:blipFill>
          <a:blip r:embed="rId5">
            <a:alphaModFix/>
          </a:blip>
          <a:stretch>
            <a:fillRect/>
          </a:stretch>
        </p:blipFill>
        <p:spPr>
          <a:xfrm>
            <a:off x="152400" y="1261875"/>
            <a:ext cx="11887200" cy="379625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140"/>
        <p:cNvGrpSpPr/>
        <p:nvPr/>
      </p:nvGrpSpPr>
      <p:grpSpPr>
        <a:xfrm>
          <a:off x="0" y="0"/>
          <a:ext cx="0" cy="0"/>
          <a:chOff x="0" y="0"/>
          <a:chExt cx="0" cy="0"/>
        </a:xfrm>
      </p:grpSpPr>
      <p:pic>
        <p:nvPicPr>
          <p:cNvPr id="141" name="Google Shape;141;h71c2a19aba2f255b_0_142"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142" name="Google Shape;142;h71c2a19aba2f255b_0_142"/>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143" name="Google Shape;143;h71c2a19aba2f255b_0_142"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144" name="Google Shape;144;h71c2a19aba2f255b_0_142"/>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145" name="Google Shape;145;h71c2a19aba2f255b_0_142"/>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146" name="Google Shape;146;h71c2a19aba2f255b_0_142"/>
          <p:cNvSpPr txBox="1"/>
          <p:nvPr/>
        </p:nvSpPr>
        <p:spPr>
          <a:xfrm>
            <a:off x="596100" y="576075"/>
            <a:ext cx="11385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IR reported as the cash part only</a:t>
            </a:r>
            <a:endParaRPr sz="1800" b="0" i="0" u="none" strike="noStrike" cap="none">
              <a:solidFill>
                <a:schemeClr val="dk1"/>
              </a:solidFill>
              <a:latin typeface="Calibri"/>
              <a:ea typeface="Calibri"/>
              <a:cs typeface="Calibri"/>
              <a:sym typeface="Calibri"/>
            </a:endParaRPr>
          </a:p>
        </p:txBody>
      </p:sp>
      <p:sp>
        <p:nvSpPr>
          <p:cNvPr id="147" name="Google Shape;147;h71c2a19aba2f255b_0_142"/>
          <p:cNvSpPr txBox="1"/>
          <p:nvPr/>
        </p:nvSpPr>
        <p:spPr>
          <a:xfrm>
            <a:off x="596100" y="150725"/>
            <a:ext cx="6252000" cy="44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rgbClr val="1155CC"/>
                </a:solidFill>
              </a:rPr>
              <a:t>Examples | Handling Identities Mismatch</a:t>
            </a:r>
            <a:endParaRPr sz="1600" b="1">
              <a:solidFill>
                <a:srgbClr val="1155CC"/>
              </a:solidFill>
            </a:endParaRPr>
          </a:p>
        </p:txBody>
      </p:sp>
      <p:pic>
        <p:nvPicPr>
          <p:cNvPr id="148" name="Google Shape;148;h71c2a19aba2f255b_0_142"/>
          <p:cNvPicPr preferRelativeResize="0"/>
          <p:nvPr/>
        </p:nvPicPr>
        <p:blipFill>
          <a:blip r:embed="rId5">
            <a:alphaModFix/>
          </a:blip>
          <a:stretch>
            <a:fillRect/>
          </a:stretch>
        </p:blipFill>
        <p:spPr>
          <a:xfrm>
            <a:off x="152400" y="1261875"/>
            <a:ext cx="11887202" cy="251737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153"/>
        <p:cNvGrpSpPr/>
        <p:nvPr/>
      </p:nvGrpSpPr>
      <p:grpSpPr>
        <a:xfrm>
          <a:off x="0" y="0"/>
          <a:ext cx="0" cy="0"/>
          <a:chOff x="0" y="0"/>
          <a:chExt cx="0" cy="0"/>
        </a:xfrm>
      </p:grpSpPr>
      <p:pic>
        <p:nvPicPr>
          <p:cNvPr id="154" name="Google Shape;154;h71c2a19aba2f255b_0_156"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155" name="Google Shape;155;h71c2a19aba2f255b_0_156"/>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156" name="Google Shape;156;h71c2a19aba2f255b_0_156"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157" name="Google Shape;157;h71c2a19aba2f255b_0_156"/>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158" name="Google Shape;158;h71c2a19aba2f255b_0_156"/>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159" name="Google Shape;159;h71c2a19aba2f255b_0_156"/>
          <p:cNvSpPr txBox="1"/>
          <p:nvPr/>
        </p:nvSpPr>
        <p:spPr>
          <a:xfrm>
            <a:off x="596100" y="590825"/>
            <a:ext cx="11385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Choosing reasonable scale and benchmark</a:t>
            </a:r>
            <a:endParaRPr sz="1800" b="0" i="0" u="none" strike="noStrike" cap="none">
              <a:solidFill>
                <a:schemeClr val="dk1"/>
              </a:solidFill>
              <a:latin typeface="Calibri"/>
              <a:ea typeface="Calibri"/>
              <a:cs typeface="Calibri"/>
              <a:sym typeface="Calibri"/>
            </a:endParaRPr>
          </a:p>
        </p:txBody>
      </p:sp>
      <p:sp>
        <p:nvSpPr>
          <p:cNvPr id="160" name="Google Shape;160;h71c2a19aba2f255b_0_156"/>
          <p:cNvSpPr txBox="1"/>
          <p:nvPr/>
        </p:nvSpPr>
        <p:spPr>
          <a:xfrm>
            <a:off x="596100" y="150725"/>
            <a:ext cx="6252000" cy="44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b="1">
                <a:solidFill>
                  <a:srgbClr val="1155CC"/>
                </a:solidFill>
              </a:rPr>
              <a:t>Examples | Handling Units and Base Rates</a:t>
            </a:r>
            <a:endParaRPr sz="1600" b="1">
              <a:solidFill>
                <a:srgbClr val="1155CC"/>
              </a:solidFill>
            </a:endParaRPr>
          </a:p>
        </p:txBody>
      </p:sp>
      <p:pic>
        <p:nvPicPr>
          <p:cNvPr id="161" name="Google Shape;161;h71c2a19aba2f255b_0_156"/>
          <p:cNvPicPr preferRelativeResize="0"/>
          <p:nvPr/>
        </p:nvPicPr>
        <p:blipFill>
          <a:blip r:embed="rId5">
            <a:alphaModFix/>
          </a:blip>
          <a:stretch>
            <a:fillRect/>
          </a:stretch>
        </p:blipFill>
        <p:spPr>
          <a:xfrm>
            <a:off x="152400" y="1276625"/>
            <a:ext cx="11887202" cy="3656018"/>
          </a:xfrm>
          <a:prstGeom prst="rect">
            <a:avLst/>
          </a:prstGeom>
          <a:noFill/>
          <a:ln>
            <a:noFill/>
          </a:ln>
        </p:spPr>
      </p:pic>
      <p:pic>
        <p:nvPicPr>
          <p:cNvPr id="162" name="Google Shape;162;h71c2a19aba2f255b_0_156"/>
          <p:cNvPicPr preferRelativeResize="0"/>
          <p:nvPr/>
        </p:nvPicPr>
        <p:blipFill>
          <a:blip r:embed="rId6">
            <a:alphaModFix/>
          </a:blip>
          <a:stretch>
            <a:fillRect/>
          </a:stretch>
        </p:blipFill>
        <p:spPr>
          <a:xfrm>
            <a:off x="262050" y="4932643"/>
            <a:ext cx="11887199" cy="36301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167"/>
        <p:cNvGrpSpPr/>
        <p:nvPr/>
      </p:nvGrpSpPr>
      <p:grpSpPr>
        <a:xfrm>
          <a:off x="0" y="0"/>
          <a:ext cx="0" cy="0"/>
          <a:chOff x="0" y="0"/>
          <a:chExt cx="0" cy="0"/>
        </a:xfrm>
      </p:grpSpPr>
      <p:pic>
        <p:nvPicPr>
          <p:cNvPr id="168" name="Google Shape;168;h71c2a19aba2f255b_0_175"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169" name="Google Shape;169;h71c2a19aba2f255b_0_175"/>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170" name="Google Shape;170;h71c2a19aba2f255b_0_175"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171" name="Google Shape;171;h71c2a19aba2f255b_0_175"/>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172" name="Google Shape;172;h71c2a19aba2f255b_0_175"/>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173" name="Google Shape;173;h71c2a19aba2f255b_0_175"/>
          <p:cNvSpPr txBox="1"/>
          <p:nvPr/>
        </p:nvSpPr>
        <p:spPr>
          <a:xfrm>
            <a:off x="596100" y="590825"/>
            <a:ext cx="11385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Data cleaning result for rates imputation</a:t>
            </a:r>
            <a:endParaRPr sz="1800" b="0" i="0" u="none" strike="noStrike" cap="none">
              <a:solidFill>
                <a:schemeClr val="dk1"/>
              </a:solidFill>
              <a:latin typeface="Calibri"/>
              <a:ea typeface="Calibri"/>
              <a:cs typeface="Calibri"/>
              <a:sym typeface="Calibri"/>
            </a:endParaRPr>
          </a:p>
        </p:txBody>
      </p:sp>
      <p:graphicFrame>
        <p:nvGraphicFramePr>
          <p:cNvPr id="174" name="Google Shape;174;h71c2a19aba2f255b_0_175"/>
          <p:cNvGraphicFramePr/>
          <p:nvPr/>
        </p:nvGraphicFramePr>
        <p:xfrm>
          <a:off x="596100" y="1276625"/>
          <a:ext cx="3000000" cy="3000000"/>
        </p:xfrm>
        <a:graphic>
          <a:graphicData uri="http://schemas.openxmlformats.org/drawingml/2006/table">
            <a:tbl>
              <a:tblPr>
                <a:noFill/>
                <a:tableStyleId>{C2D35A4E-98F7-4F77-87ED-E2BD8A616CE8}</a:tableStyleId>
              </a:tblPr>
              <a:tblGrid>
                <a:gridCol w="5153025">
                  <a:extLst>
                    <a:ext uri="{9D8B030D-6E8A-4147-A177-3AD203B41FA5}">
                      <a16:colId xmlns:a16="http://schemas.microsoft.com/office/drawing/2014/main" val="20000"/>
                    </a:ext>
                  </a:extLst>
                </a:gridCol>
                <a:gridCol w="2695575">
                  <a:extLst>
                    <a:ext uri="{9D8B030D-6E8A-4147-A177-3AD203B41FA5}">
                      <a16:colId xmlns:a16="http://schemas.microsoft.com/office/drawing/2014/main" val="20001"/>
                    </a:ext>
                  </a:extLst>
                </a:gridCol>
                <a:gridCol w="2695575">
                  <a:extLst>
                    <a:ext uri="{9D8B030D-6E8A-4147-A177-3AD203B41FA5}">
                      <a16:colId xmlns:a16="http://schemas.microsoft.com/office/drawing/2014/main" val="20002"/>
                    </a:ext>
                  </a:extLst>
                </a:gridCol>
              </a:tblGrid>
              <a:tr h="342900">
                <a:tc>
                  <a:txBody>
                    <a:bodyPr/>
                    <a:lstStyle/>
                    <a:p>
                      <a:pPr marL="0" lvl="0" indent="0" algn="l" rtl="0">
                        <a:lnSpc>
                          <a:spcPct val="159090"/>
                        </a:lnSpc>
                        <a:spcBef>
                          <a:spcPts val="0"/>
                        </a:spcBef>
                        <a:spcAft>
                          <a:spcPts val="0"/>
                        </a:spcAft>
                        <a:buNone/>
                      </a:pPr>
                      <a:r>
                        <a:rPr lang="en-US" sz="1250" b="1">
                          <a:solidFill>
                            <a:srgbClr val="1C2541"/>
                          </a:solidFill>
                          <a:latin typeface="DM Sans"/>
                          <a:ea typeface="DM Sans"/>
                          <a:cs typeface="DM Sans"/>
                          <a:sym typeface="DM Sans"/>
                        </a:rPr>
                        <a:t>Rate check (each row counted once)</a:t>
                      </a:r>
                      <a:endParaRPr sz="1250" b="1">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b="1">
                          <a:solidFill>
                            <a:srgbClr val="1C2541"/>
                          </a:solidFill>
                          <a:latin typeface="DM Sans"/>
                          <a:ea typeface="DM Sans"/>
                          <a:cs typeface="DM Sans"/>
                          <a:sym typeface="DM Sans"/>
                        </a:rPr>
                        <a:t>v1</a:t>
                      </a:r>
                      <a:endParaRPr sz="1250" b="1">
                        <a:solidFill>
                          <a:srgbClr val="1C2541"/>
                        </a:solidFill>
                        <a:latin typeface="DM Sans"/>
                        <a:ea typeface="DM Sans"/>
                        <a:cs typeface="DM Sans"/>
                        <a:sym typeface="DM Sans"/>
                      </a:endParaRPr>
                    </a:p>
                  </a:txBody>
                  <a:tcPr marL="91425" marR="91425" marT="91425" marB="91425">
                    <a:lnL w="9525" cap="flat" cmpd="sng">
                      <a:solidFill>
                        <a:srgbClr val="B3B5B8"/>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b="1">
                          <a:solidFill>
                            <a:srgbClr val="1C2541"/>
                          </a:solidFill>
                          <a:latin typeface="DM Sans"/>
                          <a:ea typeface="DM Sans"/>
                          <a:cs typeface="DM Sans"/>
                          <a:sym typeface="DM Sans"/>
                        </a:rPr>
                        <a:t>Final</a:t>
                      </a:r>
                      <a:endParaRPr sz="1250" b="1">
                        <a:solidFill>
                          <a:srgbClr val="1C2541"/>
                        </a:solidFill>
                        <a:latin typeface="DM Sans"/>
                        <a:ea typeface="DM Sans"/>
                        <a:cs typeface="DM Sans"/>
                        <a:sym typeface="DM Sans"/>
                      </a:endParaRPr>
                    </a:p>
                  </a:txBody>
                  <a:tcPr marL="91425" marR="91425" marT="91425" marB="91425">
                    <a:lnL w="9525" cap="flat" cmpd="sng">
                      <a:solidFill>
                        <a:srgbClr val="B3B5B8"/>
                      </a:solidFill>
                      <a:prstDash val="solid"/>
                      <a:round/>
                      <a:headEnd type="none" w="sm" len="sm"/>
                      <a:tailEnd type="none" w="sm" len="sm"/>
                    </a:lnL>
                    <a:lnR w="9525" cap="flat" cmpd="sng">
                      <a:solidFill>
                        <a:srgbClr val="B3B5B8"/>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B3B5B8"/>
                      </a:solidFill>
                      <a:prstDash val="solid"/>
                      <a:round/>
                      <a:headEnd type="none" w="sm" len="sm"/>
                      <a:tailEnd type="none" w="sm" len="sm"/>
                    </a:lnB>
                  </a:tcPr>
                </a:tc>
                <a:extLst>
                  <a:ext uri="{0D108BD9-81ED-4DB2-BD59-A6C34878D82A}">
                    <a16:rowId xmlns:a16="http://schemas.microsoft.com/office/drawing/2014/main" val="10000"/>
                  </a:ext>
                </a:extLst>
              </a:tr>
              <a:tr h="342900">
                <a:tc>
                  <a:txBody>
                    <a:bodyPr/>
                    <a:lstStyle/>
                    <a:p>
                      <a:pPr marL="0" lvl="0" indent="0" algn="l" rtl="0">
                        <a:lnSpc>
                          <a:spcPct val="159090"/>
                        </a:lnSpc>
                        <a:spcBef>
                          <a:spcPts val="0"/>
                        </a:spcBef>
                        <a:spcAft>
                          <a:spcPts val="0"/>
                        </a:spcAft>
                        <a:buNone/>
                      </a:pPr>
                      <a:r>
                        <a:rPr lang="en-US" sz="1250">
                          <a:solidFill>
                            <a:srgbClr val="1C2541"/>
                          </a:solidFill>
                          <a:latin typeface="DM Sans"/>
                          <a:ea typeface="DM Sans"/>
                          <a:cs typeface="DM Sans"/>
                          <a:sym typeface="DM Sans"/>
                        </a:rPr>
                        <a:t>No interest rate</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1C2541"/>
                          </a:solidFill>
                          <a:latin typeface="DM Sans"/>
                          <a:ea typeface="DM Sans"/>
                          <a:cs typeface="DM Sans"/>
                          <a:sym typeface="DM Sans"/>
                        </a:rPr>
                        <a:t>26,414 (5.29%)</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A9561C"/>
                          </a:solidFill>
                          <a:latin typeface="DM Sans"/>
                          <a:ea typeface="DM Sans"/>
                          <a:cs typeface="DM Sans"/>
                          <a:sym typeface="DM Sans"/>
                        </a:rPr>
                        <a:t>0</a:t>
                      </a:r>
                      <a:endParaRPr sz="1250">
                        <a:solidFill>
                          <a:srgbClr val="A9561C"/>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B3B5B8"/>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1"/>
                  </a:ext>
                </a:extLst>
              </a:tr>
              <a:tr h="342900">
                <a:tc>
                  <a:txBody>
                    <a:bodyPr/>
                    <a:lstStyle/>
                    <a:p>
                      <a:pPr marL="0" lvl="0" indent="0" algn="l" rtl="0">
                        <a:lnSpc>
                          <a:spcPct val="159090"/>
                        </a:lnSpc>
                        <a:spcBef>
                          <a:spcPts val="0"/>
                        </a:spcBef>
                        <a:spcAft>
                          <a:spcPts val="0"/>
                        </a:spcAft>
                        <a:buNone/>
                      </a:pPr>
                      <a:r>
                        <a:rPr lang="en-US" sz="1250">
                          <a:solidFill>
                            <a:srgbClr val="1C2541"/>
                          </a:solidFill>
                          <a:latin typeface="DM Sans"/>
                          <a:ea typeface="DM Sans"/>
                          <a:cs typeface="DM Sans"/>
                          <a:sym typeface="DM Sans"/>
                        </a:rPr>
                        <a:t>Negative IR, PIC or PIK</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1C2541"/>
                          </a:solidFill>
                          <a:latin typeface="DM Sans"/>
                          <a:ea typeface="DM Sans"/>
                          <a:cs typeface="DM Sans"/>
                          <a:sym typeface="DM Sans"/>
                        </a:rPr>
                        <a:t>526 (0.11%)</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A9561C"/>
                          </a:solidFill>
                          <a:latin typeface="DM Sans"/>
                          <a:ea typeface="DM Sans"/>
                          <a:cs typeface="DM Sans"/>
                          <a:sym typeface="DM Sans"/>
                        </a:rPr>
                        <a:t>0</a:t>
                      </a:r>
                      <a:endParaRPr sz="1250">
                        <a:solidFill>
                          <a:srgbClr val="A9561C"/>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2"/>
                  </a:ext>
                </a:extLst>
              </a:tr>
              <a:tr h="342900">
                <a:tc>
                  <a:txBody>
                    <a:bodyPr/>
                    <a:lstStyle/>
                    <a:p>
                      <a:pPr marL="0" lvl="0" indent="0" algn="l" rtl="0">
                        <a:lnSpc>
                          <a:spcPct val="159090"/>
                        </a:lnSpc>
                        <a:spcBef>
                          <a:spcPts val="0"/>
                        </a:spcBef>
                        <a:spcAft>
                          <a:spcPts val="0"/>
                        </a:spcAft>
                        <a:buNone/>
                      </a:pPr>
                      <a:r>
                        <a:rPr lang="en-US" sz="1250">
                          <a:solidFill>
                            <a:srgbClr val="1C2541"/>
                          </a:solidFill>
                          <a:latin typeface="DM Sans"/>
                          <a:ea typeface="DM Sans"/>
                          <a:cs typeface="DM Sans"/>
                          <a:sym typeface="DM Sans"/>
                        </a:rPr>
                        <a:t>Identity 1 off by &gt; 1bp</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1C2541"/>
                          </a:solidFill>
                          <a:latin typeface="DM Sans"/>
                          <a:ea typeface="DM Sans"/>
                          <a:cs typeface="DM Sans"/>
                          <a:sym typeface="DM Sans"/>
                        </a:rPr>
                        <a:t>706 (0.14%)</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A9561C"/>
                          </a:solidFill>
                          <a:latin typeface="DM Sans"/>
                          <a:ea typeface="DM Sans"/>
                          <a:cs typeface="DM Sans"/>
                          <a:sym typeface="DM Sans"/>
                        </a:rPr>
                        <a:t>339 (0.07%)</a:t>
                      </a:r>
                      <a:endParaRPr sz="1250">
                        <a:solidFill>
                          <a:srgbClr val="A9561C"/>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3"/>
                  </a:ext>
                </a:extLst>
              </a:tr>
              <a:tr h="342900">
                <a:tc>
                  <a:txBody>
                    <a:bodyPr/>
                    <a:lstStyle/>
                    <a:p>
                      <a:pPr marL="0" lvl="0" indent="0" algn="l" rtl="0">
                        <a:lnSpc>
                          <a:spcPct val="159090"/>
                        </a:lnSpc>
                        <a:spcBef>
                          <a:spcPts val="0"/>
                        </a:spcBef>
                        <a:spcAft>
                          <a:spcPts val="0"/>
                        </a:spcAft>
                        <a:buNone/>
                      </a:pPr>
                      <a:r>
                        <a:rPr lang="en-US" sz="1250">
                          <a:solidFill>
                            <a:srgbClr val="5B6778"/>
                          </a:solidFill>
                          <a:latin typeface="DM Sans"/>
                          <a:ea typeface="DM Sans"/>
                          <a:cs typeface="DM Sans"/>
                          <a:sym typeface="DM Sans"/>
                        </a:rPr>
                        <a:t>of which identity 2 also off by &gt; 2pp</a:t>
                      </a:r>
                      <a:endParaRPr sz="1250">
                        <a:solidFill>
                          <a:srgbClr val="5B6778"/>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1C2541"/>
                          </a:solidFill>
                          <a:latin typeface="DM Sans"/>
                          <a:ea typeface="DM Sans"/>
                          <a:cs typeface="DM Sans"/>
                          <a:sym typeface="DM Sans"/>
                        </a:rPr>
                        <a:t>641</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A9561C"/>
                          </a:solidFill>
                          <a:latin typeface="DM Sans"/>
                          <a:ea typeface="DM Sans"/>
                          <a:cs typeface="DM Sans"/>
                          <a:sym typeface="DM Sans"/>
                        </a:rPr>
                        <a:t>0</a:t>
                      </a:r>
                      <a:endParaRPr sz="1250">
                        <a:solidFill>
                          <a:srgbClr val="A9561C"/>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4"/>
                  </a:ext>
                </a:extLst>
              </a:tr>
              <a:tr h="342900">
                <a:tc>
                  <a:txBody>
                    <a:bodyPr/>
                    <a:lstStyle/>
                    <a:p>
                      <a:pPr marL="0" lvl="0" indent="0" algn="l" rtl="0">
                        <a:lnSpc>
                          <a:spcPct val="159090"/>
                        </a:lnSpc>
                        <a:spcBef>
                          <a:spcPts val="0"/>
                        </a:spcBef>
                        <a:spcAft>
                          <a:spcPts val="0"/>
                        </a:spcAft>
                        <a:buNone/>
                      </a:pPr>
                      <a:r>
                        <a:rPr lang="en-US" sz="1250">
                          <a:solidFill>
                            <a:srgbClr val="1C2541"/>
                          </a:solidFill>
                          <a:latin typeface="DM Sans"/>
                          <a:ea typeface="DM Sans"/>
                          <a:cs typeface="DM Sans"/>
                          <a:sym typeface="DM Sans"/>
                        </a:rPr>
                        <a:t>Identity 2 off by &gt; 2pp (spread only)</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1C2541"/>
                          </a:solidFill>
                          <a:latin typeface="DM Sans"/>
                          <a:ea typeface="DM Sans"/>
                          <a:cs typeface="DM Sans"/>
                          <a:sym typeface="DM Sans"/>
                        </a:rPr>
                        <a:t>9,075 (1.82%)</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A9561C"/>
                          </a:solidFill>
                          <a:latin typeface="DM Sans"/>
                          <a:ea typeface="DM Sans"/>
                          <a:cs typeface="DM Sans"/>
                          <a:sym typeface="DM Sans"/>
                        </a:rPr>
                        <a:t>4,787 (0.96%)</a:t>
                      </a:r>
                      <a:endParaRPr sz="1250">
                        <a:solidFill>
                          <a:srgbClr val="A9561C"/>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5"/>
                  </a:ext>
                </a:extLst>
              </a:tr>
              <a:tr h="314325">
                <a:tc>
                  <a:txBody>
                    <a:bodyPr/>
                    <a:lstStyle/>
                    <a:p>
                      <a:pPr marL="0" lvl="0" indent="0" algn="l" rtl="0">
                        <a:lnSpc>
                          <a:spcPct val="115000"/>
                        </a:lnSpc>
                        <a:spcBef>
                          <a:spcPts val="0"/>
                        </a:spcBef>
                        <a:spcAft>
                          <a:spcPts val="0"/>
                        </a:spcAft>
                        <a:buNone/>
                      </a:pPr>
                      <a:r>
                        <a:rPr lang="en-US" sz="1250" b="1">
                          <a:latin typeface="DM Sans"/>
                          <a:ea typeface="DM Sans"/>
                          <a:cs typeface="DM Sans"/>
                          <a:sym typeface="DM Sans"/>
                        </a:rPr>
                        <a:t>Pass every check</a:t>
                      </a:r>
                      <a:endParaRPr sz="1250" b="1">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1250">
                          <a:latin typeface="DM Sans"/>
                          <a:ea typeface="DM Sans"/>
                          <a:cs typeface="DM Sans"/>
                          <a:sym typeface="DM Sans"/>
                        </a:rPr>
                        <a:t>462,278 (92.64%)</a:t>
                      </a:r>
                      <a:endParaRPr sz="1250">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US" sz="1250" b="1">
                          <a:latin typeface="DM Sans"/>
                          <a:ea typeface="DM Sans"/>
                          <a:cs typeface="DM Sans"/>
                          <a:sym typeface="DM Sans"/>
                        </a:rPr>
                        <a:t>491,376 (98.97%)</a:t>
                      </a:r>
                      <a:endParaRPr sz="1250" b="1">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6"/>
                  </a:ext>
                </a:extLst>
              </a:tr>
              <a:tr h="342900">
                <a:tc>
                  <a:txBody>
                    <a:bodyPr/>
                    <a:lstStyle/>
                    <a:p>
                      <a:pPr marL="0" lvl="0" indent="0" algn="l" rtl="0">
                        <a:lnSpc>
                          <a:spcPct val="159090"/>
                        </a:lnSpc>
                        <a:spcBef>
                          <a:spcPts val="0"/>
                        </a:spcBef>
                        <a:spcAft>
                          <a:spcPts val="0"/>
                        </a:spcAft>
                        <a:buNone/>
                      </a:pPr>
                      <a:r>
                        <a:rPr lang="en-US" sz="1250">
                          <a:solidFill>
                            <a:srgbClr val="1C2541"/>
                          </a:solidFill>
                          <a:latin typeface="DM Sans"/>
                          <a:ea typeface="DM Sans"/>
                          <a:cs typeface="DM Sans"/>
                          <a:sym typeface="DM Sans"/>
                        </a:rPr>
                        <a:t>Total: rows that should carry a coupon</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1C2541"/>
                          </a:solidFill>
                          <a:latin typeface="DM Sans"/>
                          <a:ea typeface="DM Sans"/>
                          <a:cs typeface="DM Sans"/>
                          <a:sym typeface="DM Sans"/>
                        </a:rPr>
                        <a:t>498,999</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tc>
                  <a:txBody>
                    <a:bodyPr/>
                    <a:lstStyle/>
                    <a:p>
                      <a:pPr marL="0" lvl="0" indent="0" algn="r" rtl="0">
                        <a:lnSpc>
                          <a:spcPct val="159090"/>
                        </a:lnSpc>
                        <a:spcBef>
                          <a:spcPts val="0"/>
                        </a:spcBef>
                        <a:spcAft>
                          <a:spcPts val="0"/>
                        </a:spcAft>
                        <a:buNone/>
                      </a:pPr>
                      <a:r>
                        <a:rPr lang="en-US" sz="1250">
                          <a:solidFill>
                            <a:srgbClr val="1C2541"/>
                          </a:solidFill>
                          <a:latin typeface="DM Sans"/>
                          <a:ea typeface="DM Sans"/>
                          <a:cs typeface="DM Sans"/>
                          <a:sym typeface="DM Sans"/>
                        </a:rPr>
                        <a:t>496,502</a:t>
                      </a:r>
                      <a:endParaRPr sz="1250">
                        <a:solidFill>
                          <a:srgbClr val="1C2541"/>
                        </a:solidFill>
                        <a:latin typeface="DM Sans"/>
                        <a:ea typeface="DM Sans"/>
                        <a:cs typeface="DM Sans"/>
                        <a:sym typeface="DM Sans"/>
                      </a:endParaRPr>
                    </a:p>
                  </a:txBody>
                  <a:tcPr marL="91425" marR="91425" marT="91425" marB="91425">
                    <a:lnL w="9525" cap="flat" cmpd="sng">
                      <a:solidFill>
                        <a:srgbClr val="C1C4C6"/>
                      </a:solidFill>
                      <a:prstDash val="solid"/>
                      <a:round/>
                      <a:headEnd type="none" w="sm" len="sm"/>
                      <a:tailEnd type="none" w="sm" len="sm"/>
                    </a:lnL>
                    <a:lnR w="9525" cap="flat" cmpd="sng">
                      <a:solidFill>
                        <a:srgbClr val="C1C4C6"/>
                      </a:solidFill>
                      <a:prstDash val="solid"/>
                      <a:round/>
                      <a:headEnd type="none" w="sm" len="sm"/>
                      <a:tailEnd type="none" w="sm" len="sm"/>
                    </a:lnR>
                    <a:lnT w="9525" cap="flat" cmpd="sng">
                      <a:solidFill>
                        <a:srgbClr val="C1C4C6"/>
                      </a:solidFill>
                      <a:prstDash val="solid"/>
                      <a:round/>
                      <a:headEnd type="none" w="sm" len="sm"/>
                      <a:tailEnd type="none" w="sm" len="sm"/>
                    </a:lnT>
                    <a:lnB w="9525" cap="flat" cmpd="sng">
                      <a:solidFill>
                        <a:srgbClr val="C1C4C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175" name="Google Shape;175;h71c2a19aba2f255b_0_175"/>
          <p:cNvSpPr txBox="1"/>
          <p:nvPr/>
        </p:nvSpPr>
        <p:spPr>
          <a:xfrm>
            <a:off x="596100" y="5223250"/>
            <a:ext cx="10544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t>IR &lt; PIK: 1,231 rows in v1, 0 final. Final total = 502,299 rows less 5,797 zero-rate rows (unfunded revolvers, “—%”).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180"/>
        <p:cNvGrpSpPr/>
        <p:nvPr/>
      </p:nvGrpSpPr>
      <p:grpSpPr>
        <a:xfrm>
          <a:off x="0" y="0"/>
          <a:ext cx="0" cy="0"/>
          <a:chOff x="0" y="0"/>
          <a:chExt cx="0" cy="0"/>
        </a:xfrm>
      </p:grpSpPr>
      <p:pic>
        <p:nvPicPr>
          <p:cNvPr id="181" name="Google Shape;181;h620169dc979318e4_0_44"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182" name="Google Shape;182;h620169dc979318e4_0_44"/>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183" name="Google Shape;183;h620169dc979318e4_0_44"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184" name="Google Shape;184;h620169dc979318e4_0_44"/>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185" name="Google Shape;185;h620169dc979318e4_0_44"/>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186" name="Google Shape;186;h620169dc979318e4_0_44"/>
          <p:cNvSpPr txBox="1"/>
          <p:nvPr/>
        </p:nvSpPr>
        <p:spPr>
          <a:xfrm>
            <a:off x="596100" y="590825"/>
            <a:ext cx="11385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Borrower Name Cleaning</a:t>
            </a:r>
            <a:endParaRPr sz="1800" b="0" i="0" u="none" strike="noStrike" cap="none">
              <a:solidFill>
                <a:schemeClr val="dk1"/>
              </a:solidFill>
              <a:latin typeface="Calibri"/>
              <a:ea typeface="Calibri"/>
              <a:cs typeface="Calibri"/>
              <a:sym typeface="Calibri"/>
            </a:endParaRPr>
          </a:p>
        </p:txBody>
      </p:sp>
      <p:sp>
        <p:nvSpPr>
          <p:cNvPr id="187" name="Google Shape;187;h620169dc979318e4_0_44"/>
          <p:cNvSpPr txBox="1"/>
          <p:nvPr/>
        </p:nvSpPr>
        <p:spPr>
          <a:xfrm>
            <a:off x="596100" y="1120750"/>
            <a:ext cx="10544100" cy="42021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SzPts val="1800"/>
              <a:buChar char="●"/>
            </a:pPr>
            <a:r>
              <a:rPr lang="en-US" sz="1800"/>
              <a:t>Problem (Benchmark: 4,460 manually corrected borrower names checked by opus 5.5)</a:t>
            </a: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p:txBody>
      </p:sp>
      <p:graphicFrame>
        <p:nvGraphicFramePr>
          <p:cNvPr id="188" name="Google Shape;188;h620169dc979318e4_0_44"/>
          <p:cNvGraphicFramePr/>
          <p:nvPr/>
        </p:nvGraphicFramePr>
        <p:xfrm>
          <a:off x="337825" y="1730400"/>
          <a:ext cx="3000000" cy="3000000"/>
        </p:xfrm>
        <a:graphic>
          <a:graphicData uri="http://schemas.openxmlformats.org/drawingml/2006/table">
            <a:tbl>
              <a:tblPr>
                <a:noFill/>
                <a:tableStyleId>{EAF177DA-8825-4B7D-8D7F-2EE941730BF3}</a:tableStyleId>
              </a:tblPr>
              <a:tblGrid>
                <a:gridCol w="1980275">
                  <a:extLst>
                    <a:ext uri="{9D8B030D-6E8A-4147-A177-3AD203B41FA5}">
                      <a16:colId xmlns:a16="http://schemas.microsoft.com/office/drawing/2014/main" val="20000"/>
                    </a:ext>
                  </a:extLst>
                </a:gridCol>
                <a:gridCol w="835575">
                  <a:extLst>
                    <a:ext uri="{9D8B030D-6E8A-4147-A177-3AD203B41FA5}">
                      <a16:colId xmlns:a16="http://schemas.microsoft.com/office/drawing/2014/main" val="20001"/>
                    </a:ext>
                  </a:extLst>
                </a:gridCol>
                <a:gridCol w="852650">
                  <a:extLst>
                    <a:ext uri="{9D8B030D-6E8A-4147-A177-3AD203B41FA5}">
                      <a16:colId xmlns:a16="http://schemas.microsoft.com/office/drawing/2014/main" val="20002"/>
                    </a:ext>
                  </a:extLst>
                </a:gridCol>
                <a:gridCol w="3128750">
                  <a:extLst>
                    <a:ext uri="{9D8B030D-6E8A-4147-A177-3AD203B41FA5}">
                      <a16:colId xmlns:a16="http://schemas.microsoft.com/office/drawing/2014/main" val="20003"/>
                    </a:ext>
                  </a:extLst>
                </a:gridCol>
                <a:gridCol w="4719075">
                  <a:extLst>
                    <a:ext uri="{9D8B030D-6E8A-4147-A177-3AD203B41FA5}">
                      <a16:colId xmlns:a16="http://schemas.microsoft.com/office/drawing/2014/main" val="20004"/>
                    </a:ext>
                  </a:extLst>
                </a:gridCol>
              </a:tblGrid>
              <a:tr h="528700">
                <a:tc>
                  <a:txBody>
                    <a:bodyPr/>
                    <a:lstStyle/>
                    <a:p>
                      <a:pPr marL="0" lvl="0" indent="0" algn="ctr" rtl="0">
                        <a:spcBef>
                          <a:spcPts val="0"/>
                        </a:spcBef>
                        <a:spcAft>
                          <a:spcPts val="0"/>
                        </a:spcAft>
                        <a:buNone/>
                      </a:pPr>
                      <a:r>
                        <a:rPr lang="en-US" sz="1600" b="1"/>
                        <a:t>Error category</a:t>
                      </a:r>
                      <a:endParaRPr sz="1600" b="1"/>
                    </a:p>
                  </a:txBody>
                  <a:tcPr marL="91425" marR="91425" marT="91425" marB="91425" anchor="ctr"/>
                </a:tc>
                <a:tc>
                  <a:txBody>
                    <a:bodyPr/>
                    <a:lstStyle/>
                    <a:p>
                      <a:pPr marL="0" lvl="0" indent="0" algn="ctr" rtl="0">
                        <a:spcBef>
                          <a:spcPts val="0"/>
                        </a:spcBef>
                        <a:spcAft>
                          <a:spcPts val="0"/>
                        </a:spcAft>
                        <a:buNone/>
                      </a:pPr>
                      <a:r>
                        <a:rPr lang="en-US" sz="1600" b="1"/>
                        <a:t>Count</a:t>
                      </a:r>
                      <a:endParaRPr sz="1600" b="1"/>
                    </a:p>
                  </a:txBody>
                  <a:tcPr marL="91425" marR="91425" marT="91425" marB="91425" anchor="ctr"/>
                </a:tc>
                <a:tc>
                  <a:txBody>
                    <a:bodyPr/>
                    <a:lstStyle/>
                    <a:p>
                      <a:pPr marL="0" lvl="0" indent="0" algn="ctr" rtl="0">
                        <a:spcBef>
                          <a:spcPts val="0"/>
                        </a:spcBef>
                        <a:spcAft>
                          <a:spcPts val="0"/>
                        </a:spcAft>
                        <a:buNone/>
                      </a:pPr>
                      <a:r>
                        <a:rPr lang="en-US" sz="1600" b="1"/>
                        <a:t>Share</a:t>
                      </a:r>
                      <a:endParaRPr sz="1600" b="1"/>
                    </a:p>
                  </a:txBody>
                  <a:tcPr marL="91425" marR="91425" marT="91425" marB="91425" anchor="ctr"/>
                </a:tc>
                <a:tc>
                  <a:txBody>
                    <a:bodyPr/>
                    <a:lstStyle/>
                    <a:p>
                      <a:pPr marL="0" lvl="0" indent="0" algn="ctr" rtl="0">
                        <a:spcBef>
                          <a:spcPts val="0"/>
                        </a:spcBef>
                        <a:spcAft>
                          <a:spcPts val="0"/>
                        </a:spcAft>
                        <a:buNone/>
                      </a:pPr>
                      <a:r>
                        <a:rPr lang="en-US" sz="1600" b="1"/>
                        <a:t>Problem</a:t>
                      </a:r>
                      <a:endParaRPr sz="1600" b="1"/>
                    </a:p>
                  </a:txBody>
                  <a:tcPr marL="91425" marR="91425" marT="91425" marB="91425" anchor="ctr"/>
                </a:tc>
                <a:tc>
                  <a:txBody>
                    <a:bodyPr/>
                    <a:lstStyle/>
                    <a:p>
                      <a:pPr marL="0" lvl="0" indent="0" algn="ctr" rtl="0">
                        <a:spcBef>
                          <a:spcPts val="0"/>
                        </a:spcBef>
                        <a:spcAft>
                          <a:spcPts val="0"/>
                        </a:spcAft>
                        <a:buNone/>
                      </a:pPr>
                      <a:r>
                        <a:rPr lang="en-US" sz="1600" b="1"/>
                        <a:t>Example (Borrower Name / </a:t>
                      </a:r>
                      <a:r>
                        <a:rPr lang="en-US" sz="1600" b="1">
                          <a:solidFill>
                            <a:srgbClr val="FF0000"/>
                          </a:solidFill>
                        </a:rPr>
                        <a:t>Incorrect </a:t>
                      </a:r>
                      <a:r>
                        <a:rPr lang="en-US" sz="1600" b="1"/>
                        <a:t>/ </a:t>
                      </a:r>
                      <a:r>
                        <a:rPr lang="en-US" sz="1600" b="1">
                          <a:solidFill>
                            <a:srgbClr val="38761D"/>
                          </a:solidFill>
                        </a:rPr>
                        <a:t>Correct</a:t>
                      </a:r>
                      <a:r>
                        <a:rPr lang="en-US" sz="1600" b="1"/>
                        <a:t>)</a:t>
                      </a:r>
                      <a:endParaRPr sz="1600" b="1"/>
                    </a:p>
                  </a:txBody>
                  <a:tcPr marL="91425" marR="91425" marT="91425" marB="91425" anchor="ctr"/>
                </a:tc>
                <a:extLst>
                  <a:ext uri="{0D108BD9-81ED-4DB2-BD59-A6C34878D82A}">
                    <a16:rowId xmlns:a16="http://schemas.microsoft.com/office/drawing/2014/main" val="10000"/>
                  </a:ext>
                </a:extLst>
              </a:tr>
              <a:tr h="633350">
                <a:tc>
                  <a:txBody>
                    <a:bodyPr/>
                    <a:lstStyle/>
                    <a:p>
                      <a:pPr marL="0" lvl="0" indent="0" algn="l" rtl="0">
                        <a:spcBef>
                          <a:spcPts val="0"/>
                        </a:spcBef>
                        <a:spcAft>
                          <a:spcPts val="0"/>
                        </a:spcAft>
                        <a:buNone/>
                      </a:pPr>
                      <a:r>
                        <a:rPr lang="en-US" sz="1600"/>
                        <a:t>Row shift</a:t>
                      </a:r>
                      <a:endParaRPr sz="1600"/>
                    </a:p>
                  </a:txBody>
                  <a:tcPr marL="91425" marR="91425" marT="91425" marB="91425" anchor="ctr"/>
                </a:tc>
                <a:tc>
                  <a:txBody>
                    <a:bodyPr/>
                    <a:lstStyle/>
                    <a:p>
                      <a:pPr marL="0" lvl="0" indent="0" algn="l" rtl="0">
                        <a:spcBef>
                          <a:spcPts val="0"/>
                        </a:spcBef>
                        <a:spcAft>
                          <a:spcPts val="0"/>
                        </a:spcAft>
                        <a:buNone/>
                      </a:pPr>
                      <a:r>
                        <a:rPr lang="en-US" sz="1600"/>
                        <a:t>3,038</a:t>
                      </a:r>
                      <a:endParaRPr sz="1600"/>
                    </a:p>
                  </a:txBody>
                  <a:tcPr marL="91425" marR="91425" marT="91425" marB="91425" anchor="ctr"/>
                </a:tc>
                <a:tc>
                  <a:txBody>
                    <a:bodyPr/>
                    <a:lstStyle/>
                    <a:p>
                      <a:pPr marL="0" lvl="0" indent="0" algn="l" rtl="0">
                        <a:spcBef>
                          <a:spcPts val="0"/>
                        </a:spcBef>
                        <a:spcAft>
                          <a:spcPts val="0"/>
                        </a:spcAft>
                        <a:buNone/>
                      </a:pPr>
                      <a:r>
                        <a:rPr lang="en-US" sz="1600"/>
                        <a:t>68.1%</a:t>
                      </a:r>
                      <a:endParaRPr sz="1600"/>
                    </a:p>
                  </a:txBody>
                  <a:tcPr marL="91425" marR="91425" marT="91425" marB="91425" anchor="ctr"/>
                </a:tc>
                <a:tc>
                  <a:txBody>
                    <a:bodyPr/>
                    <a:lstStyle/>
                    <a:p>
                      <a:pPr marL="0" lvl="0" indent="0" algn="l" rtl="0">
                        <a:spcBef>
                          <a:spcPts val="0"/>
                        </a:spcBef>
                        <a:spcAft>
                          <a:spcPts val="0"/>
                        </a:spcAft>
                        <a:buNone/>
                      </a:pPr>
                      <a:r>
                        <a:rPr lang="en-US" sz="1600"/>
                        <a:t>Output for one borrower was assigned to another row</a:t>
                      </a:r>
                      <a:endParaRPr sz="1600"/>
                    </a:p>
                  </a:txBody>
                  <a:tcPr marL="91425" marR="91425" marT="91425" marB="91425" anchor="ctr"/>
                </a:tc>
                <a:tc>
                  <a:txBody>
                    <a:bodyPr/>
                    <a:lstStyle/>
                    <a:p>
                      <a:pPr marL="0" lvl="0" indent="0" algn="l" rtl="0">
                        <a:spcBef>
                          <a:spcPts val="0"/>
                        </a:spcBef>
                        <a:spcAft>
                          <a:spcPts val="0"/>
                        </a:spcAft>
                        <a:buNone/>
                      </a:pPr>
                      <a:r>
                        <a:rPr lang="en-US" sz="1600"/>
                        <a:t>Row A receives Row B’s prediction</a:t>
                      </a:r>
                      <a:endParaRPr sz="1600"/>
                    </a:p>
                  </a:txBody>
                  <a:tcPr marL="91425" marR="91425" marT="91425" marB="91425" anchor="ctr"/>
                </a:tc>
                <a:extLst>
                  <a:ext uri="{0D108BD9-81ED-4DB2-BD59-A6C34878D82A}">
                    <a16:rowId xmlns:a16="http://schemas.microsoft.com/office/drawing/2014/main" val="10001"/>
                  </a:ext>
                </a:extLst>
              </a:tr>
              <a:tr h="633350">
                <a:tc>
                  <a:txBody>
                    <a:bodyPr/>
                    <a:lstStyle/>
                    <a:p>
                      <a:pPr marL="0" lvl="0" indent="0" algn="l" rtl="0">
                        <a:spcBef>
                          <a:spcPts val="0"/>
                        </a:spcBef>
                        <a:spcAft>
                          <a:spcPts val="0"/>
                        </a:spcAft>
                        <a:buNone/>
                      </a:pPr>
                      <a:r>
                        <a:rPr lang="en-US" sz="1600"/>
                        <a:t>Fund vehicle instead of borrower</a:t>
                      </a:r>
                      <a:endParaRPr sz="1600"/>
                    </a:p>
                  </a:txBody>
                  <a:tcPr marL="91425" marR="91425" marT="91425" marB="91425" anchor="ctr"/>
                </a:tc>
                <a:tc>
                  <a:txBody>
                    <a:bodyPr/>
                    <a:lstStyle/>
                    <a:p>
                      <a:pPr marL="0" lvl="0" indent="0" algn="l" rtl="0">
                        <a:spcBef>
                          <a:spcPts val="0"/>
                        </a:spcBef>
                        <a:spcAft>
                          <a:spcPts val="0"/>
                        </a:spcAft>
                        <a:buNone/>
                      </a:pPr>
                      <a:r>
                        <a:rPr lang="en-US" sz="1600"/>
                        <a:t>1,053</a:t>
                      </a:r>
                      <a:endParaRPr sz="1600"/>
                    </a:p>
                  </a:txBody>
                  <a:tcPr marL="91425" marR="91425" marT="91425" marB="91425" anchor="ctr"/>
                </a:tc>
                <a:tc>
                  <a:txBody>
                    <a:bodyPr/>
                    <a:lstStyle/>
                    <a:p>
                      <a:pPr marL="0" lvl="0" indent="0" algn="l" rtl="0">
                        <a:spcBef>
                          <a:spcPts val="0"/>
                        </a:spcBef>
                        <a:spcAft>
                          <a:spcPts val="0"/>
                        </a:spcAft>
                        <a:buNone/>
                      </a:pPr>
                      <a:r>
                        <a:rPr lang="en-US" sz="1600"/>
                        <a:t>23.6%</a:t>
                      </a:r>
                      <a:endParaRPr sz="1600"/>
                    </a:p>
                  </a:txBody>
                  <a:tcPr marL="91425" marR="91425" marT="91425" marB="91425" anchor="ctr"/>
                </a:tc>
                <a:tc>
                  <a:txBody>
                    <a:bodyPr/>
                    <a:lstStyle/>
                    <a:p>
                      <a:pPr marL="0" lvl="0" indent="0" algn="l" rtl="0">
                        <a:spcBef>
                          <a:spcPts val="0"/>
                        </a:spcBef>
                        <a:spcAft>
                          <a:spcPts val="0"/>
                        </a:spcAft>
                        <a:buNone/>
                      </a:pPr>
                      <a:r>
                        <a:rPr lang="en-US" sz="1600"/>
                        <a:t>Model selected a JV, SPV or reporting vehicle</a:t>
                      </a:r>
                      <a:endParaRPr sz="1600"/>
                    </a:p>
                  </a:txBody>
                  <a:tcPr marL="91425" marR="91425" marT="91425" marB="91425" anchor="ctr"/>
                </a:tc>
                <a:tc>
                  <a:txBody>
                    <a:bodyPr/>
                    <a:lstStyle/>
                    <a:p>
                      <a:pPr marL="0" lvl="0" indent="0" algn="l" rtl="0">
                        <a:spcBef>
                          <a:spcPts val="0"/>
                        </a:spcBef>
                        <a:spcAft>
                          <a:spcPts val="0"/>
                        </a:spcAft>
                        <a:buNone/>
                      </a:pPr>
                      <a:r>
                        <a:rPr lang="en-US" sz="1600">
                          <a:solidFill>
                            <a:schemeClr val="dk1"/>
                          </a:solidFill>
                        </a:rPr>
                        <a:t>Emerald JV LP, CP Atlas Buyer, Inc. / </a:t>
                      </a:r>
                      <a:r>
                        <a:rPr lang="en-US" sz="1600">
                          <a:solidFill>
                            <a:srgbClr val="FF0000"/>
                          </a:solidFill>
                        </a:rPr>
                        <a:t>Emerald JV LP</a:t>
                      </a:r>
                      <a:r>
                        <a:rPr lang="en-US" sz="1600"/>
                        <a:t> / </a:t>
                      </a:r>
                      <a:r>
                        <a:rPr lang="en-US" sz="1600">
                          <a:solidFill>
                            <a:srgbClr val="38761D"/>
                          </a:solidFill>
                        </a:rPr>
                        <a:t>CP Atlas Buyer, Inc.</a:t>
                      </a:r>
                      <a:endParaRPr sz="1600">
                        <a:solidFill>
                          <a:srgbClr val="38761D"/>
                        </a:solidFill>
                      </a:endParaRPr>
                    </a:p>
                  </a:txBody>
                  <a:tcPr marL="91425" marR="91425" marT="91425" marB="91425" anchor="ctr"/>
                </a:tc>
                <a:extLst>
                  <a:ext uri="{0D108BD9-81ED-4DB2-BD59-A6C34878D82A}">
                    <a16:rowId xmlns:a16="http://schemas.microsoft.com/office/drawing/2014/main" val="10002"/>
                  </a:ext>
                </a:extLst>
              </a:tr>
              <a:tr h="633350">
                <a:tc>
                  <a:txBody>
                    <a:bodyPr/>
                    <a:lstStyle/>
                    <a:p>
                      <a:pPr marL="0" lvl="0" indent="0" algn="l" rtl="0">
                        <a:spcBef>
                          <a:spcPts val="0"/>
                        </a:spcBef>
                        <a:spcAft>
                          <a:spcPts val="0"/>
                        </a:spcAft>
                        <a:buNone/>
                      </a:pPr>
                      <a:r>
                        <a:rPr lang="en-US" sz="1600"/>
                        <a:t>No-borrower placeholder</a:t>
                      </a:r>
                      <a:endParaRPr sz="1600"/>
                    </a:p>
                  </a:txBody>
                  <a:tcPr marL="91425" marR="91425" marT="91425" marB="91425" anchor="ctr"/>
                </a:tc>
                <a:tc>
                  <a:txBody>
                    <a:bodyPr/>
                    <a:lstStyle/>
                    <a:p>
                      <a:pPr marL="0" lvl="0" indent="0" algn="l" rtl="0">
                        <a:spcBef>
                          <a:spcPts val="0"/>
                        </a:spcBef>
                        <a:spcAft>
                          <a:spcPts val="0"/>
                        </a:spcAft>
                        <a:buNone/>
                      </a:pPr>
                      <a:r>
                        <a:rPr lang="en-US" sz="1600"/>
                        <a:t>171</a:t>
                      </a:r>
                      <a:endParaRPr sz="1600"/>
                    </a:p>
                  </a:txBody>
                  <a:tcPr marL="91425" marR="91425" marT="91425" marB="91425" anchor="ctr"/>
                </a:tc>
                <a:tc>
                  <a:txBody>
                    <a:bodyPr/>
                    <a:lstStyle/>
                    <a:p>
                      <a:pPr marL="0" lvl="0" indent="0" algn="l" rtl="0">
                        <a:spcBef>
                          <a:spcPts val="0"/>
                        </a:spcBef>
                        <a:spcAft>
                          <a:spcPts val="0"/>
                        </a:spcAft>
                        <a:buNone/>
                      </a:pPr>
                      <a:r>
                        <a:rPr lang="en-US" sz="1600"/>
                        <a:t>3.8%</a:t>
                      </a:r>
                      <a:endParaRPr sz="1600"/>
                    </a:p>
                  </a:txBody>
                  <a:tcPr marL="91425" marR="91425" marT="91425" marB="91425" anchor="ctr"/>
                </a:tc>
                <a:tc>
                  <a:txBody>
                    <a:bodyPr/>
                    <a:lstStyle/>
                    <a:p>
                      <a:pPr marL="0" lvl="0" indent="0" algn="l" rtl="0">
                        <a:spcBef>
                          <a:spcPts val="0"/>
                        </a:spcBef>
                        <a:spcAft>
                          <a:spcPts val="0"/>
                        </a:spcAft>
                        <a:buNone/>
                      </a:pPr>
                      <a:r>
                        <a:rPr lang="en-US" sz="1600"/>
                        <a:t>Model returned null/placeholder despite an identifiable borrower</a:t>
                      </a:r>
                      <a:endParaRPr sz="1600"/>
                    </a:p>
                  </a:txBody>
                  <a:tcPr marL="91425" marR="91425" marT="91425" marB="91425" anchor="ctr"/>
                </a:tc>
                <a:tc>
                  <a:txBody>
                    <a:bodyPr/>
                    <a:lstStyle/>
                    <a:p>
                      <a:pPr marL="0" lvl="0" indent="0" algn="l" rtl="0">
                        <a:spcBef>
                          <a:spcPts val="0"/>
                        </a:spcBef>
                        <a:spcAft>
                          <a:spcPts val="0"/>
                        </a:spcAft>
                        <a:buNone/>
                      </a:pPr>
                      <a:r>
                        <a:rPr lang="en-US" sz="1600">
                          <a:solidFill>
                            <a:srgbClr val="0B0B0B"/>
                          </a:solidFill>
                        </a:rPr>
                        <a:t>... Media Encore Investment Type… / </a:t>
                      </a:r>
                      <a:r>
                        <a:rPr lang="en-US" sz="1600">
                          <a:solidFill>
                            <a:srgbClr val="FF0000"/>
                          </a:solidFill>
                        </a:rPr>
                        <a:t>[Null] </a:t>
                      </a:r>
                      <a:r>
                        <a:rPr lang="en-US" sz="1600">
                          <a:solidFill>
                            <a:srgbClr val="0B0B0B"/>
                          </a:solidFill>
                        </a:rPr>
                        <a:t>/ </a:t>
                      </a:r>
                      <a:r>
                        <a:rPr lang="en-US" sz="1600">
                          <a:solidFill>
                            <a:srgbClr val="38761D"/>
                          </a:solidFill>
                        </a:rPr>
                        <a:t>Encore</a:t>
                      </a:r>
                      <a:endParaRPr sz="1600">
                        <a:solidFill>
                          <a:srgbClr val="38761D"/>
                        </a:solidFill>
                      </a:endParaRPr>
                    </a:p>
                  </a:txBody>
                  <a:tcPr marL="91425" marR="91425" marT="91425" marB="91425" anchor="ctr"/>
                </a:tc>
                <a:extLst>
                  <a:ext uri="{0D108BD9-81ED-4DB2-BD59-A6C34878D82A}">
                    <a16:rowId xmlns:a16="http://schemas.microsoft.com/office/drawing/2014/main" val="10003"/>
                  </a:ext>
                </a:extLst>
              </a:tr>
              <a:tr h="633350">
                <a:tc>
                  <a:txBody>
                    <a:bodyPr/>
                    <a:lstStyle/>
                    <a:p>
                      <a:pPr marL="0" lvl="0" indent="0" algn="l" rtl="0">
                        <a:spcBef>
                          <a:spcPts val="0"/>
                        </a:spcBef>
                        <a:spcAft>
                          <a:spcPts val="0"/>
                        </a:spcAft>
                        <a:buNone/>
                      </a:pPr>
                      <a:r>
                        <a:rPr lang="en-US" sz="1600"/>
                        <a:t>Fund vehicle appended</a:t>
                      </a:r>
                      <a:endParaRPr sz="1600"/>
                    </a:p>
                  </a:txBody>
                  <a:tcPr marL="91425" marR="91425" marT="91425" marB="91425" anchor="ctr"/>
                </a:tc>
                <a:tc>
                  <a:txBody>
                    <a:bodyPr/>
                    <a:lstStyle/>
                    <a:p>
                      <a:pPr marL="0" lvl="0" indent="0" algn="l" rtl="0">
                        <a:spcBef>
                          <a:spcPts val="0"/>
                        </a:spcBef>
                        <a:spcAft>
                          <a:spcPts val="0"/>
                        </a:spcAft>
                        <a:buNone/>
                      </a:pPr>
                      <a:r>
                        <a:rPr lang="en-US" sz="1600"/>
                        <a:t>147</a:t>
                      </a:r>
                      <a:endParaRPr sz="1600"/>
                    </a:p>
                  </a:txBody>
                  <a:tcPr marL="91425" marR="91425" marT="91425" marB="91425" anchor="ctr"/>
                </a:tc>
                <a:tc>
                  <a:txBody>
                    <a:bodyPr/>
                    <a:lstStyle/>
                    <a:p>
                      <a:pPr marL="0" lvl="0" indent="0" algn="l" rtl="0">
                        <a:spcBef>
                          <a:spcPts val="0"/>
                        </a:spcBef>
                        <a:spcAft>
                          <a:spcPts val="0"/>
                        </a:spcAft>
                        <a:buNone/>
                      </a:pPr>
                      <a:r>
                        <a:rPr lang="en-US" sz="1600"/>
                        <a:t>3.3%</a:t>
                      </a:r>
                      <a:endParaRPr sz="1600"/>
                    </a:p>
                  </a:txBody>
                  <a:tcPr marL="91425" marR="91425" marT="91425" marB="91425" anchor="ctr"/>
                </a:tc>
                <a:tc>
                  <a:txBody>
                    <a:bodyPr/>
                    <a:lstStyle/>
                    <a:p>
                      <a:pPr marL="0" lvl="0" indent="0" algn="l" rtl="0">
                        <a:spcBef>
                          <a:spcPts val="0"/>
                        </a:spcBef>
                        <a:spcAft>
                          <a:spcPts val="0"/>
                        </a:spcAft>
                        <a:buNone/>
                      </a:pPr>
                      <a:r>
                        <a:rPr lang="en-US" sz="1600"/>
                        <a:t>Borrower was retained together with an unrelated fund vehicle</a:t>
                      </a:r>
                      <a:endParaRPr sz="1600"/>
                    </a:p>
                  </a:txBody>
                  <a:tcPr marL="91425" marR="91425" marT="91425" marB="91425" anchor="ct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rPr>
                        <a:t>CDK Global Inc., Verdelite JV LP / </a:t>
                      </a:r>
                      <a:r>
                        <a:rPr lang="en-US" sz="1600">
                          <a:solidFill>
                            <a:srgbClr val="FF0000"/>
                          </a:solidFill>
                        </a:rPr>
                        <a:t>CDK Global Inc., Verdelite JV LP</a:t>
                      </a:r>
                      <a:r>
                        <a:rPr lang="en-US" sz="1600">
                          <a:solidFill>
                            <a:schemeClr val="dk1"/>
                          </a:solidFill>
                        </a:rPr>
                        <a:t> / </a:t>
                      </a:r>
                      <a:r>
                        <a:rPr lang="en-US" sz="1600">
                          <a:solidFill>
                            <a:srgbClr val="38761D"/>
                          </a:solidFill>
                        </a:rPr>
                        <a:t>CDK Global Inc.</a:t>
                      </a:r>
                      <a:endParaRPr sz="1600"/>
                    </a:p>
                  </a:txBody>
                  <a:tcPr marL="91425" marR="91425" marT="91425" marB="91425" anchor="ctr"/>
                </a:tc>
                <a:extLst>
                  <a:ext uri="{0D108BD9-81ED-4DB2-BD59-A6C34878D82A}">
                    <a16:rowId xmlns:a16="http://schemas.microsoft.com/office/drawing/2014/main" val="10004"/>
                  </a:ext>
                </a:extLst>
              </a:tr>
              <a:tr h="633350">
                <a:tc>
                  <a:txBody>
                    <a:bodyPr/>
                    <a:lstStyle/>
                    <a:p>
                      <a:pPr marL="0" lvl="0" indent="0" algn="l" rtl="0">
                        <a:spcBef>
                          <a:spcPts val="0"/>
                        </a:spcBef>
                        <a:spcAft>
                          <a:spcPts val="0"/>
                        </a:spcAft>
                        <a:buNone/>
                      </a:pPr>
                      <a:r>
                        <a:rPr lang="en-US" sz="1600"/>
                        <a:t>Industry prefix glued</a:t>
                      </a:r>
                      <a:endParaRPr sz="1600"/>
                    </a:p>
                  </a:txBody>
                  <a:tcPr marL="91425" marR="91425" marT="91425" marB="91425" anchor="ctr"/>
                </a:tc>
                <a:tc>
                  <a:txBody>
                    <a:bodyPr/>
                    <a:lstStyle/>
                    <a:p>
                      <a:pPr marL="0" lvl="0" indent="0" algn="l" rtl="0">
                        <a:spcBef>
                          <a:spcPts val="0"/>
                        </a:spcBef>
                        <a:spcAft>
                          <a:spcPts val="0"/>
                        </a:spcAft>
                        <a:buNone/>
                      </a:pPr>
                      <a:r>
                        <a:rPr lang="en-US" sz="1600"/>
                        <a:t>51</a:t>
                      </a:r>
                      <a:endParaRPr sz="1600"/>
                    </a:p>
                  </a:txBody>
                  <a:tcPr marL="91425" marR="91425" marT="91425" marB="91425" anchor="ctr"/>
                </a:tc>
                <a:tc>
                  <a:txBody>
                    <a:bodyPr/>
                    <a:lstStyle/>
                    <a:p>
                      <a:pPr marL="0" lvl="0" indent="0" algn="l" rtl="0">
                        <a:spcBef>
                          <a:spcPts val="0"/>
                        </a:spcBef>
                        <a:spcAft>
                          <a:spcPts val="0"/>
                        </a:spcAft>
                        <a:buNone/>
                      </a:pPr>
                      <a:r>
                        <a:rPr lang="en-US" sz="1600"/>
                        <a:t>1.1%</a:t>
                      </a:r>
                      <a:endParaRPr sz="1600"/>
                    </a:p>
                  </a:txBody>
                  <a:tcPr marL="91425" marR="91425" marT="91425" marB="91425" anchor="ctr"/>
                </a:tc>
                <a:tc>
                  <a:txBody>
                    <a:bodyPr/>
                    <a:lstStyle/>
                    <a:p>
                      <a:pPr marL="0" lvl="0" indent="0" algn="l" rtl="0">
                        <a:spcBef>
                          <a:spcPts val="0"/>
                        </a:spcBef>
                        <a:spcAft>
                          <a:spcPts val="0"/>
                        </a:spcAft>
                        <a:buNone/>
                      </a:pPr>
                      <a:r>
                        <a:rPr lang="en-US" sz="1600"/>
                        <a:t>Industry label remained attached to the borrower name</a:t>
                      </a:r>
                      <a:endParaRPr sz="1600"/>
                    </a:p>
                  </a:txBody>
                  <a:tcPr marL="91425" marR="91425" marT="91425" marB="91425" anchor="ctr"/>
                </a:tc>
                <a:tc>
                  <a:txBody>
                    <a:bodyPr/>
                    <a:lstStyle/>
                    <a:p>
                      <a:pPr marL="0" lvl="0" indent="0" algn="l" rtl="0">
                        <a:spcBef>
                          <a:spcPts val="0"/>
                        </a:spcBef>
                        <a:spcAft>
                          <a:spcPts val="0"/>
                        </a:spcAft>
                        <a:buNone/>
                      </a:pPr>
                      <a:r>
                        <a:rPr lang="en-US" sz="1600"/>
                        <a:t>Media Associa Associations Inc… / </a:t>
                      </a:r>
                      <a:r>
                        <a:rPr lang="en-US" sz="1600">
                          <a:solidFill>
                            <a:srgbClr val="FF0000"/>
                          </a:solidFill>
                        </a:rPr>
                        <a:t>Media Associa Associations Inc.</a:t>
                      </a:r>
                      <a:r>
                        <a:rPr lang="en-US" sz="1600"/>
                        <a:t> / </a:t>
                      </a:r>
                      <a:r>
                        <a:rPr lang="en-US" sz="1600">
                          <a:solidFill>
                            <a:srgbClr val="188038"/>
                          </a:solidFill>
                        </a:rPr>
                        <a:t>Associa Associations Inc.</a:t>
                      </a:r>
                      <a:endParaRPr sz="1600">
                        <a:solidFill>
                          <a:srgbClr val="188038"/>
                        </a:solidFill>
                      </a:endParaRPr>
                    </a:p>
                  </a:txBody>
                  <a:tcPr marL="91425" marR="91425" marT="91425" marB="91425" anchor="ctr"/>
                </a:tc>
                <a:extLst>
                  <a:ext uri="{0D108BD9-81ED-4DB2-BD59-A6C34878D82A}">
                    <a16:rowId xmlns:a16="http://schemas.microsoft.com/office/drawing/2014/main" val="10005"/>
                  </a:ext>
                </a:extLst>
              </a:tr>
              <a:tr h="528700">
                <a:tc>
                  <a:txBody>
                    <a:bodyPr/>
                    <a:lstStyle/>
                    <a:p>
                      <a:pPr marL="0" lvl="0" indent="0" algn="l" rtl="0">
                        <a:spcBef>
                          <a:spcPts val="0"/>
                        </a:spcBef>
                        <a:spcAft>
                          <a:spcPts val="0"/>
                        </a:spcAft>
                        <a:buNone/>
                      </a:pPr>
                      <a:r>
                        <a:rPr lang="en-US" sz="1600"/>
                        <a:t>Total</a:t>
                      </a:r>
                      <a:endParaRPr sz="1600"/>
                    </a:p>
                  </a:txBody>
                  <a:tcPr marL="91425" marR="91425" marT="91425" marB="91425" anchor="ctr"/>
                </a:tc>
                <a:tc>
                  <a:txBody>
                    <a:bodyPr/>
                    <a:lstStyle/>
                    <a:p>
                      <a:pPr marL="0" lvl="0" indent="0" algn="l" rtl="0">
                        <a:spcBef>
                          <a:spcPts val="0"/>
                        </a:spcBef>
                        <a:spcAft>
                          <a:spcPts val="0"/>
                        </a:spcAft>
                        <a:buNone/>
                      </a:pPr>
                      <a:r>
                        <a:rPr lang="en-US" sz="1600"/>
                        <a:t>4,460</a:t>
                      </a:r>
                      <a:endParaRPr sz="1600"/>
                    </a:p>
                  </a:txBody>
                  <a:tcPr marL="91425" marR="91425" marT="91425" marB="91425" anchor="ctr"/>
                </a:tc>
                <a:tc>
                  <a:txBody>
                    <a:bodyPr/>
                    <a:lstStyle/>
                    <a:p>
                      <a:pPr marL="0" lvl="0" indent="0" algn="l" rtl="0">
                        <a:spcBef>
                          <a:spcPts val="0"/>
                        </a:spcBef>
                        <a:spcAft>
                          <a:spcPts val="0"/>
                        </a:spcAft>
                        <a:buNone/>
                      </a:pPr>
                      <a:r>
                        <a:rPr lang="en-US" sz="1600"/>
                        <a:t>100.0%</a:t>
                      </a:r>
                      <a:endParaRPr sz="1600"/>
                    </a:p>
                  </a:txBody>
                  <a:tcPr marL="91425" marR="91425" marT="91425" marB="91425" anchor="ctr"/>
                </a:tc>
                <a:tc>
                  <a:txBody>
                    <a:bodyPr/>
                    <a:lstStyle/>
                    <a:p>
                      <a:pPr marL="0" lvl="0" indent="0" algn="l" rtl="0">
                        <a:spcBef>
                          <a:spcPts val="0"/>
                        </a:spcBef>
                        <a:spcAft>
                          <a:spcPts val="0"/>
                        </a:spcAft>
                        <a:buNone/>
                      </a:pPr>
                      <a:endParaRPr sz="1600"/>
                    </a:p>
                  </a:txBody>
                  <a:tcPr marL="91425" marR="91425" marT="91425" marB="91425" anchor="ctr"/>
                </a:tc>
                <a:tc>
                  <a:txBody>
                    <a:bodyPr/>
                    <a:lstStyle/>
                    <a:p>
                      <a:pPr marL="0" lvl="0" indent="0" algn="l" rtl="0">
                        <a:spcBef>
                          <a:spcPts val="0"/>
                        </a:spcBef>
                        <a:spcAft>
                          <a:spcPts val="0"/>
                        </a:spcAft>
                        <a:buNone/>
                      </a:pPr>
                      <a:endParaRPr sz="1600"/>
                    </a:p>
                  </a:txBody>
                  <a:tcPr marL="91425" marR="91425" marT="91425" marB="91425"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193"/>
        <p:cNvGrpSpPr/>
        <p:nvPr/>
      </p:nvGrpSpPr>
      <p:grpSpPr>
        <a:xfrm>
          <a:off x="0" y="0"/>
          <a:ext cx="0" cy="0"/>
          <a:chOff x="0" y="0"/>
          <a:chExt cx="0" cy="0"/>
        </a:xfrm>
      </p:grpSpPr>
      <p:pic>
        <p:nvPicPr>
          <p:cNvPr id="194" name="Google Shape;194;h620169dc979318e4_0_67"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195" name="Google Shape;195;h620169dc979318e4_0_67"/>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196" name="Google Shape;196;h620169dc979318e4_0_67"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197" name="Google Shape;197;h620169dc979318e4_0_67"/>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198" name="Google Shape;198;h620169dc979318e4_0_67"/>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199" name="Google Shape;199;h620169dc979318e4_0_67"/>
          <p:cNvSpPr txBox="1"/>
          <p:nvPr/>
        </p:nvSpPr>
        <p:spPr>
          <a:xfrm>
            <a:off x="596100" y="590825"/>
            <a:ext cx="11385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Borrower Name Cleaning</a:t>
            </a:r>
            <a:endParaRPr sz="1800" b="0" i="0" u="none" strike="noStrike" cap="none">
              <a:solidFill>
                <a:schemeClr val="dk1"/>
              </a:solidFill>
              <a:latin typeface="Calibri"/>
              <a:ea typeface="Calibri"/>
              <a:cs typeface="Calibri"/>
              <a:sym typeface="Calibri"/>
            </a:endParaRPr>
          </a:p>
        </p:txBody>
      </p:sp>
      <p:sp>
        <p:nvSpPr>
          <p:cNvPr id="200" name="Google Shape;200;h620169dc979318e4_0_67"/>
          <p:cNvSpPr txBox="1"/>
          <p:nvPr/>
        </p:nvSpPr>
        <p:spPr>
          <a:xfrm>
            <a:off x="596100" y="1120750"/>
            <a:ext cx="10544100" cy="42021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SzPts val="1800"/>
              <a:buChar char="●"/>
            </a:pPr>
            <a:r>
              <a:rPr lang="en-US" sz="1800"/>
              <a:t>Model: GPT-4.1-mini</a:t>
            </a:r>
            <a:endParaRPr sz="1800"/>
          </a:p>
          <a:p>
            <a:pPr marL="457200" lvl="0" indent="-342900" algn="l" rtl="0">
              <a:lnSpc>
                <a:spcPct val="150000"/>
              </a:lnSpc>
              <a:spcBef>
                <a:spcPts val="0"/>
              </a:spcBef>
              <a:spcAft>
                <a:spcPts val="0"/>
              </a:spcAft>
              <a:buSzPts val="1800"/>
              <a:buChar char="●"/>
            </a:pPr>
            <a:r>
              <a:rPr lang="en-US" sz="1800"/>
              <a:t>Pipeline Improvement:</a:t>
            </a:r>
            <a:endParaRPr sz="1800"/>
          </a:p>
          <a:p>
            <a:pPr marL="914400" lvl="1" indent="-342900" algn="l" rtl="0">
              <a:lnSpc>
                <a:spcPct val="150000"/>
              </a:lnSpc>
              <a:spcBef>
                <a:spcPts val="0"/>
              </a:spcBef>
              <a:spcAft>
                <a:spcPts val="0"/>
              </a:spcAft>
              <a:buSzPts val="1800"/>
              <a:buChar char="○"/>
            </a:pPr>
            <a:r>
              <a:rPr lang="en-US" sz="1800"/>
              <a:t>Original: Raw names → LLM → Positional parsing → Final output</a:t>
            </a:r>
            <a:endParaRPr sz="1800"/>
          </a:p>
          <a:p>
            <a:pPr marL="914400" lvl="1" indent="-342900" algn="l" rtl="0">
              <a:lnSpc>
                <a:spcPct val="150000"/>
              </a:lnSpc>
              <a:spcBef>
                <a:spcPts val="0"/>
              </a:spcBef>
              <a:spcAft>
                <a:spcPts val="0"/>
              </a:spcAft>
              <a:buSzPts val="1800"/>
              <a:buChar char="○"/>
            </a:pPr>
            <a:r>
              <a:rPr lang="en-US" sz="1800"/>
              <a:t>Current: </a:t>
            </a: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p:txBody>
      </p:sp>
      <p:graphicFrame>
        <p:nvGraphicFramePr>
          <p:cNvPr id="201" name="Google Shape;201;h620169dc979318e4_0_67"/>
          <p:cNvGraphicFramePr/>
          <p:nvPr/>
        </p:nvGraphicFramePr>
        <p:xfrm>
          <a:off x="952500" y="2857500"/>
          <a:ext cx="3000000" cy="3000000"/>
        </p:xfrm>
        <a:graphic>
          <a:graphicData uri="http://schemas.openxmlformats.org/drawingml/2006/table">
            <a:tbl>
              <a:tblPr>
                <a:noFill/>
                <a:tableStyleId>{EAF177DA-8825-4B7D-8D7F-2EE941730BF3}</a:tableStyleId>
              </a:tblPr>
              <a:tblGrid>
                <a:gridCol w="213015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gridCol w="301335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US" sz="1600" b="1"/>
                        <a:t>Stage</a:t>
                      </a:r>
                      <a:endParaRPr sz="1600" b="1"/>
                    </a:p>
                  </a:txBody>
                  <a:tcPr marL="91425" marR="91425" marT="91425" marB="91425" anchor="ctr"/>
                </a:tc>
                <a:tc>
                  <a:txBody>
                    <a:bodyPr/>
                    <a:lstStyle/>
                    <a:p>
                      <a:pPr marL="0" lvl="0" indent="0" algn="ctr" rtl="0">
                        <a:spcBef>
                          <a:spcPts val="0"/>
                        </a:spcBef>
                        <a:spcAft>
                          <a:spcPts val="0"/>
                        </a:spcAft>
                        <a:buNone/>
                      </a:pPr>
                      <a:r>
                        <a:rPr lang="en-US" sz="1600" b="1"/>
                        <a:t>What V2 does</a:t>
                      </a:r>
                      <a:endParaRPr sz="1600" b="1"/>
                    </a:p>
                  </a:txBody>
                  <a:tcPr marL="91425" marR="91425" marT="91425" marB="91425" anchor="ctr"/>
                </a:tc>
                <a:tc>
                  <a:txBody>
                    <a:bodyPr/>
                    <a:lstStyle/>
                    <a:p>
                      <a:pPr marL="0" lvl="0" indent="0" algn="ctr" rtl="0">
                        <a:spcBef>
                          <a:spcPts val="0"/>
                        </a:spcBef>
                        <a:spcAft>
                          <a:spcPts val="0"/>
                        </a:spcAft>
                        <a:buNone/>
                      </a:pPr>
                      <a:r>
                        <a:rPr lang="en-US" sz="1600" b="1"/>
                        <a:t>Output</a:t>
                      </a:r>
                      <a:endParaRPr sz="1600" b="1"/>
                    </a:p>
                  </a:txBody>
                  <a:tcPr marL="91425" marR="91425" marT="91425" marB="91425" anchor="ct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1600"/>
                        <a:t>Source isolation</a:t>
                      </a:r>
                      <a:endParaRPr sz="1600"/>
                    </a:p>
                  </a:txBody>
                  <a:tcPr marL="91425" marR="91425" marT="91425" marB="91425" anchor="ctr"/>
                </a:tc>
                <a:tc>
                  <a:txBody>
                    <a:bodyPr/>
                    <a:lstStyle/>
                    <a:p>
                      <a:pPr marL="0" lvl="0" indent="0" algn="l" rtl="0">
                        <a:spcBef>
                          <a:spcPts val="0"/>
                        </a:spcBef>
                        <a:spcAft>
                          <a:spcPts val="0"/>
                        </a:spcAft>
                        <a:buNone/>
                      </a:pPr>
                      <a:r>
                        <a:rPr lang="en-US" sz="1600"/>
                        <a:t>Processes one source row per request and assigns a stable custom_id</a:t>
                      </a:r>
                      <a:endParaRPr sz="1600"/>
                    </a:p>
                  </a:txBody>
                  <a:tcPr marL="91425" marR="91425" marT="91425" marB="91425" anchor="ctr"/>
                </a:tc>
                <a:tc>
                  <a:txBody>
                    <a:bodyPr/>
                    <a:lstStyle/>
                    <a:p>
                      <a:pPr marL="0" lvl="0" indent="0" algn="l" rtl="0">
                        <a:spcBef>
                          <a:spcPts val="0"/>
                        </a:spcBef>
                        <a:spcAft>
                          <a:spcPts val="0"/>
                        </a:spcAft>
                        <a:buNone/>
                      </a:pPr>
                      <a:r>
                        <a:rPr lang="en-US" sz="1600"/>
                        <a:t>Prevents cross-row assignment</a:t>
                      </a:r>
                      <a:endParaRPr sz="1600"/>
                    </a:p>
                  </a:txBody>
                  <a:tcPr marL="91425" marR="91425" marT="91425" marB="91425" anchor="ct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sz="1600"/>
                        <a:t>Pre-clean</a:t>
                      </a:r>
                      <a:endParaRPr sz="1600"/>
                    </a:p>
                  </a:txBody>
                  <a:tcPr marL="91425" marR="91425" marT="91425" marB="91425" anchor="ctr"/>
                </a:tc>
                <a:tc>
                  <a:txBody>
                    <a:bodyPr/>
                    <a:lstStyle/>
                    <a:p>
                      <a:pPr marL="0" lvl="0" indent="0" algn="l" rtl="0">
                        <a:spcBef>
                          <a:spcPts val="0"/>
                        </a:spcBef>
                        <a:spcAft>
                          <a:spcPts val="0"/>
                        </a:spcAft>
                        <a:buNone/>
                      </a:pPr>
                      <a:r>
                        <a:rPr lang="en-US" sz="1600"/>
                        <a:t>Removes disclosure labels, industry prefixes and instrument terms from candidate spans</a:t>
                      </a:r>
                      <a:endParaRPr sz="1600"/>
                    </a:p>
                  </a:txBody>
                  <a:tcPr marL="91425" marR="91425" marT="91425" marB="91425" anchor="ctr"/>
                </a:tc>
                <a:tc>
                  <a:txBody>
                    <a:bodyPr/>
                    <a:lstStyle/>
                    <a:p>
                      <a:pPr marL="0" lvl="0" indent="0" algn="l" rtl="0">
                        <a:spcBef>
                          <a:spcPts val="0"/>
                        </a:spcBef>
                        <a:spcAft>
                          <a:spcPts val="0"/>
                        </a:spcAft>
                        <a:buNone/>
                      </a:pPr>
                      <a:r>
                        <a:rPr lang="en-US" sz="1600"/>
                        <a:t>Cleaner borrower candidates</a:t>
                      </a:r>
                      <a:endParaRPr sz="1600"/>
                    </a:p>
                  </a:txBody>
                  <a:tcPr marL="91425" marR="91425" marT="91425" marB="91425" anchor="ct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sz="1600"/>
                        <a:t>Candidate generation</a:t>
                      </a:r>
                      <a:endParaRPr sz="1600"/>
                    </a:p>
                  </a:txBody>
                  <a:tcPr marL="91425" marR="91425" marT="91425" marB="91425" anchor="ctr"/>
                </a:tc>
                <a:tc>
                  <a:txBody>
                    <a:bodyPr/>
                    <a:lstStyle/>
                    <a:p>
                      <a:pPr marL="0" lvl="0" indent="0" algn="l" rtl="0">
                        <a:spcBef>
                          <a:spcPts val="0"/>
                        </a:spcBef>
                        <a:spcAft>
                          <a:spcPts val="0"/>
                        </a:spcAft>
                        <a:buNone/>
                      </a:pPr>
                      <a:r>
                        <a:rPr lang="en-US" sz="1600"/>
                        <a:t>Detects fund vehicles, borrower fragments and structured-finance IDs</a:t>
                      </a:r>
                      <a:endParaRPr sz="1600"/>
                    </a:p>
                  </a:txBody>
                  <a:tcPr marL="91425" marR="91425" marT="91425" marB="91425" anchor="ctr"/>
                </a:tc>
                <a:tc>
                  <a:txBody>
                    <a:bodyPr/>
                    <a:lstStyle/>
                    <a:p>
                      <a:pPr marL="0" lvl="0" indent="0" algn="l" rtl="0">
                        <a:spcBef>
                          <a:spcPts val="0"/>
                        </a:spcBef>
                        <a:spcAft>
                          <a:spcPts val="0"/>
                        </a:spcAft>
                        <a:buNone/>
                      </a:pPr>
                      <a:r>
                        <a:rPr lang="en-US" sz="1600"/>
                        <a:t>Traceable candidate list</a:t>
                      </a:r>
                      <a:endParaRPr sz="1600"/>
                    </a:p>
                  </a:txBody>
                  <a:tcPr marL="91425" marR="91425" marT="91425" marB="91425" anchor="ct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sz="1600"/>
                        <a:t>Prompt selection</a:t>
                      </a:r>
                      <a:endParaRPr sz="1600"/>
                    </a:p>
                  </a:txBody>
                  <a:tcPr marL="91425" marR="91425" marT="91425" marB="91425" anchor="ctr"/>
                </a:tc>
                <a:tc>
                  <a:txBody>
                    <a:bodyPr/>
                    <a:lstStyle/>
                    <a:p>
                      <a:pPr marL="0" lvl="0" indent="0" algn="l" rtl="0">
                        <a:spcBef>
                          <a:spcPts val="0"/>
                        </a:spcBef>
                        <a:spcAft>
                          <a:spcPts val="0"/>
                        </a:spcAft>
                        <a:buNone/>
                      </a:pPr>
                      <a:r>
                        <a:rPr lang="en-US" sz="1600"/>
                        <a:t>Applies explicit borrower-selection priorities</a:t>
                      </a:r>
                      <a:endParaRPr sz="1600"/>
                    </a:p>
                  </a:txBody>
                  <a:tcPr marL="91425" marR="91425" marT="91425" marB="91425" anchor="ctr"/>
                </a:tc>
                <a:tc>
                  <a:txBody>
                    <a:bodyPr/>
                    <a:lstStyle/>
                    <a:p>
                      <a:pPr marL="0" lvl="0" indent="0" algn="l" rtl="0">
                        <a:spcBef>
                          <a:spcPts val="0"/>
                        </a:spcBef>
                        <a:spcAft>
                          <a:spcPts val="0"/>
                        </a:spcAft>
                        <a:buNone/>
                      </a:pPr>
                      <a:r>
                        <a:rPr lang="en-US" sz="1600"/>
                        <a:t>Selected borrower</a:t>
                      </a:r>
                      <a:endParaRPr sz="1600"/>
                    </a:p>
                  </a:txBody>
                  <a:tcPr marL="91425" marR="91425" marT="91425" marB="91425" anchor="ct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US" sz="1600"/>
                        <a:t>Post-validation</a:t>
                      </a:r>
                      <a:endParaRPr sz="1600"/>
                    </a:p>
                  </a:txBody>
                  <a:tcPr marL="91425" marR="91425" marT="91425" marB="91425" anchor="ctr"/>
                </a:tc>
                <a:tc>
                  <a:txBody>
                    <a:bodyPr/>
                    <a:lstStyle/>
                    <a:p>
                      <a:pPr marL="0" lvl="0" indent="0" algn="l" rtl="0">
                        <a:spcBef>
                          <a:spcPts val="0"/>
                        </a:spcBef>
                        <a:spcAft>
                          <a:spcPts val="0"/>
                        </a:spcAft>
                        <a:buNone/>
                      </a:pPr>
                      <a:r>
                        <a:rPr lang="en-US" sz="1600"/>
                        <a:t>Checks source support, vehicle selection, nulls and confidence</a:t>
                      </a:r>
                      <a:endParaRPr sz="1600"/>
                    </a:p>
                  </a:txBody>
                  <a:tcPr marL="91425" marR="91425" marT="91425" marB="91425" anchor="ctr"/>
                </a:tc>
                <a:tc>
                  <a:txBody>
                    <a:bodyPr/>
                    <a:lstStyle/>
                    <a:p>
                      <a:pPr marL="0" lvl="0" indent="0" algn="l" rtl="0">
                        <a:spcBef>
                          <a:spcPts val="0"/>
                        </a:spcBef>
                        <a:spcAft>
                          <a:spcPts val="0"/>
                        </a:spcAft>
                        <a:buNone/>
                      </a:pPr>
                      <a:r>
                        <a:rPr lang="en-US" sz="1600"/>
                        <a:t>Auto-accept eligibility or review flag</a:t>
                      </a:r>
                      <a:endParaRPr sz="1600"/>
                    </a:p>
                  </a:txBody>
                  <a:tcPr marL="91425" marR="91425" marT="91425" marB="9142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Shape 206"/>
        <p:cNvGrpSpPr/>
        <p:nvPr/>
      </p:nvGrpSpPr>
      <p:grpSpPr>
        <a:xfrm>
          <a:off x="0" y="0"/>
          <a:ext cx="0" cy="0"/>
          <a:chOff x="0" y="0"/>
          <a:chExt cx="0" cy="0"/>
        </a:xfrm>
      </p:grpSpPr>
      <p:pic>
        <p:nvPicPr>
          <p:cNvPr id="207" name="Google Shape;207;h620169dc979318e4_0_105" descr="assets/seal.png"/>
          <p:cNvPicPr preferRelativeResize="0"/>
          <p:nvPr/>
        </p:nvPicPr>
        <p:blipFill rotWithShape="1">
          <a:blip r:embed="rId3">
            <a:alphaModFix/>
          </a:blip>
          <a:srcRect/>
          <a:stretch/>
        </p:blipFill>
        <p:spPr>
          <a:xfrm>
            <a:off x="8754466" y="433426"/>
            <a:ext cx="254203" cy="254203"/>
          </a:xfrm>
          <a:prstGeom prst="rect">
            <a:avLst/>
          </a:prstGeom>
          <a:noFill/>
          <a:ln>
            <a:noFill/>
          </a:ln>
        </p:spPr>
      </p:pic>
      <p:cxnSp>
        <p:nvCxnSpPr>
          <p:cNvPr id="208" name="Google Shape;208;h620169dc979318e4_0_105"/>
          <p:cNvCxnSpPr/>
          <p:nvPr/>
        </p:nvCxnSpPr>
        <p:spPr>
          <a:xfrm>
            <a:off x="9062618" y="437083"/>
            <a:ext cx="0" cy="252300"/>
          </a:xfrm>
          <a:prstGeom prst="straightConnector1">
            <a:avLst/>
          </a:prstGeom>
          <a:noFill/>
          <a:ln w="9525" cap="flat" cmpd="sng">
            <a:solidFill>
              <a:srgbClr val="7C808B"/>
            </a:solidFill>
            <a:prstDash val="solid"/>
            <a:round/>
            <a:headEnd type="none" w="sm" len="sm"/>
            <a:tailEnd type="none" w="sm" len="sm"/>
          </a:ln>
        </p:spPr>
      </p:cxnSp>
      <p:pic>
        <p:nvPicPr>
          <p:cNvPr id="209" name="Google Shape;209;h620169dc979318e4_0_105" descr="assets/mlogo.png"/>
          <p:cNvPicPr preferRelativeResize="0"/>
          <p:nvPr/>
        </p:nvPicPr>
        <p:blipFill rotWithShape="1">
          <a:blip r:embed="rId4">
            <a:alphaModFix/>
          </a:blip>
          <a:srcRect/>
          <a:stretch/>
        </p:blipFill>
        <p:spPr>
          <a:xfrm>
            <a:off x="9131198" y="433426"/>
            <a:ext cx="241402" cy="241402"/>
          </a:xfrm>
          <a:prstGeom prst="rect">
            <a:avLst/>
          </a:prstGeom>
          <a:noFill/>
          <a:ln>
            <a:noFill/>
          </a:ln>
        </p:spPr>
      </p:pic>
      <p:sp>
        <p:nvSpPr>
          <p:cNvPr id="210" name="Google Shape;210;h620169dc979318e4_0_105"/>
          <p:cNvSpPr txBox="1"/>
          <p:nvPr/>
        </p:nvSpPr>
        <p:spPr>
          <a:xfrm>
            <a:off x="9425635" y="407822"/>
            <a:ext cx="2377500" cy="183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920"/>
              <a:buFont typeface="DM Sans"/>
              <a:buNone/>
            </a:pPr>
            <a:r>
              <a:rPr lang="en-US" sz="920" b="0" i="0" u="none" strike="noStrike" cap="none">
                <a:solidFill>
                  <a:srgbClr val="404451"/>
                </a:solidFill>
                <a:latin typeface="DM Sans"/>
                <a:ea typeface="DM Sans"/>
                <a:cs typeface="DM Sans"/>
                <a:sym typeface="DM Sans"/>
              </a:rPr>
              <a:t>MARATHON ASSET MANAGEMENT</a:t>
            </a:r>
            <a:endParaRPr sz="920" b="0" i="0" u="none" strike="noStrike" cap="none">
              <a:solidFill>
                <a:schemeClr val="dk1"/>
              </a:solidFill>
              <a:latin typeface="Calibri"/>
              <a:ea typeface="Calibri"/>
              <a:cs typeface="Calibri"/>
              <a:sym typeface="Calibri"/>
            </a:endParaRPr>
          </a:p>
        </p:txBody>
      </p:sp>
      <p:sp>
        <p:nvSpPr>
          <p:cNvPr id="211" name="Google Shape;211;h620169dc979318e4_0_105"/>
          <p:cNvSpPr txBox="1"/>
          <p:nvPr/>
        </p:nvSpPr>
        <p:spPr>
          <a:xfrm>
            <a:off x="9425635" y="576072"/>
            <a:ext cx="2377500" cy="14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404451"/>
              </a:buClr>
              <a:buSzPts val="620"/>
              <a:buFont typeface="DM Sans"/>
              <a:buNone/>
            </a:pPr>
            <a:r>
              <a:rPr lang="en-US" sz="620" b="0" i="0" u="none" strike="noStrike" cap="none">
                <a:solidFill>
                  <a:srgbClr val="404451"/>
                </a:solidFill>
                <a:latin typeface="DM Sans"/>
                <a:ea typeface="DM Sans"/>
                <a:cs typeface="DM Sans"/>
                <a:sym typeface="DM Sans"/>
              </a:rPr>
              <a:t>CORNELL CFEM CAPSTONE 2026</a:t>
            </a:r>
            <a:endParaRPr sz="620" b="0" i="0" u="none" strike="noStrike" cap="none">
              <a:solidFill>
                <a:schemeClr val="dk1"/>
              </a:solidFill>
              <a:latin typeface="Calibri"/>
              <a:ea typeface="Calibri"/>
              <a:cs typeface="Calibri"/>
              <a:sym typeface="Calibri"/>
            </a:endParaRPr>
          </a:p>
        </p:txBody>
      </p:sp>
      <p:sp>
        <p:nvSpPr>
          <p:cNvPr id="212" name="Google Shape;212;h620169dc979318e4_0_105"/>
          <p:cNvSpPr txBox="1"/>
          <p:nvPr/>
        </p:nvSpPr>
        <p:spPr>
          <a:xfrm>
            <a:off x="596100" y="590825"/>
            <a:ext cx="11385600" cy="685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3200" b="1">
                <a:solidFill>
                  <a:srgbClr val="1D243E"/>
                </a:solidFill>
                <a:latin typeface="Saira"/>
                <a:ea typeface="Saira"/>
                <a:cs typeface="Saira"/>
                <a:sym typeface="Saira"/>
              </a:rPr>
              <a:t>Borrower Name Cleaning</a:t>
            </a:r>
            <a:endParaRPr sz="1800" b="0" i="0" u="none" strike="noStrike" cap="none">
              <a:solidFill>
                <a:schemeClr val="dk1"/>
              </a:solidFill>
              <a:latin typeface="Calibri"/>
              <a:ea typeface="Calibri"/>
              <a:cs typeface="Calibri"/>
              <a:sym typeface="Calibri"/>
            </a:endParaRPr>
          </a:p>
        </p:txBody>
      </p:sp>
      <p:sp>
        <p:nvSpPr>
          <p:cNvPr id="213" name="Google Shape;213;h620169dc979318e4_0_105"/>
          <p:cNvSpPr txBox="1"/>
          <p:nvPr/>
        </p:nvSpPr>
        <p:spPr>
          <a:xfrm>
            <a:off x="596100" y="1120750"/>
            <a:ext cx="10544100" cy="2955300"/>
          </a:xfrm>
          <a:prstGeom prst="rect">
            <a:avLst/>
          </a:prstGeom>
          <a:noFill/>
          <a:ln>
            <a:noFill/>
          </a:ln>
        </p:spPr>
        <p:txBody>
          <a:bodyPr spcFirstLastPara="1" wrap="square" lIns="91425" tIns="91425" rIns="91425" bIns="91425" anchor="t" anchorCtr="0">
            <a:spAutoFit/>
          </a:bodyPr>
          <a:lstStyle/>
          <a:p>
            <a:pPr marL="457200" lvl="0" indent="-342900" algn="l" rtl="0">
              <a:lnSpc>
                <a:spcPct val="150000"/>
              </a:lnSpc>
              <a:spcBef>
                <a:spcPts val="0"/>
              </a:spcBef>
              <a:spcAft>
                <a:spcPts val="0"/>
              </a:spcAft>
              <a:buSzPts val="1800"/>
              <a:buChar char="●"/>
            </a:pPr>
            <a:r>
              <a:rPr lang="en-US" sz="1800"/>
              <a:t>Recovery by Error Category </a:t>
            </a: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a:p>
            <a:pPr marL="0" lvl="0" indent="0" algn="l" rtl="0">
              <a:lnSpc>
                <a:spcPct val="150000"/>
              </a:lnSpc>
              <a:spcBef>
                <a:spcPts val="0"/>
              </a:spcBef>
              <a:spcAft>
                <a:spcPts val="0"/>
              </a:spcAft>
              <a:buNone/>
            </a:pPr>
            <a:endParaRPr sz="1800"/>
          </a:p>
        </p:txBody>
      </p:sp>
      <p:graphicFrame>
        <p:nvGraphicFramePr>
          <p:cNvPr id="214" name="Google Shape;214;h620169dc979318e4_0_105"/>
          <p:cNvGraphicFramePr/>
          <p:nvPr/>
        </p:nvGraphicFramePr>
        <p:xfrm>
          <a:off x="952500" y="1783775"/>
          <a:ext cx="10287000" cy="2986830"/>
        </p:xfrm>
        <a:graphic>
          <a:graphicData uri="http://schemas.openxmlformats.org/drawingml/2006/table">
            <a:tbl>
              <a:tblPr>
                <a:noFill/>
                <a:tableStyleId>{EAF177DA-8825-4B7D-8D7F-2EE941730BF3}</a:tableStyleId>
              </a:tblPr>
              <a:tblGrid>
                <a:gridCol w="3494800">
                  <a:extLst>
                    <a:ext uri="{9D8B030D-6E8A-4147-A177-3AD203B41FA5}">
                      <a16:colId xmlns:a16="http://schemas.microsoft.com/office/drawing/2014/main" val="20000"/>
                    </a:ext>
                  </a:extLst>
                </a:gridCol>
                <a:gridCol w="2195950">
                  <a:extLst>
                    <a:ext uri="{9D8B030D-6E8A-4147-A177-3AD203B41FA5}">
                      <a16:colId xmlns:a16="http://schemas.microsoft.com/office/drawing/2014/main" val="20001"/>
                    </a:ext>
                  </a:extLst>
                </a:gridCol>
                <a:gridCol w="1433975">
                  <a:extLst>
                    <a:ext uri="{9D8B030D-6E8A-4147-A177-3AD203B41FA5}">
                      <a16:colId xmlns:a16="http://schemas.microsoft.com/office/drawing/2014/main" val="20002"/>
                    </a:ext>
                  </a:extLst>
                </a:gridCol>
                <a:gridCol w="1503200">
                  <a:extLst>
                    <a:ext uri="{9D8B030D-6E8A-4147-A177-3AD203B41FA5}">
                      <a16:colId xmlns:a16="http://schemas.microsoft.com/office/drawing/2014/main" val="20003"/>
                    </a:ext>
                  </a:extLst>
                </a:gridCol>
                <a:gridCol w="1659075">
                  <a:extLst>
                    <a:ext uri="{9D8B030D-6E8A-4147-A177-3AD203B41FA5}">
                      <a16:colId xmlns:a16="http://schemas.microsoft.com/office/drawing/2014/main" val="20004"/>
                    </a:ext>
                  </a:extLst>
                </a:gridCol>
              </a:tblGrid>
              <a:tr h="381000">
                <a:tc>
                  <a:txBody>
                    <a:bodyPr/>
                    <a:lstStyle/>
                    <a:p>
                      <a:pPr marL="0" lvl="0" indent="0" algn="ctr" rtl="0">
                        <a:spcBef>
                          <a:spcPts val="0"/>
                        </a:spcBef>
                        <a:spcAft>
                          <a:spcPts val="0"/>
                        </a:spcAft>
                        <a:buNone/>
                      </a:pPr>
                      <a:r>
                        <a:rPr lang="en-US" sz="1600" b="1"/>
                        <a:t>Error category</a:t>
                      </a:r>
                      <a:endParaRPr sz="1600" b="1"/>
                    </a:p>
                  </a:txBody>
                  <a:tcPr marL="91425" marR="91425" marT="91425" marB="91425" anchor="ctr"/>
                </a:tc>
                <a:tc>
                  <a:txBody>
                    <a:bodyPr/>
                    <a:lstStyle/>
                    <a:p>
                      <a:pPr marL="0" lvl="0" indent="0" algn="ctr" rtl="0">
                        <a:spcBef>
                          <a:spcPts val="0"/>
                        </a:spcBef>
                        <a:spcAft>
                          <a:spcPts val="0"/>
                        </a:spcAft>
                        <a:buNone/>
                      </a:pPr>
                      <a:r>
                        <a:rPr lang="en-US" sz="1600" b="1"/>
                        <a:t>Original errors</a:t>
                      </a:r>
                      <a:endParaRPr sz="1600" b="1"/>
                    </a:p>
                  </a:txBody>
                  <a:tcPr marL="91425" marR="91425" marT="91425" marB="91425" anchor="ctr"/>
                </a:tc>
                <a:tc>
                  <a:txBody>
                    <a:bodyPr/>
                    <a:lstStyle/>
                    <a:p>
                      <a:pPr marL="0" lvl="0" indent="0" algn="ctr" rtl="0">
                        <a:spcBef>
                          <a:spcPts val="0"/>
                        </a:spcBef>
                        <a:spcAft>
                          <a:spcPts val="0"/>
                        </a:spcAft>
                        <a:buNone/>
                      </a:pPr>
                      <a:r>
                        <a:rPr lang="en-US" sz="1600" b="1"/>
                        <a:t>Fixed </a:t>
                      </a:r>
                      <a:endParaRPr sz="1600" b="1"/>
                    </a:p>
                  </a:txBody>
                  <a:tcPr marL="91425" marR="91425" marT="91425" marB="91425" anchor="ctr"/>
                </a:tc>
                <a:tc>
                  <a:txBody>
                    <a:bodyPr/>
                    <a:lstStyle/>
                    <a:p>
                      <a:pPr marL="0" lvl="0" indent="0" algn="ctr" rtl="0">
                        <a:spcBef>
                          <a:spcPts val="0"/>
                        </a:spcBef>
                        <a:spcAft>
                          <a:spcPts val="0"/>
                        </a:spcAft>
                        <a:buNone/>
                      </a:pPr>
                      <a:r>
                        <a:rPr lang="en-US" sz="1600" b="1"/>
                        <a:t>Remaining</a:t>
                      </a:r>
                      <a:endParaRPr sz="1600" b="1"/>
                    </a:p>
                  </a:txBody>
                  <a:tcPr marL="91425" marR="91425" marT="91425" marB="91425" anchor="ctr"/>
                </a:tc>
                <a:tc>
                  <a:txBody>
                    <a:bodyPr/>
                    <a:lstStyle/>
                    <a:p>
                      <a:pPr marL="0" lvl="0" indent="0" algn="ctr" rtl="0">
                        <a:spcBef>
                          <a:spcPts val="0"/>
                        </a:spcBef>
                        <a:spcAft>
                          <a:spcPts val="0"/>
                        </a:spcAft>
                        <a:buNone/>
                      </a:pPr>
                      <a:r>
                        <a:rPr lang="en-US" sz="1600" b="1"/>
                        <a:t>Recovery rate</a:t>
                      </a:r>
                      <a:endParaRPr sz="1600" b="1"/>
                    </a:p>
                  </a:txBody>
                  <a:tcPr marL="91425" marR="91425" marT="91425" marB="91425" anchor="ct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US" sz="1600"/>
                        <a:t>Row shift / cross-row assignment</a:t>
                      </a:r>
                      <a:endParaRPr sz="1600"/>
                    </a:p>
                  </a:txBody>
                  <a:tcPr marL="91425" marR="91425" marT="91425" marB="91425" anchor="ctr"/>
                </a:tc>
                <a:tc>
                  <a:txBody>
                    <a:bodyPr/>
                    <a:lstStyle/>
                    <a:p>
                      <a:pPr marL="0" lvl="0" indent="0" algn="ctr" rtl="0">
                        <a:spcBef>
                          <a:spcPts val="0"/>
                        </a:spcBef>
                        <a:spcAft>
                          <a:spcPts val="0"/>
                        </a:spcAft>
                        <a:buNone/>
                      </a:pPr>
                      <a:r>
                        <a:rPr lang="en-US" sz="1600"/>
                        <a:t>3,038</a:t>
                      </a:r>
                      <a:endParaRPr sz="1600"/>
                    </a:p>
                  </a:txBody>
                  <a:tcPr marL="91425" marR="91425" marT="91425" marB="91425" anchor="ctr"/>
                </a:tc>
                <a:tc>
                  <a:txBody>
                    <a:bodyPr/>
                    <a:lstStyle/>
                    <a:p>
                      <a:pPr marL="0" lvl="0" indent="0" algn="ctr" rtl="0">
                        <a:spcBef>
                          <a:spcPts val="0"/>
                        </a:spcBef>
                        <a:spcAft>
                          <a:spcPts val="0"/>
                        </a:spcAft>
                        <a:buNone/>
                      </a:pPr>
                      <a:r>
                        <a:rPr lang="en-US" sz="1600"/>
                        <a:t>2,901</a:t>
                      </a:r>
                      <a:endParaRPr sz="1600"/>
                    </a:p>
                  </a:txBody>
                  <a:tcPr marL="91425" marR="91425" marT="91425" marB="91425" anchor="ctr"/>
                </a:tc>
                <a:tc>
                  <a:txBody>
                    <a:bodyPr/>
                    <a:lstStyle/>
                    <a:p>
                      <a:pPr marL="0" lvl="0" indent="0" algn="ctr" rtl="0">
                        <a:spcBef>
                          <a:spcPts val="0"/>
                        </a:spcBef>
                        <a:spcAft>
                          <a:spcPts val="0"/>
                        </a:spcAft>
                        <a:buNone/>
                      </a:pPr>
                      <a:r>
                        <a:rPr lang="en-US" sz="1600"/>
                        <a:t>137</a:t>
                      </a:r>
                      <a:endParaRPr sz="1600"/>
                    </a:p>
                  </a:txBody>
                  <a:tcPr marL="91425" marR="91425" marT="91425" marB="91425" anchor="ctr"/>
                </a:tc>
                <a:tc>
                  <a:txBody>
                    <a:bodyPr/>
                    <a:lstStyle/>
                    <a:p>
                      <a:pPr marL="0" lvl="0" indent="0" algn="ctr" rtl="0">
                        <a:spcBef>
                          <a:spcPts val="0"/>
                        </a:spcBef>
                        <a:spcAft>
                          <a:spcPts val="0"/>
                        </a:spcAft>
                        <a:buNone/>
                      </a:pPr>
                      <a:r>
                        <a:rPr lang="en-US" sz="1600"/>
                        <a:t>95.5%</a:t>
                      </a:r>
                      <a:endParaRPr sz="1600"/>
                    </a:p>
                  </a:txBody>
                  <a:tcPr marL="91425" marR="91425" marT="91425" marB="91425" anchor="ct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US" sz="1600"/>
                        <a:t>Fund vehicle instead of borrower</a:t>
                      </a:r>
                      <a:endParaRPr sz="1600"/>
                    </a:p>
                  </a:txBody>
                  <a:tcPr marL="91425" marR="91425" marT="91425" marB="91425" anchor="ctr"/>
                </a:tc>
                <a:tc>
                  <a:txBody>
                    <a:bodyPr/>
                    <a:lstStyle/>
                    <a:p>
                      <a:pPr marL="0" lvl="0" indent="0" algn="ctr" rtl="0">
                        <a:spcBef>
                          <a:spcPts val="0"/>
                        </a:spcBef>
                        <a:spcAft>
                          <a:spcPts val="0"/>
                        </a:spcAft>
                        <a:buNone/>
                      </a:pPr>
                      <a:r>
                        <a:rPr lang="en-US" sz="1600"/>
                        <a:t>1,053</a:t>
                      </a:r>
                      <a:endParaRPr sz="1600"/>
                    </a:p>
                  </a:txBody>
                  <a:tcPr marL="91425" marR="91425" marT="91425" marB="91425" anchor="ctr"/>
                </a:tc>
                <a:tc>
                  <a:txBody>
                    <a:bodyPr/>
                    <a:lstStyle/>
                    <a:p>
                      <a:pPr marL="0" lvl="0" indent="0" algn="ctr" rtl="0">
                        <a:spcBef>
                          <a:spcPts val="0"/>
                        </a:spcBef>
                        <a:spcAft>
                          <a:spcPts val="0"/>
                        </a:spcAft>
                        <a:buNone/>
                      </a:pPr>
                      <a:r>
                        <a:rPr lang="en-US" sz="1600"/>
                        <a:t>1,000</a:t>
                      </a:r>
                      <a:endParaRPr sz="1600"/>
                    </a:p>
                  </a:txBody>
                  <a:tcPr marL="91425" marR="91425" marT="91425" marB="91425" anchor="ctr"/>
                </a:tc>
                <a:tc>
                  <a:txBody>
                    <a:bodyPr/>
                    <a:lstStyle/>
                    <a:p>
                      <a:pPr marL="0" lvl="0" indent="0" algn="ctr" rtl="0">
                        <a:spcBef>
                          <a:spcPts val="0"/>
                        </a:spcBef>
                        <a:spcAft>
                          <a:spcPts val="0"/>
                        </a:spcAft>
                        <a:buNone/>
                      </a:pPr>
                      <a:r>
                        <a:rPr lang="en-US" sz="1600"/>
                        <a:t>53</a:t>
                      </a:r>
                      <a:endParaRPr sz="1600"/>
                    </a:p>
                  </a:txBody>
                  <a:tcPr marL="91425" marR="91425" marT="91425" marB="91425" anchor="ctr"/>
                </a:tc>
                <a:tc>
                  <a:txBody>
                    <a:bodyPr/>
                    <a:lstStyle/>
                    <a:p>
                      <a:pPr marL="0" lvl="0" indent="0" algn="ctr" rtl="0">
                        <a:spcBef>
                          <a:spcPts val="0"/>
                        </a:spcBef>
                        <a:spcAft>
                          <a:spcPts val="0"/>
                        </a:spcAft>
                        <a:buNone/>
                      </a:pPr>
                      <a:r>
                        <a:rPr lang="en-US" sz="1600"/>
                        <a:t>95.0%</a:t>
                      </a:r>
                      <a:endParaRPr sz="1600"/>
                    </a:p>
                  </a:txBody>
                  <a:tcPr marL="91425" marR="91425" marT="91425" marB="91425" anchor="ctr"/>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None/>
                      </a:pPr>
                      <a:r>
                        <a:rPr lang="en-US" sz="1600"/>
                        <a:t>No-borrower placeholder</a:t>
                      </a:r>
                      <a:endParaRPr sz="1600"/>
                    </a:p>
                  </a:txBody>
                  <a:tcPr marL="91425" marR="91425" marT="91425" marB="91425" anchor="ctr"/>
                </a:tc>
                <a:tc>
                  <a:txBody>
                    <a:bodyPr/>
                    <a:lstStyle/>
                    <a:p>
                      <a:pPr marL="0" lvl="0" indent="0" algn="ctr" rtl="0">
                        <a:spcBef>
                          <a:spcPts val="0"/>
                        </a:spcBef>
                        <a:spcAft>
                          <a:spcPts val="0"/>
                        </a:spcAft>
                        <a:buNone/>
                      </a:pPr>
                      <a:r>
                        <a:rPr lang="en-US" sz="1600"/>
                        <a:t>171</a:t>
                      </a:r>
                      <a:endParaRPr sz="1600"/>
                    </a:p>
                  </a:txBody>
                  <a:tcPr marL="91425" marR="91425" marT="91425" marB="91425" anchor="ctr"/>
                </a:tc>
                <a:tc>
                  <a:txBody>
                    <a:bodyPr/>
                    <a:lstStyle/>
                    <a:p>
                      <a:pPr marL="0" lvl="0" indent="0" algn="ctr" rtl="0">
                        <a:spcBef>
                          <a:spcPts val="0"/>
                        </a:spcBef>
                        <a:spcAft>
                          <a:spcPts val="0"/>
                        </a:spcAft>
                        <a:buNone/>
                      </a:pPr>
                      <a:r>
                        <a:rPr lang="en-US" sz="1600"/>
                        <a:t>144</a:t>
                      </a:r>
                      <a:endParaRPr sz="1600"/>
                    </a:p>
                  </a:txBody>
                  <a:tcPr marL="91425" marR="91425" marT="91425" marB="91425" anchor="ctr"/>
                </a:tc>
                <a:tc>
                  <a:txBody>
                    <a:bodyPr/>
                    <a:lstStyle/>
                    <a:p>
                      <a:pPr marL="0" lvl="0" indent="0" algn="ctr" rtl="0">
                        <a:spcBef>
                          <a:spcPts val="0"/>
                        </a:spcBef>
                        <a:spcAft>
                          <a:spcPts val="0"/>
                        </a:spcAft>
                        <a:buNone/>
                      </a:pPr>
                      <a:r>
                        <a:rPr lang="en-US" sz="1600"/>
                        <a:t>27</a:t>
                      </a:r>
                      <a:endParaRPr sz="1600"/>
                    </a:p>
                  </a:txBody>
                  <a:tcPr marL="91425" marR="91425" marT="91425" marB="91425" anchor="ctr"/>
                </a:tc>
                <a:tc>
                  <a:txBody>
                    <a:bodyPr/>
                    <a:lstStyle/>
                    <a:p>
                      <a:pPr marL="0" lvl="0" indent="0" algn="ctr" rtl="0">
                        <a:spcBef>
                          <a:spcPts val="0"/>
                        </a:spcBef>
                        <a:spcAft>
                          <a:spcPts val="0"/>
                        </a:spcAft>
                        <a:buNone/>
                      </a:pPr>
                      <a:r>
                        <a:rPr lang="en-US" sz="1600"/>
                        <a:t>84.2%</a:t>
                      </a:r>
                      <a:endParaRPr sz="1600"/>
                    </a:p>
                  </a:txBody>
                  <a:tcPr marL="91425" marR="91425" marT="91425" marB="91425" anchor="ctr"/>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None/>
                      </a:pPr>
                      <a:r>
                        <a:rPr lang="en-US" sz="1600"/>
                        <a:t>Fund vehicle appended</a:t>
                      </a:r>
                      <a:endParaRPr sz="1600"/>
                    </a:p>
                  </a:txBody>
                  <a:tcPr marL="91425" marR="91425" marT="91425" marB="91425" anchor="ctr"/>
                </a:tc>
                <a:tc>
                  <a:txBody>
                    <a:bodyPr/>
                    <a:lstStyle/>
                    <a:p>
                      <a:pPr marL="0" lvl="0" indent="0" algn="ctr" rtl="0">
                        <a:spcBef>
                          <a:spcPts val="0"/>
                        </a:spcBef>
                        <a:spcAft>
                          <a:spcPts val="0"/>
                        </a:spcAft>
                        <a:buNone/>
                      </a:pPr>
                      <a:r>
                        <a:rPr lang="en-US" sz="1600"/>
                        <a:t>147</a:t>
                      </a:r>
                      <a:endParaRPr sz="1600"/>
                    </a:p>
                  </a:txBody>
                  <a:tcPr marL="91425" marR="91425" marT="91425" marB="91425" anchor="ctr"/>
                </a:tc>
                <a:tc>
                  <a:txBody>
                    <a:bodyPr/>
                    <a:lstStyle/>
                    <a:p>
                      <a:pPr marL="0" lvl="0" indent="0" algn="ctr" rtl="0">
                        <a:spcBef>
                          <a:spcPts val="0"/>
                        </a:spcBef>
                        <a:spcAft>
                          <a:spcPts val="0"/>
                        </a:spcAft>
                        <a:buNone/>
                      </a:pPr>
                      <a:r>
                        <a:rPr lang="en-US" sz="1600"/>
                        <a:t>141</a:t>
                      </a:r>
                      <a:endParaRPr sz="1600"/>
                    </a:p>
                  </a:txBody>
                  <a:tcPr marL="91425" marR="91425" marT="91425" marB="91425" anchor="ctr"/>
                </a:tc>
                <a:tc>
                  <a:txBody>
                    <a:bodyPr/>
                    <a:lstStyle/>
                    <a:p>
                      <a:pPr marL="0" lvl="0" indent="0" algn="ctr" rtl="0">
                        <a:spcBef>
                          <a:spcPts val="0"/>
                        </a:spcBef>
                        <a:spcAft>
                          <a:spcPts val="0"/>
                        </a:spcAft>
                        <a:buNone/>
                      </a:pPr>
                      <a:r>
                        <a:rPr lang="en-US" sz="1600"/>
                        <a:t>6</a:t>
                      </a:r>
                      <a:endParaRPr sz="1600"/>
                    </a:p>
                  </a:txBody>
                  <a:tcPr marL="91425" marR="91425" marT="91425" marB="91425" anchor="ctr"/>
                </a:tc>
                <a:tc>
                  <a:txBody>
                    <a:bodyPr/>
                    <a:lstStyle/>
                    <a:p>
                      <a:pPr marL="0" lvl="0" indent="0" algn="ctr" rtl="0">
                        <a:spcBef>
                          <a:spcPts val="0"/>
                        </a:spcBef>
                        <a:spcAft>
                          <a:spcPts val="0"/>
                        </a:spcAft>
                        <a:buNone/>
                      </a:pPr>
                      <a:r>
                        <a:rPr lang="en-US" sz="1600"/>
                        <a:t>95.9%</a:t>
                      </a:r>
                      <a:endParaRPr sz="1600"/>
                    </a:p>
                  </a:txBody>
                  <a:tcPr marL="91425" marR="91425" marT="91425" marB="91425" anchor="ctr"/>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None/>
                      </a:pPr>
                      <a:r>
                        <a:rPr lang="en-US" sz="1600"/>
                        <a:t>Industry prefix glued</a:t>
                      </a:r>
                      <a:endParaRPr sz="1600"/>
                    </a:p>
                  </a:txBody>
                  <a:tcPr marL="91425" marR="91425" marT="91425" marB="91425" anchor="ctr"/>
                </a:tc>
                <a:tc>
                  <a:txBody>
                    <a:bodyPr/>
                    <a:lstStyle/>
                    <a:p>
                      <a:pPr marL="0" lvl="0" indent="0" algn="ctr" rtl="0">
                        <a:spcBef>
                          <a:spcPts val="0"/>
                        </a:spcBef>
                        <a:spcAft>
                          <a:spcPts val="0"/>
                        </a:spcAft>
                        <a:buNone/>
                      </a:pPr>
                      <a:r>
                        <a:rPr lang="en-US" sz="1600"/>
                        <a:t>51</a:t>
                      </a:r>
                      <a:endParaRPr sz="1600"/>
                    </a:p>
                  </a:txBody>
                  <a:tcPr marL="91425" marR="91425" marT="91425" marB="91425" anchor="ctr"/>
                </a:tc>
                <a:tc>
                  <a:txBody>
                    <a:bodyPr/>
                    <a:lstStyle/>
                    <a:p>
                      <a:pPr marL="0" lvl="0" indent="0" algn="ctr" rtl="0">
                        <a:spcBef>
                          <a:spcPts val="0"/>
                        </a:spcBef>
                        <a:spcAft>
                          <a:spcPts val="0"/>
                        </a:spcAft>
                        <a:buNone/>
                      </a:pPr>
                      <a:r>
                        <a:rPr lang="en-US" sz="1600"/>
                        <a:t>50</a:t>
                      </a:r>
                      <a:endParaRPr sz="1600"/>
                    </a:p>
                  </a:txBody>
                  <a:tcPr marL="91425" marR="91425" marT="91425" marB="91425" anchor="ctr"/>
                </a:tc>
                <a:tc>
                  <a:txBody>
                    <a:bodyPr/>
                    <a:lstStyle/>
                    <a:p>
                      <a:pPr marL="0" lvl="0" indent="0" algn="ctr" rtl="0">
                        <a:spcBef>
                          <a:spcPts val="0"/>
                        </a:spcBef>
                        <a:spcAft>
                          <a:spcPts val="0"/>
                        </a:spcAft>
                        <a:buNone/>
                      </a:pPr>
                      <a:r>
                        <a:rPr lang="en-US" sz="1600"/>
                        <a:t>1</a:t>
                      </a:r>
                      <a:endParaRPr sz="1600"/>
                    </a:p>
                  </a:txBody>
                  <a:tcPr marL="91425" marR="91425" marT="91425" marB="91425" anchor="ctr"/>
                </a:tc>
                <a:tc>
                  <a:txBody>
                    <a:bodyPr/>
                    <a:lstStyle/>
                    <a:p>
                      <a:pPr marL="0" lvl="0" indent="0" algn="ctr" rtl="0">
                        <a:spcBef>
                          <a:spcPts val="0"/>
                        </a:spcBef>
                        <a:spcAft>
                          <a:spcPts val="0"/>
                        </a:spcAft>
                        <a:buNone/>
                      </a:pPr>
                      <a:r>
                        <a:rPr lang="en-US" sz="1600"/>
                        <a:t>98.0%</a:t>
                      </a:r>
                      <a:endParaRPr sz="1600"/>
                    </a:p>
                  </a:txBody>
                  <a:tcPr marL="91425" marR="91425" marT="91425" marB="91425" anchor="ctr"/>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None/>
                      </a:pPr>
                      <a:r>
                        <a:rPr lang="en-US" sz="1600"/>
                        <a:t>Total</a:t>
                      </a:r>
                      <a:endParaRPr sz="1600"/>
                    </a:p>
                  </a:txBody>
                  <a:tcPr marL="91425" marR="91425" marT="91425" marB="91425" anchor="ctr"/>
                </a:tc>
                <a:tc>
                  <a:txBody>
                    <a:bodyPr/>
                    <a:lstStyle/>
                    <a:p>
                      <a:pPr marL="0" lvl="0" indent="0" algn="ctr" rtl="0">
                        <a:spcBef>
                          <a:spcPts val="0"/>
                        </a:spcBef>
                        <a:spcAft>
                          <a:spcPts val="0"/>
                        </a:spcAft>
                        <a:buNone/>
                      </a:pPr>
                      <a:r>
                        <a:rPr lang="en-US" sz="1600"/>
                        <a:t>4,460</a:t>
                      </a:r>
                      <a:endParaRPr sz="1600"/>
                    </a:p>
                  </a:txBody>
                  <a:tcPr marL="91425" marR="91425" marT="91425" marB="91425" anchor="ctr"/>
                </a:tc>
                <a:tc>
                  <a:txBody>
                    <a:bodyPr/>
                    <a:lstStyle/>
                    <a:p>
                      <a:pPr marL="0" lvl="0" indent="0" algn="ctr" rtl="0">
                        <a:spcBef>
                          <a:spcPts val="0"/>
                        </a:spcBef>
                        <a:spcAft>
                          <a:spcPts val="0"/>
                        </a:spcAft>
                        <a:buNone/>
                      </a:pPr>
                      <a:r>
                        <a:rPr lang="en-US" sz="1600"/>
                        <a:t>4,236</a:t>
                      </a:r>
                      <a:endParaRPr sz="1600"/>
                    </a:p>
                  </a:txBody>
                  <a:tcPr marL="91425" marR="91425" marT="91425" marB="91425" anchor="ctr"/>
                </a:tc>
                <a:tc>
                  <a:txBody>
                    <a:bodyPr/>
                    <a:lstStyle/>
                    <a:p>
                      <a:pPr marL="0" lvl="0" indent="0" algn="ctr" rtl="0">
                        <a:spcBef>
                          <a:spcPts val="0"/>
                        </a:spcBef>
                        <a:spcAft>
                          <a:spcPts val="0"/>
                        </a:spcAft>
                        <a:buNone/>
                      </a:pPr>
                      <a:r>
                        <a:rPr lang="en-US" sz="1600"/>
                        <a:t>224</a:t>
                      </a:r>
                      <a:endParaRPr sz="1600"/>
                    </a:p>
                  </a:txBody>
                  <a:tcPr marL="91425" marR="91425" marT="91425" marB="91425" anchor="ctr"/>
                </a:tc>
                <a:tc>
                  <a:txBody>
                    <a:bodyPr/>
                    <a:lstStyle/>
                    <a:p>
                      <a:pPr marL="0" lvl="0" indent="0" algn="ctr" rtl="0">
                        <a:spcBef>
                          <a:spcPts val="0"/>
                        </a:spcBef>
                        <a:spcAft>
                          <a:spcPts val="0"/>
                        </a:spcAft>
                        <a:buNone/>
                      </a:pPr>
                      <a:r>
                        <a:rPr lang="en-US" sz="1600"/>
                        <a:t>95.0%</a:t>
                      </a:r>
                      <a:endParaRPr sz="1600"/>
                    </a:p>
                  </a:txBody>
                  <a:tcPr marL="91425" marR="91425" marT="91425" marB="91425"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 name="Google Shape;46;h71c2a19aba2f255b_0_15"/>
          <p:cNvPicPr>
            <a:picLocks noChangeAspect="1"/>
          </p:cNvPicPr>
          <p:nvPr/>
        </p:nvPicPr>
        <p:blipFill rotWithShape="1">
          <a:blip r:embed="rId3">
            <a:alphaModFix/>
          </a:blip>
          <a:srcRect/>
          <a:stretch/>
        </p:blipFill>
        <p:spPr>
          <a:xfrm>
            <a:off x="8754466" y="433426"/>
            <a:ext cx="254203" cy="254203"/>
          </a:xfrm>
          <a:prstGeom prst="rect">
            <a:avLst/>
          </a:prstGeom>
          <a:ln>
            <a:noFill/>
          </a:ln>
        </p:spPr>
      </p:pic>
      <p:cxnSp>
        <p:nvCxnSpPr>
          <p:cNvPr id="69" name="Google Shape;47;h71c2a19aba2f255b_0_15"/>
          <p:cNvCxnSpPr/>
          <p:nvPr/>
        </p:nvCxnSpPr>
        <p:spPr>
          <a:xfrm>
            <a:off x="9062618" y="437083"/>
            <a:ext cx="0" cy="252300"/>
          </a:xfrm>
          <a:prstGeom prst="straightConnector1">
            <a:avLst/>
          </a:prstGeom>
          <a:ln w="9525" cap="flat">
            <a:solidFill>
              <a:srgbClr val="7C808B"/>
            </a:solidFill>
            <a:prstDash val="solid"/>
            <a:round/>
            <a:headEnd type="none" w="sm" len="sm"/>
            <a:tailEnd type="none" w="sm" len="sm"/>
          </a:ln>
        </p:spPr>
      </p:cxnSp>
      <p:pic>
        <p:nvPicPr>
          <p:cNvPr id="70" name="Google Shape;48;h71c2a19aba2f255b_0_15"/>
          <p:cNvPicPr>
            <a:picLocks noChangeAspect="1"/>
          </p:cNvPicPr>
          <p:nvPr/>
        </p:nvPicPr>
        <p:blipFill rotWithShape="1">
          <a:blip r:embed="rId4">
            <a:alphaModFix/>
          </a:blip>
          <a:srcRect/>
          <a:stretch/>
        </p:blipFill>
        <p:spPr>
          <a:xfrm>
            <a:off x="9131198" y="433426"/>
            <a:ext cx="241402" cy="241402"/>
          </a:xfrm>
          <a:prstGeom prst="rect">
            <a:avLst/>
          </a:prstGeom>
          <a:ln>
            <a:noFill/>
          </a:ln>
        </p:spPr>
      </p:pic>
      <p:sp>
        <p:nvSpPr>
          <p:cNvPr id="49" name="Google Shape;49;h71c2a19aba2f255b_0_15">
            <a:extLst>
              <a:ext uri="{FF2B5EF4-FFF2-40B4-BE49-F238E27FC236}">
                <a16:creationId xmlns:a16="http://schemas.microsoft.com/office/drawing/2014/main" id="{F7C8FF32-EA01-461E-88CF-4C068224349E}"/>
              </a:ext>
            </a:extLst>
          </p:cNvPr>
          <p:cNvSpPr>
            <a:spLocks noGrp="1"/>
          </p:cNvSpPr>
          <p:nvPr/>
        </p:nvSpPr>
        <p:spPr>
          <a:xfrm>
            <a:off x="9425635" y="407822"/>
            <a:ext cx="2377500" cy="1830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404451"/>
              </a:buClr>
              <a:buSzPts val="920"/>
              <a:buFont typeface="DM Sans"/>
              <a:buNone/>
            </a:pPr>
            <a:r>
              <a:rPr sz="920" b="0" i="0" u="none" cap="none">
                <a:solidFill>
                  <a:srgbClr val="404451"/>
                </a:solidFill>
                <a:latin typeface="DM Sans"/>
                <a:ea typeface="DM Sans"/>
                <a:cs typeface="DM Sans"/>
              </a:rPr>
              <a:t>MARATHON ASSET MANAGEMENT</a:t>
            </a:r>
            <a:endParaRPr sz="920" b="0" i="0" u="none" cap="none">
              <a:solidFill>
                <a:schemeClr val="dk1"/>
              </a:solidFill>
              <a:latin typeface="Calibri"/>
              <a:ea typeface="Calibri"/>
              <a:cs typeface="Calibri"/>
            </a:endParaRPr>
          </a:p>
        </p:txBody>
      </p:sp>
      <p:sp>
        <p:nvSpPr>
          <p:cNvPr id="50" name="Google Shape;50;h71c2a19aba2f255b_0_15">
            <a:extLst>
              <a:ext uri="{FF2B5EF4-FFF2-40B4-BE49-F238E27FC236}">
                <a16:creationId xmlns:a16="http://schemas.microsoft.com/office/drawing/2014/main" id="{7280E1BF-A873-4EC2-8099-CB40BD3FB81A}"/>
              </a:ext>
            </a:extLst>
          </p:cNvPr>
          <p:cNvSpPr>
            <a:spLocks noGrp="1"/>
          </p:cNvSpPr>
          <p:nvPr/>
        </p:nvSpPr>
        <p:spPr>
          <a:xfrm>
            <a:off x="9425635" y="576072"/>
            <a:ext cx="2377500" cy="1464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404451"/>
              </a:buClr>
              <a:buSzPts val="620"/>
              <a:buFont typeface="DM Sans"/>
              <a:buNone/>
            </a:pPr>
            <a:r>
              <a:rPr sz="620" b="0" i="0" u="none" cap="none">
                <a:solidFill>
                  <a:srgbClr val="404451"/>
                </a:solidFill>
                <a:latin typeface="DM Sans"/>
                <a:ea typeface="DM Sans"/>
                <a:cs typeface="DM Sans"/>
              </a:rPr>
              <a:t>CORNELL CFEM CAPSTONE 2026</a:t>
            </a:r>
            <a:endParaRPr sz="620" b="0" i="0" u="none" cap="none">
              <a:solidFill>
                <a:schemeClr val="dk1"/>
              </a:solidFill>
              <a:latin typeface="Calibri"/>
              <a:ea typeface="Calibri"/>
              <a:cs typeface="Calibri"/>
            </a:endParaRPr>
          </a:p>
        </p:txBody>
      </p:sp>
      <p:sp>
        <p:nvSpPr>
          <p:cNvPr id="51" name="Google Shape;51;h71c2a19aba2f255b_0_15">
            <a:extLst>
              <a:ext uri="{FF2B5EF4-FFF2-40B4-BE49-F238E27FC236}">
                <a16:creationId xmlns:a16="http://schemas.microsoft.com/office/drawing/2014/main" id="{A00E0410-CCB9-477E-A305-111AC64CBDB1}"/>
              </a:ext>
            </a:extLst>
          </p:cNvPr>
          <p:cNvSpPr>
            <a:spLocks noGrp="1"/>
          </p:cNvSpPr>
          <p:nvPr/>
        </p:nvSpPr>
        <p:spPr>
          <a:xfrm>
            <a:off x="685800" y="695325"/>
            <a:ext cx="10820400" cy="628650"/>
          </a:xfrm>
          <a:prstGeom prst="rect">
            <a:avLst/>
          </a:prstGeom>
          <a:noFill/>
          <a:ln>
            <a:noFill/>
          </a:ln>
        </p:spPr>
        <p:txBody>
          <a:bodyPr spcFirstLastPara="1" wrap="none" lIns="0" tIns="0" rIns="0" bIns="0" anchor="t">
            <a:noAutofit/>
          </a:bodyPr>
          <a:lstStyle/>
          <a:p>
            <a:pPr marL="0" marR="0" lvl="0" indent="0" algn="l">
              <a:lnSpc>
                <a:spcPct val="100000"/>
              </a:lnSpc>
              <a:spcBef>
                <a:spcPts val="0"/>
              </a:spcBef>
              <a:spcAft>
                <a:spcPts val="0"/>
              </a:spcAft>
              <a:buClr>
                <a:srgbClr val="000000"/>
              </a:buClr>
              <a:buSzPts val="4000"/>
              <a:buFont typeface="Arial"/>
              <a:buNone/>
              <a:defRPr sz="3300" b="1">
                <a:solidFill>
                  <a:srgbClr val="20283F"/>
                </a:solidFill>
                <a:latin typeface="Saira"/>
                <a:ea typeface="Saira"/>
                <a:cs typeface="Saira"/>
              </a:defRPr>
            </a:pPr>
            <a:r>
              <a:rPr sz="3300" b="1">
                <a:solidFill>
                  <a:srgbClr val="20283F"/>
                </a:solidFill>
                <a:latin typeface="Saira"/>
                <a:ea typeface="Saira"/>
                <a:cs typeface="Saira"/>
              </a:rPr>
              <a:t>Classification across 14 quarters</a:t>
            </a:r>
            <a:endParaRPr sz="1800" b="0" i="0" u="none" cap="none">
              <a:solidFill>
                <a:schemeClr val="dk1"/>
              </a:solidFill>
              <a:latin typeface="Calibri"/>
              <a:ea typeface="Calibri"/>
              <a:cs typeface="Calibri"/>
            </a:endParaRPr>
          </a:p>
        </p:txBody>
      </p:sp>
      <p:sp>
        <p:nvSpPr>
          <p:cNvPr id="52" name="Google Shape;52;h71c2a19aba2f255b_0_15">
            <a:extLst>
              <a:ext uri="{FF2B5EF4-FFF2-40B4-BE49-F238E27FC236}">
                <a16:creationId xmlns:a16="http://schemas.microsoft.com/office/drawing/2014/main" id="{DBF48D91-7877-404F-8BA0-8E56AA3476D2}"/>
              </a:ext>
            </a:extLst>
          </p:cNvPr>
          <p:cNvSpPr>
            <a:spLocks noGrp="1"/>
          </p:cNvSpPr>
          <p:nvPr/>
        </p:nvSpPr>
        <p:spPr>
          <a:xfrm>
            <a:off x="685800" y="219075"/>
            <a:ext cx="3714750" cy="438150"/>
          </a:xfrm>
          <a:prstGeom prst="rect">
            <a:avLst/>
          </a:prstGeom>
          <a:noFill/>
          <a:ln>
            <a:noFill/>
          </a:ln>
        </p:spPr>
        <p:txBody>
          <a:bodyPr spcFirstLastPara="1" wrap="square" lIns="91440" tIns="91440" rIns="91440" bIns="91440" anchor="t">
            <a:noAutofit/>
          </a:bodyPr>
          <a:lstStyle/>
          <a:p>
            <a:pPr marL="0" lvl="0" indent="0" algn="l">
              <a:spcBef>
                <a:spcPts val="0"/>
              </a:spcBef>
              <a:spcAft>
                <a:spcPts val="0"/>
              </a:spcAft>
              <a:buNone/>
              <a:defRPr sz="1650" b="1">
                <a:solidFill>
                  <a:srgbClr val="0753D6"/>
                </a:solidFill>
                <a:latin typeface="DM Sans"/>
                <a:ea typeface="DM Sans"/>
                <a:cs typeface="DM Sans"/>
              </a:defRPr>
            </a:pPr>
            <a:r>
              <a:rPr sz="1650" b="1">
                <a:solidFill>
                  <a:srgbClr val="0753D6"/>
                </a:solidFill>
                <a:latin typeface="DM Sans"/>
                <a:ea typeface="DM Sans"/>
                <a:cs typeface="DM Sans"/>
              </a:rPr>
              <a:t>Sector &amp; seniority</a:t>
            </a:r>
            <a:endParaRPr sz="1600" b="1">
              <a:solidFill>
                <a:srgbClr val="1155CC"/>
              </a:solidFill>
            </a:endParaRPr>
          </a:p>
        </p:txBody>
      </p:sp>
      <p:sp>
        <p:nvSpPr>
          <p:cNvPr id="65" name="scope">
            <a:extLst>
              <a:ext uri="{FF2B5EF4-FFF2-40B4-BE49-F238E27FC236}">
                <a16:creationId xmlns:a16="http://schemas.microsoft.com/office/drawing/2014/main" id="{C5F65AF9-2DD0-4590-BFBA-2F8705B23B6C}"/>
              </a:ext>
            </a:extLst>
          </p:cNvPr>
          <p:cNvSpPr>
            <a:spLocks noGrp="1"/>
          </p:cNvSpPr>
          <p:nvPr/>
        </p:nvSpPr>
        <p:spPr>
          <a:xfrm>
            <a:off x="685800" y="1447800"/>
            <a:ext cx="10820400" cy="533400"/>
          </a:xfrm>
          <a:prstGeom prst="rect">
            <a:avLst/>
          </a:prstGeom>
          <a:noFill/>
          <a:ln w="0">
            <a:noFill/>
          </a:ln>
        </p:spPr>
        <p:txBody>
          <a:bodyPr wrap="square" lIns="0" tIns="0" rIns="0" bIns="0" anchor="t">
            <a:noAutofit/>
          </a:bodyPr>
          <a:lstStyle/>
          <a:p>
            <a:pPr algn="l">
              <a:defRPr sz="1875">
                <a:solidFill>
                  <a:srgbClr val="627086"/>
                </a:solidFill>
                <a:latin typeface="DM Sans"/>
                <a:ea typeface="DM Sans"/>
                <a:cs typeface="DM Sans"/>
              </a:defRPr>
            </a:pPr>
            <a:r>
              <a:rPr sz="1875">
                <a:solidFill>
                  <a:srgbClr val="627086"/>
                </a:solidFill>
                <a:latin typeface="DM Sans"/>
                <a:ea typeface="DM Sans"/>
                <a:cs typeface="DM Sans"/>
              </a:rPr>
              <a:t>608,680 source records, from 2023Q1 to 2026Q2</a:t>
            </a:r>
          </a:p>
        </p:txBody>
      </p:sp>
      <p:graphicFrame>
        <p:nvGraphicFramePr>
          <p:cNvPr id="76" name="表格 75"/>
          <p:cNvGraphicFramePr/>
          <p:nvPr/>
        </p:nvGraphicFramePr>
        <p:xfrm>
          <a:off x="685800" y="2209800"/>
          <a:ext cx="10820400" cy="2952750"/>
        </p:xfrm>
        <a:graphic>
          <a:graphicData uri="http://schemas.openxmlformats.org/drawingml/2006/table">
            <a:tbl>
              <a:tblPr firstRow="1"/>
              <a:tblGrid>
                <a:gridCol w="2524125">
                  <a:extLst>
                    <a:ext uri="{9D8B030D-6E8A-4147-A177-3AD203B41FA5}">
                      <a16:colId xmlns:a16="http://schemas.microsoft.com/office/drawing/2014/main" val="20000"/>
                    </a:ext>
                  </a:extLst>
                </a:gridCol>
                <a:gridCol w="8296275">
                  <a:extLst>
                    <a:ext uri="{9D8B030D-6E8A-4147-A177-3AD203B41FA5}">
                      <a16:colId xmlns:a16="http://schemas.microsoft.com/office/drawing/2014/main" val="20001"/>
                    </a:ext>
                  </a:extLst>
                </a:gridCol>
              </a:tblGrid>
              <a:tr h="514350">
                <a:tc>
                  <a:txBody>
                    <a:bodyPr/>
                    <a:lstStyle/>
                    <a:p>
                      <a:r>
                        <a:rPr sz="1800" b="1">
                          <a:solidFill>
                            <a:srgbClr val="20283F"/>
                          </a:solidFill>
                          <a:latin typeface="DM Sans"/>
                          <a:ea typeface="DM Sans"/>
                          <a:cs typeface="DM Sans"/>
                        </a:rPr>
                        <a:t>Component</a:t>
                      </a:r>
                    </a:p>
                  </a:txBody>
                  <a:tcPr anchor="ctr">
                    <a:solidFill>
                      <a:srgbClr val="E3EBF2"/>
                    </a:solidFill>
                  </a:tcPr>
                </a:tc>
                <a:tc>
                  <a:txBody>
                    <a:bodyPr/>
                    <a:lstStyle/>
                    <a:p>
                      <a:r>
                        <a:rPr sz="1800" b="1">
                          <a:solidFill>
                            <a:srgbClr val="20283F"/>
                          </a:solidFill>
                          <a:latin typeface="DM Sans"/>
                          <a:ea typeface="DM Sans"/>
                          <a:cs typeface="DM Sans"/>
                        </a:rPr>
                        <a:t>Method and output</a:t>
                      </a:r>
                    </a:p>
                  </a:txBody>
                  <a:tcPr anchor="ctr">
                    <a:solidFill>
                      <a:srgbClr val="E3EBF2"/>
                    </a:solidFill>
                  </a:tcPr>
                </a:tc>
                <a:extLst>
                  <a:ext uri="{0D108BD9-81ED-4DB2-BD59-A6C34878D82A}">
                    <a16:rowId xmlns:a16="http://schemas.microsoft.com/office/drawing/2014/main" val="10000"/>
                  </a:ext>
                </a:extLst>
              </a:tr>
              <a:tr h="609600">
                <a:tc>
                  <a:txBody>
                    <a:bodyPr/>
                    <a:lstStyle/>
                    <a:p>
                      <a:r>
                        <a:rPr sz="2025" b="0">
                          <a:solidFill>
                            <a:srgbClr val="20283F"/>
                          </a:solidFill>
                          <a:latin typeface="DM Sans"/>
                          <a:ea typeface="DM Sans"/>
                          <a:cs typeface="DM Sans"/>
                        </a:rPr>
                        <a:t>Sector</a:t>
                      </a:r>
                    </a:p>
                  </a:txBody>
                  <a:tcPr anchor="ctr">
                    <a:solidFill>
                      <a:srgbClr val="F2F6F9"/>
                    </a:solidFill>
                  </a:tcPr>
                </a:tc>
                <a:tc>
                  <a:txBody>
                    <a:bodyPr/>
                    <a:lstStyle/>
                    <a:p>
                      <a:r>
                        <a:rPr sz="2025" b="0">
                          <a:solidFill>
                            <a:srgbClr val="20283F"/>
                          </a:solidFill>
                          <a:latin typeface="DM Sans"/>
                          <a:ea typeface="DM Sans"/>
                          <a:cs typeface="DM Sans"/>
                        </a:rPr>
                        <a:t>Team rules and saved LLM answers</a:t>
                      </a:r>
                    </a:p>
                  </a:txBody>
                  <a:tcPr anchor="ctr">
                    <a:solidFill>
                      <a:srgbClr val="F2F6F9"/>
                    </a:solidFill>
                  </a:tcPr>
                </a:tc>
                <a:extLst>
                  <a:ext uri="{0D108BD9-81ED-4DB2-BD59-A6C34878D82A}">
                    <a16:rowId xmlns:a16="http://schemas.microsoft.com/office/drawing/2014/main" val="10001"/>
                  </a:ext>
                </a:extLst>
              </a:tr>
              <a:tr h="609600">
                <a:tc>
                  <a:txBody>
                    <a:bodyPr/>
                    <a:lstStyle/>
                    <a:p>
                      <a:r>
                        <a:rPr sz="2025" b="0">
                          <a:solidFill>
                            <a:srgbClr val="20283F"/>
                          </a:solidFill>
                          <a:latin typeface="DM Sans"/>
                          <a:ea typeface="DM Sans"/>
                          <a:cs typeface="DM Sans"/>
                        </a:rPr>
                        <a:t>Seniority</a:t>
                      </a:r>
                    </a:p>
                  </a:txBody>
                  <a:tcPr anchor="ctr">
                    <a:solidFill>
                      <a:srgbClr val="F2F6F9"/>
                    </a:solidFill>
                  </a:tcPr>
                </a:tc>
                <a:tc>
                  <a:txBody>
                    <a:bodyPr/>
                    <a:lstStyle/>
                    <a:p>
                      <a:r>
                        <a:rPr sz="2025" b="0">
                          <a:solidFill>
                            <a:srgbClr val="20283F"/>
                          </a:solidFill>
                          <a:latin typeface="DM Sans"/>
                          <a:ea typeface="DM Sans"/>
                          <a:cs typeface="DM Sans"/>
                        </a:rPr>
                        <a:t>Old label plus revised text-rule candidates</a:t>
                      </a:r>
                    </a:p>
                  </a:txBody>
                  <a:tcPr anchor="ctr">
                    <a:solidFill>
                      <a:srgbClr val="F2F6F9"/>
                    </a:solidFill>
                  </a:tcPr>
                </a:tc>
                <a:extLst>
                  <a:ext uri="{0D108BD9-81ED-4DB2-BD59-A6C34878D82A}">
                    <a16:rowId xmlns:a16="http://schemas.microsoft.com/office/drawing/2014/main" val="10002"/>
                  </a:ext>
                </a:extLst>
              </a:tr>
              <a:tr h="609600">
                <a:tc>
                  <a:txBody>
                    <a:bodyPr/>
                    <a:lstStyle/>
                    <a:p>
                      <a:r>
                        <a:rPr sz="2025" b="0">
                          <a:solidFill>
                            <a:srgbClr val="20283F"/>
                          </a:solidFill>
                          <a:latin typeface="DM Sans"/>
                          <a:ea typeface="DM Sans"/>
                          <a:cs typeface="DM Sans"/>
                        </a:rPr>
                        <a:t>Separate fields</a:t>
                      </a:r>
                    </a:p>
                  </a:txBody>
                  <a:tcPr anchor="ctr">
                    <a:solidFill>
                      <a:srgbClr val="F2F6F9"/>
                    </a:solidFill>
                  </a:tcPr>
                </a:tc>
                <a:tc>
                  <a:txBody>
                    <a:bodyPr/>
                    <a:lstStyle/>
                    <a:p>
                      <a:r>
                        <a:rPr sz="2025" b="0">
                          <a:solidFill>
                            <a:srgbClr val="20283F"/>
                          </a:solidFill>
                          <a:latin typeface="DM Sans"/>
                          <a:ea typeface="DM Sans"/>
                          <a:cs typeface="DM Sans"/>
                        </a:rPr>
                        <a:t>Lien rank and loan structure</a:t>
                      </a:r>
                    </a:p>
                  </a:txBody>
                  <a:tcPr anchor="ctr">
                    <a:solidFill>
                      <a:srgbClr val="F2F6F9"/>
                    </a:solidFill>
                  </a:tcPr>
                </a:tc>
                <a:extLst>
                  <a:ext uri="{0D108BD9-81ED-4DB2-BD59-A6C34878D82A}">
                    <a16:rowId xmlns:a16="http://schemas.microsoft.com/office/drawing/2014/main" val="10003"/>
                  </a:ext>
                </a:extLst>
              </a:tr>
              <a:tr h="609600">
                <a:tc>
                  <a:txBody>
                    <a:bodyPr/>
                    <a:lstStyle/>
                    <a:p>
                      <a:r>
                        <a:rPr sz="2025" b="0">
                          <a:solidFill>
                            <a:srgbClr val="20283F"/>
                          </a:solidFill>
                          <a:latin typeface="DM Sans"/>
                          <a:ea typeface="DM Sans"/>
                          <a:cs typeface="DM Sans"/>
                        </a:rPr>
                        <a:t>Traceability</a:t>
                      </a:r>
                    </a:p>
                  </a:txBody>
                  <a:tcPr anchor="ctr">
                    <a:solidFill>
                      <a:srgbClr val="F2F6F9"/>
                    </a:solidFill>
                  </a:tcPr>
                </a:tc>
                <a:tc>
                  <a:txBody>
                    <a:bodyPr/>
                    <a:lstStyle/>
                    <a:p>
                      <a:r>
                        <a:rPr sz="2025" b="0">
                          <a:solidFill>
                            <a:srgbClr val="20283F"/>
                          </a:solidFill>
                          <a:latin typeface="DM Sans"/>
                          <a:ea typeface="DM Sans"/>
                          <a:cs typeface="DM Sans"/>
                        </a:rPr>
                        <a:t>Original text, source keys and change reasons</a:t>
                      </a:r>
                    </a:p>
                  </a:txBody>
                  <a:tcPr anchor="ctr">
                    <a:solidFill>
                      <a:srgbClr val="F2F6F9"/>
                    </a:solidFill>
                  </a:tcPr>
                </a:tc>
                <a:extLst>
                  <a:ext uri="{0D108BD9-81ED-4DB2-BD59-A6C34878D82A}">
                    <a16:rowId xmlns:a16="http://schemas.microsoft.com/office/drawing/2014/main" val="10004"/>
                  </a:ext>
                </a:extLst>
              </a:tr>
            </a:tbl>
          </a:graphicData>
        </a:graphic>
      </p:graphicFrame>
      <p:sp>
        <p:nvSpPr>
          <p:cNvPr id="67" name="scope_note">
            <a:extLst>
              <a:ext uri="{FF2B5EF4-FFF2-40B4-BE49-F238E27FC236}">
                <a16:creationId xmlns:a16="http://schemas.microsoft.com/office/drawing/2014/main" id="{CBF37DD3-B200-4B9A-8D78-FABB7A75B933}"/>
              </a:ext>
            </a:extLst>
          </p:cNvPr>
          <p:cNvSpPr>
            <a:spLocks noGrp="1"/>
          </p:cNvSpPr>
          <p:nvPr/>
        </p:nvSpPr>
        <p:spPr>
          <a:xfrm>
            <a:off x="685800" y="5753100"/>
            <a:ext cx="10820400" cy="381000"/>
          </a:xfrm>
          <a:prstGeom prst="rect">
            <a:avLst/>
          </a:prstGeom>
          <a:noFill/>
          <a:ln w="0">
            <a:noFill/>
          </a:ln>
        </p:spPr>
        <p:txBody>
          <a:bodyPr wrap="square" lIns="0" tIns="0" rIns="0" bIns="0" anchor="t">
            <a:noAutofit/>
          </a:bodyPr>
          <a:lstStyle/>
          <a:p>
            <a:pPr algn="l">
              <a:defRPr sz="1725">
                <a:solidFill>
                  <a:srgbClr val="627086"/>
                </a:solidFill>
                <a:latin typeface="DM Sans"/>
                <a:ea typeface="DM Sans"/>
                <a:cs typeface="DM Sans"/>
              </a:defRPr>
            </a:pPr>
            <a:r>
              <a:rPr sz="1725">
                <a:solidFill>
                  <a:srgbClr val="627086"/>
                </a:solidFill>
                <a:latin typeface="DM Sans"/>
                <a:ea typeface="DM Sans"/>
                <a:cs typeface="DM Sans"/>
              </a:rPr>
              <a:t>Holding-level records. Borrower identities remain unverified.</a:t>
            </a:r>
          </a:p>
        </p:txBody>
      </p:sp>
    </p:spTree>
    <p:extLst>
      <p:ext uri="{BB962C8B-B14F-4D97-AF65-F5344CB8AC3E}">
        <p14:creationId xmlns:p14="http://schemas.microsoft.com/office/powerpoint/2010/main" val="376493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Google Shape;46;h71c2a19aba2f255b_0_15"/>
          <p:cNvPicPr>
            <a:picLocks noChangeAspect="1"/>
          </p:cNvPicPr>
          <p:nvPr/>
        </p:nvPicPr>
        <p:blipFill rotWithShape="1">
          <a:blip r:embed="rId3">
            <a:alphaModFix/>
          </a:blip>
          <a:srcRect/>
          <a:stretch/>
        </p:blipFill>
        <p:spPr>
          <a:xfrm>
            <a:off x="8754466" y="433426"/>
            <a:ext cx="254203" cy="254203"/>
          </a:xfrm>
          <a:prstGeom prst="rect">
            <a:avLst/>
          </a:prstGeom>
          <a:ln>
            <a:noFill/>
          </a:ln>
        </p:spPr>
      </p:pic>
      <p:cxnSp>
        <p:nvCxnSpPr>
          <p:cNvPr id="70" name="Google Shape;47;h71c2a19aba2f255b_0_15"/>
          <p:cNvCxnSpPr/>
          <p:nvPr/>
        </p:nvCxnSpPr>
        <p:spPr>
          <a:xfrm>
            <a:off x="9062618" y="437083"/>
            <a:ext cx="0" cy="252300"/>
          </a:xfrm>
          <a:prstGeom prst="straightConnector1">
            <a:avLst/>
          </a:prstGeom>
          <a:ln w="9525" cap="flat">
            <a:solidFill>
              <a:srgbClr val="7C808B"/>
            </a:solidFill>
            <a:prstDash val="solid"/>
            <a:round/>
            <a:headEnd type="none" w="sm" len="sm"/>
            <a:tailEnd type="none" w="sm" len="sm"/>
          </a:ln>
        </p:spPr>
      </p:cxnSp>
      <p:pic>
        <p:nvPicPr>
          <p:cNvPr id="71" name="Google Shape;48;h71c2a19aba2f255b_0_15"/>
          <p:cNvPicPr>
            <a:picLocks noChangeAspect="1"/>
          </p:cNvPicPr>
          <p:nvPr/>
        </p:nvPicPr>
        <p:blipFill rotWithShape="1">
          <a:blip r:embed="rId4">
            <a:alphaModFix/>
          </a:blip>
          <a:srcRect/>
          <a:stretch/>
        </p:blipFill>
        <p:spPr>
          <a:xfrm>
            <a:off x="9131198" y="433426"/>
            <a:ext cx="241402" cy="241402"/>
          </a:xfrm>
          <a:prstGeom prst="rect">
            <a:avLst/>
          </a:prstGeom>
          <a:ln>
            <a:noFill/>
          </a:ln>
        </p:spPr>
      </p:pic>
      <p:sp>
        <p:nvSpPr>
          <p:cNvPr id="49" name="Google Shape;49;h71c2a19aba2f255b_0_15">
            <a:extLst>
              <a:ext uri="{FF2B5EF4-FFF2-40B4-BE49-F238E27FC236}">
                <a16:creationId xmlns:a16="http://schemas.microsoft.com/office/drawing/2014/main" id="{F7C8FF32-EA01-461E-88CF-4C068224349E}"/>
              </a:ext>
            </a:extLst>
          </p:cNvPr>
          <p:cNvSpPr>
            <a:spLocks noGrp="1"/>
          </p:cNvSpPr>
          <p:nvPr/>
        </p:nvSpPr>
        <p:spPr>
          <a:xfrm>
            <a:off x="9425635" y="407822"/>
            <a:ext cx="2377500" cy="1830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404451"/>
              </a:buClr>
              <a:buSzPts val="920"/>
              <a:buFont typeface="DM Sans"/>
              <a:buNone/>
            </a:pPr>
            <a:r>
              <a:rPr sz="920" b="0" i="0" u="none" cap="none">
                <a:solidFill>
                  <a:srgbClr val="404451"/>
                </a:solidFill>
                <a:latin typeface="DM Sans"/>
                <a:ea typeface="DM Sans"/>
                <a:cs typeface="DM Sans"/>
              </a:rPr>
              <a:t>MARATHON ASSET MANAGEMENT</a:t>
            </a:r>
            <a:endParaRPr sz="920" b="0" i="0" u="none" cap="none">
              <a:solidFill>
                <a:schemeClr val="dk1"/>
              </a:solidFill>
              <a:latin typeface="Calibri"/>
              <a:ea typeface="Calibri"/>
              <a:cs typeface="Calibri"/>
            </a:endParaRPr>
          </a:p>
        </p:txBody>
      </p:sp>
      <p:sp>
        <p:nvSpPr>
          <p:cNvPr id="50" name="Google Shape;50;h71c2a19aba2f255b_0_15">
            <a:extLst>
              <a:ext uri="{FF2B5EF4-FFF2-40B4-BE49-F238E27FC236}">
                <a16:creationId xmlns:a16="http://schemas.microsoft.com/office/drawing/2014/main" id="{7280E1BF-A873-4EC2-8099-CB40BD3FB81A}"/>
              </a:ext>
            </a:extLst>
          </p:cNvPr>
          <p:cNvSpPr>
            <a:spLocks noGrp="1"/>
          </p:cNvSpPr>
          <p:nvPr/>
        </p:nvSpPr>
        <p:spPr>
          <a:xfrm>
            <a:off x="9425635" y="576072"/>
            <a:ext cx="2377500" cy="1464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404451"/>
              </a:buClr>
              <a:buSzPts val="620"/>
              <a:buFont typeface="DM Sans"/>
              <a:buNone/>
            </a:pPr>
            <a:r>
              <a:rPr sz="620" b="0" i="0" u="none" cap="none">
                <a:solidFill>
                  <a:srgbClr val="404451"/>
                </a:solidFill>
                <a:latin typeface="DM Sans"/>
                <a:ea typeface="DM Sans"/>
                <a:cs typeface="DM Sans"/>
              </a:rPr>
              <a:t>CORNELL CFEM CAPSTONE 2026</a:t>
            </a:r>
            <a:endParaRPr sz="620" b="0" i="0" u="none" cap="none">
              <a:solidFill>
                <a:schemeClr val="dk1"/>
              </a:solidFill>
              <a:latin typeface="Calibri"/>
              <a:ea typeface="Calibri"/>
              <a:cs typeface="Calibri"/>
            </a:endParaRPr>
          </a:p>
        </p:txBody>
      </p:sp>
      <p:sp>
        <p:nvSpPr>
          <p:cNvPr id="51" name="Google Shape;51;h71c2a19aba2f255b_0_15">
            <a:extLst>
              <a:ext uri="{FF2B5EF4-FFF2-40B4-BE49-F238E27FC236}">
                <a16:creationId xmlns:a16="http://schemas.microsoft.com/office/drawing/2014/main" id="{A00E0410-CCB9-477E-A305-111AC64CBDB1}"/>
              </a:ext>
            </a:extLst>
          </p:cNvPr>
          <p:cNvSpPr>
            <a:spLocks noGrp="1"/>
          </p:cNvSpPr>
          <p:nvPr/>
        </p:nvSpPr>
        <p:spPr>
          <a:xfrm>
            <a:off x="685800" y="695325"/>
            <a:ext cx="10820400" cy="628650"/>
          </a:xfrm>
          <a:prstGeom prst="rect">
            <a:avLst/>
          </a:prstGeom>
          <a:noFill/>
          <a:ln>
            <a:noFill/>
          </a:ln>
        </p:spPr>
        <p:txBody>
          <a:bodyPr spcFirstLastPara="1" wrap="none" lIns="0" tIns="0" rIns="0" bIns="0" anchor="t">
            <a:noAutofit/>
          </a:bodyPr>
          <a:lstStyle/>
          <a:p>
            <a:pPr marL="0" marR="0" lvl="0" indent="0" algn="l">
              <a:lnSpc>
                <a:spcPct val="100000"/>
              </a:lnSpc>
              <a:spcBef>
                <a:spcPts val="0"/>
              </a:spcBef>
              <a:spcAft>
                <a:spcPts val="0"/>
              </a:spcAft>
              <a:buClr>
                <a:srgbClr val="000000"/>
              </a:buClr>
              <a:buSzPts val="4000"/>
              <a:buFont typeface="Arial"/>
              <a:buNone/>
              <a:defRPr sz="3300" b="1">
                <a:solidFill>
                  <a:srgbClr val="20283F"/>
                </a:solidFill>
                <a:latin typeface="Saira"/>
                <a:ea typeface="Saira"/>
                <a:cs typeface="Saira"/>
              </a:defRPr>
            </a:pPr>
            <a:r>
              <a:rPr sz="3300" b="1">
                <a:solidFill>
                  <a:srgbClr val="20283F"/>
                </a:solidFill>
                <a:latin typeface="Saira"/>
                <a:ea typeface="Saira"/>
                <a:cs typeface="Saira"/>
              </a:rPr>
              <a:t>5,397 seniority candidates changed</a:t>
            </a:r>
            <a:endParaRPr sz="1800" b="0" i="0" u="none" cap="none">
              <a:solidFill>
                <a:schemeClr val="dk1"/>
              </a:solidFill>
              <a:latin typeface="Calibri"/>
              <a:ea typeface="Calibri"/>
              <a:cs typeface="Calibri"/>
            </a:endParaRPr>
          </a:p>
        </p:txBody>
      </p:sp>
      <p:sp>
        <p:nvSpPr>
          <p:cNvPr id="52" name="Google Shape;52;h71c2a19aba2f255b_0_15">
            <a:extLst>
              <a:ext uri="{FF2B5EF4-FFF2-40B4-BE49-F238E27FC236}">
                <a16:creationId xmlns:a16="http://schemas.microsoft.com/office/drawing/2014/main" id="{DBF48D91-7877-404F-8BA0-8E56AA3476D2}"/>
              </a:ext>
            </a:extLst>
          </p:cNvPr>
          <p:cNvSpPr>
            <a:spLocks noGrp="1"/>
          </p:cNvSpPr>
          <p:nvPr/>
        </p:nvSpPr>
        <p:spPr>
          <a:xfrm>
            <a:off x="685800" y="219075"/>
            <a:ext cx="3714750" cy="438150"/>
          </a:xfrm>
          <a:prstGeom prst="rect">
            <a:avLst/>
          </a:prstGeom>
          <a:noFill/>
          <a:ln>
            <a:noFill/>
          </a:ln>
        </p:spPr>
        <p:txBody>
          <a:bodyPr spcFirstLastPara="1" wrap="square" lIns="91440" tIns="91440" rIns="91440" bIns="91440" anchor="t">
            <a:noAutofit/>
          </a:bodyPr>
          <a:lstStyle/>
          <a:p>
            <a:pPr marL="0" lvl="0" indent="0" algn="l">
              <a:spcBef>
                <a:spcPts val="0"/>
              </a:spcBef>
              <a:spcAft>
                <a:spcPts val="0"/>
              </a:spcAft>
              <a:buNone/>
              <a:defRPr sz="1650" b="1">
                <a:solidFill>
                  <a:srgbClr val="0753D6"/>
                </a:solidFill>
                <a:latin typeface="DM Sans"/>
                <a:ea typeface="DM Sans"/>
                <a:cs typeface="DM Sans"/>
              </a:defRPr>
            </a:pPr>
            <a:r>
              <a:rPr sz="1650" b="1">
                <a:solidFill>
                  <a:srgbClr val="0753D6"/>
                </a:solidFill>
                <a:latin typeface="DM Sans"/>
                <a:ea typeface="DM Sans"/>
                <a:cs typeface="DM Sans"/>
              </a:rPr>
              <a:t>Sector &amp; seniority</a:t>
            </a:r>
            <a:endParaRPr sz="1600" b="1">
              <a:solidFill>
                <a:srgbClr val="1155CC"/>
              </a:solidFill>
            </a:endParaRPr>
          </a:p>
        </p:txBody>
      </p:sp>
      <p:sp>
        <p:nvSpPr>
          <p:cNvPr id="65" name="scope">
            <a:extLst>
              <a:ext uri="{FF2B5EF4-FFF2-40B4-BE49-F238E27FC236}">
                <a16:creationId xmlns:a16="http://schemas.microsoft.com/office/drawing/2014/main" id="{F765E9FA-90E5-4BA6-8A59-F5810091BC74}"/>
              </a:ext>
            </a:extLst>
          </p:cNvPr>
          <p:cNvSpPr>
            <a:spLocks noGrp="1"/>
          </p:cNvSpPr>
          <p:nvPr/>
        </p:nvSpPr>
        <p:spPr>
          <a:xfrm>
            <a:off x="685800" y="1447800"/>
            <a:ext cx="10820400" cy="533400"/>
          </a:xfrm>
          <a:prstGeom prst="rect">
            <a:avLst/>
          </a:prstGeom>
          <a:noFill/>
          <a:ln w="0">
            <a:noFill/>
          </a:ln>
        </p:spPr>
        <p:txBody>
          <a:bodyPr wrap="square" lIns="0" tIns="0" rIns="0" bIns="0" anchor="t">
            <a:noAutofit/>
          </a:bodyPr>
          <a:lstStyle/>
          <a:p>
            <a:pPr algn="l">
              <a:defRPr sz="1875">
                <a:solidFill>
                  <a:srgbClr val="627086"/>
                </a:solidFill>
                <a:latin typeface="DM Sans"/>
                <a:ea typeface="DM Sans"/>
                <a:cs typeface="DM Sans"/>
              </a:defRPr>
            </a:pPr>
            <a:r>
              <a:rPr sz="1875" dirty="0">
                <a:solidFill>
                  <a:srgbClr val="627086"/>
                </a:solidFill>
                <a:latin typeface="DM Sans"/>
                <a:ea typeface="DM Sans"/>
                <a:cs typeface="DM Sans"/>
              </a:rPr>
              <a:t>Comparison with the original team rule on the same 608,680 records</a:t>
            </a:r>
          </a:p>
        </p:txBody>
      </p:sp>
      <p:graphicFrame>
        <p:nvGraphicFramePr>
          <p:cNvPr id="77" name="Chart"/>
          <p:cNvGraphicFramePr/>
          <p:nvPr/>
        </p:nvGraphicFramePr>
        <p:xfrm>
          <a:off x="704850" y="2133600"/>
          <a:ext cx="10706100" cy="3105150"/>
        </p:xfrm>
        <a:graphic>
          <a:graphicData uri="http://schemas.openxmlformats.org/drawingml/2006/chart">
            <c:chart xmlns:c="http://schemas.openxmlformats.org/drawingml/2006/chart" xmlns:r="http://schemas.openxmlformats.org/officeDocument/2006/relationships" r:id="rId5"/>
          </a:graphicData>
        </a:graphic>
      </p:graphicFrame>
      <p:sp>
        <p:nvSpPr>
          <p:cNvPr id="67" name="q2_result">
            <a:extLst>
              <a:ext uri="{FF2B5EF4-FFF2-40B4-BE49-F238E27FC236}">
                <a16:creationId xmlns:a16="http://schemas.microsoft.com/office/drawing/2014/main" id="{963233F3-2EC7-4E2E-8168-950A26F077D6}"/>
              </a:ext>
            </a:extLst>
          </p:cNvPr>
          <p:cNvSpPr>
            <a:spLocks noGrp="1"/>
          </p:cNvSpPr>
          <p:nvPr/>
        </p:nvSpPr>
        <p:spPr>
          <a:xfrm>
            <a:off x="685800" y="5486400"/>
            <a:ext cx="10820400" cy="409575"/>
          </a:xfrm>
          <a:prstGeom prst="rect">
            <a:avLst/>
          </a:prstGeom>
          <a:noFill/>
          <a:ln w="0">
            <a:noFill/>
          </a:ln>
        </p:spPr>
        <p:txBody>
          <a:bodyPr wrap="square" lIns="0" tIns="0" rIns="0" bIns="0" anchor="t">
            <a:noAutofit/>
          </a:bodyPr>
          <a:lstStyle/>
          <a:p>
            <a:pPr>
              <a:defRPr sz="2175" b="1">
                <a:solidFill>
                  <a:srgbClr val="20283F"/>
                </a:solidFill>
                <a:latin typeface="DM Sans"/>
                <a:ea typeface="DM Sans"/>
                <a:cs typeface="DM Sans"/>
              </a:defRPr>
            </a:pPr>
            <a:r>
              <a:rPr sz="2175" b="1" dirty="0">
                <a:latin typeface="DM Sans"/>
                <a:ea typeface="DM Sans"/>
                <a:cs typeface="DM Sans"/>
              </a:rPr>
              <a:t>Q2 2026: 588 candidate changes</a:t>
            </a:r>
            <a:br>
              <a:rPr lang="en-US" sz="2175" b="1" dirty="0">
                <a:latin typeface="DM Sans"/>
                <a:ea typeface="DM Sans"/>
                <a:cs typeface="DM Sans"/>
              </a:rPr>
            </a:br>
            <a:r>
              <a:rPr lang="en-US" altLang="zh-CN" sz="2400" dirty="0">
                <a:latin typeface="DM Sans"/>
                <a:ea typeface="DM Sans"/>
                <a:cs typeface="DM Sans"/>
              </a:rPr>
              <a:t>Candidate changes require semantic review. </a:t>
            </a:r>
          </a:p>
          <a:p>
            <a:pPr algn="l">
              <a:defRPr sz="2175" b="1">
                <a:solidFill>
                  <a:srgbClr val="20283F"/>
                </a:solidFill>
                <a:latin typeface="DM Sans"/>
                <a:ea typeface="DM Sans"/>
                <a:cs typeface="DM Sans"/>
              </a:defRPr>
            </a:pPr>
            <a:endParaRPr sz="2175" b="1" dirty="0">
              <a:solidFill>
                <a:srgbClr val="20283F"/>
              </a:solidFill>
              <a:latin typeface="DM Sans"/>
              <a:ea typeface="DM Sans"/>
              <a:cs typeface="DM Sans"/>
            </a:endParaRPr>
          </a:p>
        </p:txBody>
      </p:sp>
      <p:sp>
        <p:nvSpPr>
          <p:cNvPr id="68" name="candidate_limit">
            <a:extLst>
              <a:ext uri="{FF2B5EF4-FFF2-40B4-BE49-F238E27FC236}">
                <a16:creationId xmlns:a16="http://schemas.microsoft.com/office/drawing/2014/main" id="{8D149BC6-C26A-413D-A973-BC89AD4C90C8}"/>
              </a:ext>
            </a:extLst>
          </p:cNvPr>
          <p:cNvSpPr>
            <a:spLocks noGrp="1"/>
          </p:cNvSpPr>
          <p:nvPr/>
        </p:nvSpPr>
        <p:spPr>
          <a:xfrm>
            <a:off x="704850" y="5981211"/>
            <a:ext cx="10820400" cy="593271"/>
          </a:xfrm>
          <a:prstGeom prst="rect">
            <a:avLst/>
          </a:prstGeom>
          <a:noFill/>
          <a:ln w="0">
            <a:noFill/>
          </a:ln>
        </p:spPr>
        <p:txBody>
          <a:bodyPr wrap="square" lIns="0" tIns="0" rIns="0" bIns="0" anchor="t">
            <a:noAutofit/>
          </a:bodyPr>
          <a:lstStyle/>
          <a:p>
            <a:pPr algn="l">
              <a:defRPr sz="1575">
                <a:solidFill>
                  <a:srgbClr val="627086"/>
                </a:solidFill>
                <a:latin typeface="DM Sans"/>
                <a:ea typeface="DM Sans"/>
                <a:cs typeface="DM Sans"/>
              </a:defRPr>
            </a:pPr>
            <a:endParaRPr sz="1600" dirty="0">
              <a:solidFill>
                <a:srgbClr val="627086"/>
              </a:solidFill>
              <a:latin typeface="DM Sans"/>
              <a:ea typeface="DM Sans"/>
              <a:cs typeface="DM Sans"/>
            </a:endParaRPr>
          </a:p>
        </p:txBody>
      </p:sp>
    </p:spTree>
    <p:extLst>
      <p:ext uri="{BB962C8B-B14F-4D97-AF65-F5344CB8AC3E}">
        <p14:creationId xmlns:p14="http://schemas.microsoft.com/office/powerpoint/2010/main" val="3692445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Google Shape;46;h71c2a19aba2f255b_0_15"/>
          <p:cNvPicPr>
            <a:picLocks noChangeAspect="1"/>
          </p:cNvPicPr>
          <p:nvPr/>
        </p:nvPicPr>
        <p:blipFill rotWithShape="1">
          <a:blip r:embed="rId3">
            <a:alphaModFix/>
          </a:blip>
          <a:srcRect/>
          <a:stretch/>
        </p:blipFill>
        <p:spPr>
          <a:xfrm>
            <a:off x="8754466" y="433426"/>
            <a:ext cx="254203" cy="254203"/>
          </a:xfrm>
          <a:prstGeom prst="rect">
            <a:avLst/>
          </a:prstGeom>
          <a:ln>
            <a:noFill/>
          </a:ln>
        </p:spPr>
      </p:pic>
      <p:cxnSp>
        <p:nvCxnSpPr>
          <p:cNvPr id="70" name="Google Shape;47;h71c2a19aba2f255b_0_15"/>
          <p:cNvCxnSpPr/>
          <p:nvPr/>
        </p:nvCxnSpPr>
        <p:spPr>
          <a:xfrm>
            <a:off x="9062618" y="437083"/>
            <a:ext cx="0" cy="252300"/>
          </a:xfrm>
          <a:prstGeom prst="straightConnector1">
            <a:avLst/>
          </a:prstGeom>
          <a:ln w="9525" cap="flat">
            <a:solidFill>
              <a:srgbClr val="7C808B"/>
            </a:solidFill>
            <a:prstDash val="solid"/>
            <a:round/>
            <a:headEnd type="none" w="sm" len="sm"/>
            <a:tailEnd type="none" w="sm" len="sm"/>
          </a:ln>
        </p:spPr>
      </p:cxnSp>
      <p:pic>
        <p:nvPicPr>
          <p:cNvPr id="71" name="Google Shape;48;h71c2a19aba2f255b_0_15"/>
          <p:cNvPicPr>
            <a:picLocks noChangeAspect="1"/>
          </p:cNvPicPr>
          <p:nvPr/>
        </p:nvPicPr>
        <p:blipFill rotWithShape="1">
          <a:blip r:embed="rId4">
            <a:alphaModFix/>
          </a:blip>
          <a:srcRect/>
          <a:stretch/>
        </p:blipFill>
        <p:spPr>
          <a:xfrm>
            <a:off x="9131198" y="433426"/>
            <a:ext cx="241402" cy="241402"/>
          </a:xfrm>
          <a:prstGeom prst="rect">
            <a:avLst/>
          </a:prstGeom>
          <a:ln>
            <a:noFill/>
          </a:ln>
        </p:spPr>
      </p:pic>
      <p:sp>
        <p:nvSpPr>
          <p:cNvPr id="49" name="Google Shape;49;h71c2a19aba2f255b_0_15">
            <a:extLst>
              <a:ext uri="{FF2B5EF4-FFF2-40B4-BE49-F238E27FC236}">
                <a16:creationId xmlns:a16="http://schemas.microsoft.com/office/drawing/2014/main" id="{F7C8FF32-EA01-461E-88CF-4C068224349E}"/>
              </a:ext>
            </a:extLst>
          </p:cNvPr>
          <p:cNvSpPr>
            <a:spLocks noGrp="1"/>
          </p:cNvSpPr>
          <p:nvPr/>
        </p:nvSpPr>
        <p:spPr>
          <a:xfrm>
            <a:off x="9425635" y="407822"/>
            <a:ext cx="2377500" cy="1830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404451"/>
              </a:buClr>
              <a:buSzPts val="920"/>
              <a:buFont typeface="DM Sans"/>
              <a:buNone/>
            </a:pPr>
            <a:r>
              <a:rPr sz="920" b="0" i="0" u="none" cap="none">
                <a:solidFill>
                  <a:srgbClr val="404451"/>
                </a:solidFill>
                <a:latin typeface="DM Sans"/>
                <a:ea typeface="DM Sans"/>
                <a:cs typeface="DM Sans"/>
              </a:rPr>
              <a:t>MARATHON ASSET MANAGEMENT</a:t>
            </a:r>
            <a:endParaRPr sz="920" b="0" i="0" u="none" cap="none">
              <a:solidFill>
                <a:schemeClr val="dk1"/>
              </a:solidFill>
              <a:latin typeface="Calibri"/>
              <a:ea typeface="Calibri"/>
              <a:cs typeface="Calibri"/>
            </a:endParaRPr>
          </a:p>
        </p:txBody>
      </p:sp>
      <p:sp>
        <p:nvSpPr>
          <p:cNvPr id="50" name="Google Shape;50;h71c2a19aba2f255b_0_15">
            <a:extLst>
              <a:ext uri="{FF2B5EF4-FFF2-40B4-BE49-F238E27FC236}">
                <a16:creationId xmlns:a16="http://schemas.microsoft.com/office/drawing/2014/main" id="{7280E1BF-A873-4EC2-8099-CB40BD3FB81A}"/>
              </a:ext>
            </a:extLst>
          </p:cNvPr>
          <p:cNvSpPr>
            <a:spLocks noGrp="1"/>
          </p:cNvSpPr>
          <p:nvPr/>
        </p:nvSpPr>
        <p:spPr>
          <a:xfrm>
            <a:off x="9425635" y="576072"/>
            <a:ext cx="2377500" cy="1464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404451"/>
              </a:buClr>
              <a:buSzPts val="620"/>
              <a:buFont typeface="DM Sans"/>
              <a:buNone/>
            </a:pPr>
            <a:r>
              <a:rPr sz="620" b="0" i="0" u="none" cap="none">
                <a:solidFill>
                  <a:srgbClr val="404451"/>
                </a:solidFill>
                <a:latin typeface="DM Sans"/>
                <a:ea typeface="DM Sans"/>
                <a:cs typeface="DM Sans"/>
              </a:rPr>
              <a:t>CORNELL CFEM CAPSTONE 2026</a:t>
            </a:r>
            <a:endParaRPr sz="620" b="0" i="0" u="none" cap="none">
              <a:solidFill>
                <a:schemeClr val="dk1"/>
              </a:solidFill>
              <a:latin typeface="Calibri"/>
              <a:ea typeface="Calibri"/>
              <a:cs typeface="Calibri"/>
            </a:endParaRPr>
          </a:p>
        </p:txBody>
      </p:sp>
      <p:sp>
        <p:nvSpPr>
          <p:cNvPr id="51" name="Google Shape;51;h71c2a19aba2f255b_0_15">
            <a:extLst>
              <a:ext uri="{FF2B5EF4-FFF2-40B4-BE49-F238E27FC236}">
                <a16:creationId xmlns:a16="http://schemas.microsoft.com/office/drawing/2014/main" id="{A00E0410-CCB9-477E-A305-111AC64CBDB1}"/>
              </a:ext>
            </a:extLst>
          </p:cNvPr>
          <p:cNvSpPr>
            <a:spLocks noGrp="1"/>
          </p:cNvSpPr>
          <p:nvPr/>
        </p:nvSpPr>
        <p:spPr>
          <a:xfrm>
            <a:off x="685800" y="695325"/>
            <a:ext cx="10820400" cy="628650"/>
          </a:xfrm>
          <a:prstGeom prst="rect">
            <a:avLst/>
          </a:prstGeom>
          <a:noFill/>
          <a:ln>
            <a:noFill/>
          </a:ln>
        </p:spPr>
        <p:txBody>
          <a:bodyPr spcFirstLastPara="1" wrap="none" lIns="0" tIns="0" rIns="0" bIns="0" anchor="t">
            <a:noAutofit/>
          </a:bodyPr>
          <a:lstStyle/>
          <a:p>
            <a:pPr marL="0" marR="0" lvl="0" indent="0" algn="l">
              <a:lnSpc>
                <a:spcPct val="100000"/>
              </a:lnSpc>
              <a:spcBef>
                <a:spcPts val="0"/>
              </a:spcBef>
              <a:spcAft>
                <a:spcPts val="0"/>
              </a:spcAft>
              <a:buClr>
                <a:srgbClr val="000000"/>
              </a:buClr>
              <a:buSzPts val="4000"/>
              <a:buFont typeface="Arial"/>
              <a:buNone/>
              <a:defRPr sz="3300" b="1">
                <a:solidFill>
                  <a:srgbClr val="20283F"/>
                </a:solidFill>
                <a:latin typeface="Saira"/>
                <a:ea typeface="Saira"/>
                <a:cs typeface="Saira"/>
              </a:defRPr>
            </a:pPr>
            <a:r>
              <a:rPr sz="3300" b="1">
                <a:solidFill>
                  <a:srgbClr val="20283F"/>
                </a:solidFill>
                <a:latin typeface="Saira"/>
                <a:ea typeface="Saira"/>
                <a:cs typeface="Saira"/>
              </a:rPr>
              <a:t>Text patterns change the rank label</a:t>
            </a:r>
            <a:endParaRPr sz="1800" b="0" i="0" u="none" cap="none">
              <a:solidFill>
                <a:schemeClr val="dk1"/>
              </a:solidFill>
              <a:latin typeface="Calibri"/>
              <a:ea typeface="Calibri"/>
              <a:cs typeface="Calibri"/>
            </a:endParaRPr>
          </a:p>
        </p:txBody>
      </p:sp>
      <p:sp>
        <p:nvSpPr>
          <p:cNvPr id="52" name="Google Shape;52;h71c2a19aba2f255b_0_15">
            <a:extLst>
              <a:ext uri="{FF2B5EF4-FFF2-40B4-BE49-F238E27FC236}">
                <a16:creationId xmlns:a16="http://schemas.microsoft.com/office/drawing/2014/main" id="{DBF48D91-7877-404F-8BA0-8E56AA3476D2}"/>
              </a:ext>
            </a:extLst>
          </p:cNvPr>
          <p:cNvSpPr>
            <a:spLocks noGrp="1"/>
          </p:cNvSpPr>
          <p:nvPr/>
        </p:nvSpPr>
        <p:spPr>
          <a:xfrm>
            <a:off x="685800" y="219075"/>
            <a:ext cx="3714750" cy="438150"/>
          </a:xfrm>
          <a:prstGeom prst="rect">
            <a:avLst/>
          </a:prstGeom>
          <a:noFill/>
          <a:ln>
            <a:noFill/>
          </a:ln>
        </p:spPr>
        <p:txBody>
          <a:bodyPr spcFirstLastPara="1" wrap="square" lIns="91440" tIns="91440" rIns="91440" bIns="91440" anchor="t">
            <a:noAutofit/>
          </a:bodyPr>
          <a:lstStyle/>
          <a:p>
            <a:pPr marL="0" lvl="0" indent="0" algn="l">
              <a:spcBef>
                <a:spcPts val="0"/>
              </a:spcBef>
              <a:spcAft>
                <a:spcPts val="0"/>
              </a:spcAft>
              <a:buNone/>
              <a:defRPr sz="1650" b="1">
                <a:solidFill>
                  <a:srgbClr val="0753D6"/>
                </a:solidFill>
                <a:latin typeface="DM Sans"/>
                <a:ea typeface="DM Sans"/>
                <a:cs typeface="DM Sans"/>
              </a:defRPr>
            </a:pPr>
            <a:r>
              <a:rPr sz="1650" b="1">
                <a:solidFill>
                  <a:srgbClr val="0753D6"/>
                </a:solidFill>
                <a:latin typeface="DM Sans"/>
                <a:ea typeface="DM Sans"/>
                <a:cs typeface="DM Sans"/>
              </a:rPr>
              <a:t>Sector &amp; seniority</a:t>
            </a:r>
            <a:endParaRPr sz="1600" b="1">
              <a:solidFill>
                <a:srgbClr val="1155CC"/>
              </a:solidFill>
            </a:endParaRPr>
          </a:p>
        </p:txBody>
      </p:sp>
      <p:sp>
        <p:nvSpPr>
          <p:cNvPr id="65" name="scope">
            <a:extLst>
              <a:ext uri="{FF2B5EF4-FFF2-40B4-BE49-F238E27FC236}">
                <a16:creationId xmlns:a16="http://schemas.microsoft.com/office/drawing/2014/main" id="{EEBE11CF-E8D2-4381-8053-53E7B8CAFAC5}"/>
              </a:ext>
            </a:extLst>
          </p:cNvPr>
          <p:cNvSpPr>
            <a:spLocks noGrp="1"/>
          </p:cNvSpPr>
          <p:nvPr/>
        </p:nvSpPr>
        <p:spPr>
          <a:xfrm>
            <a:off x="685800" y="1447800"/>
            <a:ext cx="10820400" cy="533400"/>
          </a:xfrm>
          <a:prstGeom prst="rect">
            <a:avLst/>
          </a:prstGeom>
          <a:noFill/>
          <a:ln w="0">
            <a:noFill/>
          </a:ln>
        </p:spPr>
        <p:txBody>
          <a:bodyPr wrap="square" lIns="0" tIns="0" rIns="0" bIns="0" anchor="t">
            <a:noAutofit/>
          </a:bodyPr>
          <a:lstStyle/>
          <a:p>
            <a:pPr algn="l">
              <a:defRPr sz="1875">
                <a:solidFill>
                  <a:srgbClr val="627086"/>
                </a:solidFill>
                <a:latin typeface="DM Sans"/>
                <a:ea typeface="DM Sans"/>
                <a:cs typeface="DM Sans"/>
              </a:defRPr>
            </a:pPr>
            <a:r>
              <a:rPr sz="1875">
                <a:solidFill>
                  <a:srgbClr val="627086"/>
                </a:solidFill>
                <a:latin typeface="DM Sans"/>
                <a:ea typeface="DM Sans"/>
                <a:cs typeface="DM Sans"/>
              </a:rPr>
              <a:t>Three Q2 examples explain the candidate changes</a:t>
            </a:r>
          </a:p>
        </p:txBody>
      </p:sp>
      <p:graphicFrame>
        <p:nvGraphicFramePr>
          <p:cNvPr id="77" name="表格 76"/>
          <p:cNvGraphicFramePr/>
          <p:nvPr/>
        </p:nvGraphicFramePr>
        <p:xfrm>
          <a:off x="685800" y="2133600"/>
          <a:ext cx="10820400" cy="3257550"/>
        </p:xfrm>
        <a:graphic>
          <a:graphicData uri="http://schemas.openxmlformats.org/drawingml/2006/table">
            <a:tbl>
              <a:tblPr firstRow="1"/>
              <a:tblGrid>
                <a:gridCol w="54483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086100">
                  <a:extLst>
                    <a:ext uri="{9D8B030D-6E8A-4147-A177-3AD203B41FA5}">
                      <a16:colId xmlns:a16="http://schemas.microsoft.com/office/drawing/2014/main" val="20002"/>
                    </a:ext>
                  </a:extLst>
                </a:gridCol>
              </a:tblGrid>
              <a:tr h="514350">
                <a:tc>
                  <a:txBody>
                    <a:bodyPr/>
                    <a:lstStyle/>
                    <a:p>
                      <a:r>
                        <a:rPr sz="1800" b="1">
                          <a:solidFill>
                            <a:srgbClr val="20283F"/>
                          </a:solidFill>
                          <a:latin typeface="DM Sans"/>
                          <a:ea typeface="DM Sans"/>
                          <a:cs typeface="DM Sans"/>
                        </a:rPr>
                        <a:t>Identifier excerpt</a:t>
                      </a:r>
                    </a:p>
                  </a:txBody>
                  <a:tcPr anchor="ctr">
                    <a:solidFill>
                      <a:srgbClr val="E3EBF2"/>
                    </a:solidFill>
                  </a:tcPr>
                </a:tc>
                <a:tc>
                  <a:txBody>
                    <a:bodyPr/>
                    <a:lstStyle/>
                    <a:p>
                      <a:r>
                        <a:rPr sz="1800" b="1">
                          <a:solidFill>
                            <a:srgbClr val="20283F"/>
                          </a:solidFill>
                          <a:latin typeface="DM Sans"/>
                          <a:ea typeface="DM Sans"/>
                          <a:cs typeface="DM Sans"/>
                        </a:rPr>
                        <a:t>Old rank</a:t>
                      </a:r>
                    </a:p>
                  </a:txBody>
                  <a:tcPr anchor="ctr">
                    <a:solidFill>
                      <a:srgbClr val="E3EBF2"/>
                    </a:solidFill>
                  </a:tcPr>
                </a:tc>
                <a:tc>
                  <a:txBody>
                    <a:bodyPr/>
                    <a:lstStyle/>
                    <a:p>
                      <a:r>
                        <a:rPr sz="1800" b="1">
                          <a:solidFill>
                            <a:srgbClr val="20283F"/>
                          </a:solidFill>
                          <a:latin typeface="DM Sans"/>
                          <a:ea typeface="DM Sans"/>
                          <a:cs typeface="DM Sans"/>
                        </a:rPr>
                        <a:t>New candidate</a:t>
                      </a:r>
                    </a:p>
                  </a:txBody>
                  <a:tcPr anchor="ctr">
                    <a:solidFill>
                      <a:srgbClr val="E3EBF2"/>
                    </a:solidFill>
                  </a:tcPr>
                </a:tc>
                <a:extLst>
                  <a:ext uri="{0D108BD9-81ED-4DB2-BD59-A6C34878D82A}">
                    <a16:rowId xmlns:a16="http://schemas.microsoft.com/office/drawing/2014/main" val="10000"/>
                  </a:ext>
                </a:extLst>
              </a:tr>
              <a:tr h="914400">
                <a:tc>
                  <a:txBody>
                    <a:bodyPr/>
                    <a:lstStyle/>
                    <a:p>
                      <a:r>
                        <a:rPr sz="1950" b="0">
                          <a:solidFill>
                            <a:srgbClr val="20283F"/>
                          </a:solidFill>
                          <a:latin typeface="DM Sans"/>
                          <a:ea typeface="DM Sans"/>
                          <a:cs typeface="DM Sans"/>
                        </a:rPr>
                        <a:t>Raptor US Buyer II Corp.</a:t>
                      </a:r>
                    </a:p>
                    <a:p>
                      <a:r>
                        <a:rPr sz="1950" b="0">
                          <a:solidFill>
                            <a:srgbClr val="20283F"/>
                          </a:solidFill>
                          <a:latin typeface="DM Sans"/>
                          <a:ea typeface="DM Sans"/>
                          <a:cs typeface="DM Sans"/>
                        </a:rPr>
                        <a:t>“First-lien revolving loan”</a:t>
                      </a:r>
                    </a:p>
                  </a:txBody>
                  <a:tcPr anchor="ctr">
                    <a:solidFill>
                      <a:srgbClr val="F2F6F9"/>
                    </a:solidFill>
                  </a:tcPr>
                </a:tc>
                <a:tc>
                  <a:txBody>
                    <a:bodyPr/>
                    <a:lstStyle/>
                    <a:p>
                      <a:r>
                        <a:rPr sz="1950" b="0">
                          <a:solidFill>
                            <a:srgbClr val="20283F"/>
                          </a:solidFill>
                          <a:latin typeface="DM Sans"/>
                          <a:ea typeface="DM Sans"/>
                          <a:cs typeface="DM Sans"/>
                        </a:rPr>
                        <a:t>Unknown</a:t>
                      </a:r>
                    </a:p>
                  </a:txBody>
                  <a:tcPr anchor="ctr">
                    <a:solidFill>
                      <a:srgbClr val="F2F6F9"/>
                    </a:solidFill>
                  </a:tcPr>
                </a:tc>
                <a:tc>
                  <a:txBody>
                    <a:bodyPr/>
                    <a:lstStyle/>
                    <a:p>
                      <a:r>
                        <a:rPr sz="1950" b="0">
                          <a:solidFill>
                            <a:srgbClr val="20283F"/>
                          </a:solidFill>
                          <a:latin typeface="DM Sans"/>
                          <a:ea typeface="DM Sans"/>
                          <a:cs typeface="DM Sans"/>
                        </a:rPr>
                        <a:t>First lien</a:t>
                      </a:r>
                    </a:p>
                  </a:txBody>
                  <a:tcPr anchor="ctr">
                    <a:solidFill>
                      <a:srgbClr val="F2F6F9"/>
                    </a:solidFill>
                  </a:tcPr>
                </a:tc>
                <a:extLst>
                  <a:ext uri="{0D108BD9-81ED-4DB2-BD59-A6C34878D82A}">
                    <a16:rowId xmlns:a16="http://schemas.microsoft.com/office/drawing/2014/main" val="10001"/>
                  </a:ext>
                </a:extLst>
              </a:tr>
              <a:tr h="914400">
                <a:tc>
                  <a:txBody>
                    <a:bodyPr/>
                    <a:lstStyle/>
                    <a:p>
                      <a:r>
                        <a:rPr sz="1950" b="0">
                          <a:solidFill>
                            <a:srgbClr val="20283F"/>
                          </a:solidFill>
                          <a:latin typeface="DM Sans"/>
                          <a:ea typeface="DM Sans"/>
                          <a:cs typeface="DM Sans"/>
                        </a:rPr>
                        <a:t>Diamond Mezzanine 24 LLC</a:t>
                      </a:r>
                    </a:p>
                    <a:p>
                      <a:r>
                        <a:rPr sz="1950" b="0">
                          <a:solidFill>
                            <a:srgbClr val="20283F"/>
                          </a:solidFill>
                          <a:latin typeface="DM Sans"/>
                          <a:ea typeface="DM Sans"/>
                          <a:cs typeface="DM Sans"/>
                        </a:rPr>
                        <a:t>“First lien senior secured loan”</a:t>
                      </a:r>
                    </a:p>
                  </a:txBody>
                  <a:tcPr anchor="ctr">
                    <a:solidFill>
                      <a:srgbClr val="F2F6F9"/>
                    </a:solidFill>
                  </a:tcPr>
                </a:tc>
                <a:tc>
                  <a:txBody>
                    <a:bodyPr/>
                    <a:lstStyle/>
                    <a:p>
                      <a:r>
                        <a:rPr sz="1950" b="0">
                          <a:solidFill>
                            <a:srgbClr val="20283F"/>
                          </a:solidFill>
                          <a:latin typeface="DM Sans"/>
                          <a:ea typeface="DM Sans"/>
                          <a:cs typeface="DM Sans"/>
                        </a:rPr>
                        <a:t>Subordinated /</a:t>
                      </a:r>
                    </a:p>
                    <a:p>
                      <a:r>
                        <a:rPr sz="1950" b="0">
                          <a:solidFill>
                            <a:srgbClr val="20283F"/>
                          </a:solidFill>
                          <a:latin typeface="DM Sans"/>
                          <a:ea typeface="DM Sans"/>
                          <a:cs typeface="DM Sans"/>
                        </a:rPr>
                        <a:t>Mezzanine</a:t>
                      </a:r>
                    </a:p>
                  </a:txBody>
                  <a:tcPr anchor="ctr">
                    <a:solidFill>
                      <a:srgbClr val="F2F6F9"/>
                    </a:solidFill>
                  </a:tcPr>
                </a:tc>
                <a:tc>
                  <a:txBody>
                    <a:bodyPr/>
                    <a:lstStyle/>
                    <a:p>
                      <a:r>
                        <a:rPr sz="1950" b="0">
                          <a:solidFill>
                            <a:srgbClr val="20283F"/>
                          </a:solidFill>
                          <a:latin typeface="DM Sans"/>
                          <a:ea typeface="DM Sans"/>
                          <a:cs typeface="DM Sans"/>
                        </a:rPr>
                        <a:t>First lien</a:t>
                      </a:r>
                    </a:p>
                  </a:txBody>
                  <a:tcPr anchor="ctr">
                    <a:solidFill>
                      <a:srgbClr val="F2F6F9"/>
                    </a:solidFill>
                  </a:tcPr>
                </a:tc>
                <a:extLst>
                  <a:ext uri="{0D108BD9-81ED-4DB2-BD59-A6C34878D82A}">
                    <a16:rowId xmlns:a16="http://schemas.microsoft.com/office/drawing/2014/main" val="10002"/>
                  </a:ext>
                </a:extLst>
              </a:tr>
              <a:tr h="914400">
                <a:tc>
                  <a:txBody>
                    <a:bodyPr/>
                    <a:lstStyle/>
                    <a:p>
                      <a:r>
                        <a:rPr sz="1950" b="0">
                          <a:solidFill>
                            <a:srgbClr val="20283F"/>
                          </a:solidFill>
                          <a:latin typeface="DM Sans"/>
                          <a:ea typeface="DM Sans"/>
                          <a:cs typeface="DM Sans"/>
                        </a:rPr>
                        <a:t>First Brands Group, LLC</a:t>
                      </a:r>
                    </a:p>
                    <a:p>
                      <a:r>
                        <a:rPr sz="1950" b="0">
                          <a:solidFill>
                            <a:srgbClr val="20283F"/>
                          </a:solidFill>
                          <a:latin typeface="DM Sans"/>
                          <a:ea typeface="DM Sans"/>
                          <a:cs typeface="DM Sans"/>
                        </a:rPr>
                        <a:t>“Junior Secured Loans”</a:t>
                      </a:r>
                    </a:p>
                  </a:txBody>
                  <a:tcPr anchor="ctr">
                    <a:solidFill>
                      <a:srgbClr val="F2F6F9"/>
                    </a:solidFill>
                  </a:tcPr>
                </a:tc>
                <a:tc>
                  <a:txBody>
                    <a:bodyPr/>
                    <a:lstStyle/>
                    <a:p>
                      <a:r>
                        <a:rPr sz="1950" b="0">
                          <a:solidFill>
                            <a:srgbClr val="20283F"/>
                          </a:solidFill>
                          <a:latin typeface="DM Sans"/>
                          <a:ea typeface="DM Sans"/>
                          <a:cs typeface="DM Sans"/>
                        </a:rPr>
                        <a:t>Second lien</a:t>
                      </a:r>
                    </a:p>
                  </a:txBody>
                  <a:tcPr anchor="ctr">
                    <a:solidFill>
                      <a:srgbClr val="F2F6F9"/>
                    </a:solidFill>
                  </a:tcPr>
                </a:tc>
                <a:tc>
                  <a:txBody>
                    <a:bodyPr/>
                    <a:lstStyle/>
                    <a:p>
                      <a:r>
                        <a:rPr sz="1950" b="0">
                          <a:solidFill>
                            <a:srgbClr val="20283F"/>
                          </a:solidFill>
                          <a:latin typeface="DM Sans"/>
                          <a:ea typeface="DM Sans"/>
                          <a:cs typeface="DM Sans"/>
                        </a:rPr>
                        <a:t>Rank unresolved</a:t>
                      </a:r>
                    </a:p>
                    <a:p>
                      <a:r>
                        <a:rPr sz="1950" b="0">
                          <a:solidFill>
                            <a:srgbClr val="20283F"/>
                          </a:solidFill>
                          <a:latin typeface="DM Sans"/>
                          <a:ea typeface="DM Sans"/>
                          <a:cs typeface="DM Sans"/>
                        </a:rPr>
                        <a:t>Secured retained</a:t>
                      </a:r>
                    </a:p>
                  </a:txBody>
                  <a:tcPr anchor="ctr">
                    <a:solidFill>
                      <a:srgbClr val="F2F6F9"/>
                    </a:solidFill>
                  </a:tcPr>
                </a:tc>
                <a:extLst>
                  <a:ext uri="{0D108BD9-81ED-4DB2-BD59-A6C34878D82A}">
                    <a16:rowId xmlns:a16="http://schemas.microsoft.com/office/drawing/2014/main" val="10003"/>
                  </a:ext>
                </a:extLst>
              </a:tr>
            </a:tbl>
          </a:graphicData>
        </a:graphic>
      </p:graphicFrame>
      <p:sp>
        <p:nvSpPr>
          <p:cNvPr id="67" name="interpretation">
            <a:extLst>
              <a:ext uri="{FF2B5EF4-FFF2-40B4-BE49-F238E27FC236}">
                <a16:creationId xmlns:a16="http://schemas.microsoft.com/office/drawing/2014/main" id="{B8087AE9-CCB1-4E06-9D8C-E0420DE8ABF3}"/>
              </a:ext>
            </a:extLst>
          </p:cNvPr>
          <p:cNvSpPr>
            <a:spLocks noGrp="1"/>
          </p:cNvSpPr>
          <p:nvPr/>
        </p:nvSpPr>
        <p:spPr>
          <a:xfrm>
            <a:off x="685800" y="5657850"/>
            <a:ext cx="10820400" cy="438150"/>
          </a:xfrm>
          <a:prstGeom prst="rect">
            <a:avLst/>
          </a:prstGeom>
          <a:noFill/>
          <a:ln w="0">
            <a:noFill/>
          </a:ln>
        </p:spPr>
        <p:txBody>
          <a:bodyPr wrap="square" lIns="0" tIns="0" rIns="0" bIns="0" anchor="t">
            <a:noAutofit/>
          </a:bodyPr>
          <a:lstStyle/>
          <a:p>
            <a:pPr algn="l">
              <a:defRPr sz="1875" b="1">
                <a:solidFill>
                  <a:srgbClr val="20283F"/>
                </a:solidFill>
                <a:latin typeface="DM Sans"/>
                <a:ea typeface="DM Sans"/>
                <a:cs typeface="DM Sans"/>
              </a:defRPr>
            </a:pPr>
            <a:r>
              <a:rPr sz="1875" b="1">
                <a:solidFill>
                  <a:srgbClr val="20283F"/>
                </a:solidFill>
                <a:latin typeface="DM Sans"/>
                <a:ea typeface="DM Sans"/>
                <a:cs typeface="DM Sans"/>
              </a:rPr>
              <a:t>Company words and instrument wording can imply different categories.</a:t>
            </a:r>
          </a:p>
        </p:txBody>
      </p:sp>
      <p:sp>
        <p:nvSpPr>
          <p:cNvPr id="68" name="case_limit">
            <a:extLst>
              <a:ext uri="{FF2B5EF4-FFF2-40B4-BE49-F238E27FC236}">
                <a16:creationId xmlns:a16="http://schemas.microsoft.com/office/drawing/2014/main" id="{294353C5-03AD-4DEB-98F8-CB5D39BE3284}"/>
              </a:ext>
            </a:extLst>
          </p:cNvPr>
          <p:cNvSpPr>
            <a:spLocks noGrp="1"/>
          </p:cNvSpPr>
          <p:nvPr/>
        </p:nvSpPr>
        <p:spPr>
          <a:xfrm>
            <a:off x="685800" y="6181725"/>
            <a:ext cx="10820400" cy="285750"/>
          </a:xfrm>
          <a:prstGeom prst="rect">
            <a:avLst/>
          </a:prstGeom>
          <a:noFill/>
          <a:ln w="0">
            <a:noFill/>
          </a:ln>
        </p:spPr>
        <p:txBody>
          <a:bodyPr wrap="square" lIns="0" tIns="0" rIns="0" bIns="0" anchor="t">
            <a:noAutofit/>
          </a:bodyPr>
          <a:lstStyle/>
          <a:p>
            <a:pPr algn="l">
              <a:defRPr sz="1500">
                <a:solidFill>
                  <a:srgbClr val="627086"/>
                </a:solidFill>
                <a:latin typeface="DM Sans"/>
                <a:ea typeface="DM Sans"/>
                <a:cs typeface="DM Sans"/>
              </a:defRPr>
            </a:pPr>
            <a:r>
              <a:rPr sz="1500">
                <a:solidFill>
                  <a:srgbClr val="627086"/>
                </a:solidFill>
                <a:latin typeface="DM Sans"/>
                <a:ea typeface="DM Sans"/>
                <a:cs typeface="DM Sans"/>
              </a:rPr>
              <a:t>Identifier-based candidates. Source and legal-ranking checks remain pending.</a:t>
            </a:r>
          </a:p>
        </p:txBody>
      </p:sp>
    </p:spTree>
    <p:extLst>
      <p:ext uri="{BB962C8B-B14F-4D97-AF65-F5344CB8AC3E}">
        <p14:creationId xmlns:p14="http://schemas.microsoft.com/office/powerpoint/2010/main" val="3231525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Google Shape;46;h71c2a19aba2f255b_0_15"/>
          <p:cNvPicPr>
            <a:picLocks noChangeAspect="1"/>
          </p:cNvPicPr>
          <p:nvPr/>
        </p:nvPicPr>
        <p:blipFill rotWithShape="1">
          <a:blip r:embed="rId3">
            <a:alphaModFix/>
          </a:blip>
          <a:srcRect/>
          <a:stretch/>
        </p:blipFill>
        <p:spPr>
          <a:xfrm>
            <a:off x="8754466" y="433426"/>
            <a:ext cx="254203" cy="254203"/>
          </a:xfrm>
          <a:prstGeom prst="rect">
            <a:avLst/>
          </a:prstGeom>
          <a:ln>
            <a:noFill/>
          </a:ln>
        </p:spPr>
      </p:pic>
      <p:cxnSp>
        <p:nvCxnSpPr>
          <p:cNvPr id="71" name="Google Shape;47;h71c2a19aba2f255b_0_15"/>
          <p:cNvCxnSpPr/>
          <p:nvPr/>
        </p:nvCxnSpPr>
        <p:spPr>
          <a:xfrm>
            <a:off x="9062618" y="437083"/>
            <a:ext cx="0" cy="252300"/>
          </a:xfrm>
          <a:prstGeom prst="straightConnector1">
            <a:avLst/>
          </a:prstGeom>
          <a:ln w="9525" cap="flat">
            <a:solidFill>
              <a:srgbClr val="7C808B"/>
            </a:solidFill>
            <a:prstDash val="solid"/>
            <a:round/>
            <a:headEnd type="none" w="sm" len="sm"/>
            <a:tailEnd type="none" w="sm" len="sm"/>
          </a:ln>
        </p:spPr>
      </p:cxnSp>
      <p:pic>
        <p:nvPicPr>
          <p:cNvPr id="72" name="Google Shape;48;h71c2a19aba2f255b_0_15"/>
          <p:cNvPicPr>
            <a:picLocks noChangeAspect="1"/>
          </p:cNvPicPr>
          <p:nvPr/>
        </p:nvPicPr>
        <p:blipFill rotWithShape="1">
          <a:blip r:embed="rId4">
            <a:alphaModFix/>
          </a:blip>
          <a:srcRect/>
          <a:stretch/>
        </p:blipFill>
        <p:spPr>
          <a:xfrm>
            <a:off x="9131198" y="433426"/>
            <a:ext cx="241402" cy="241402"/>
          </a:xfrm>
          <a:prstGeom prst="rect">
            <a:avLst/>
          </a:prstGeom>
          <a:ln>
            <a:noFill/>
          </a:ln>
        </p:spPr>
      </p:pic>
      <p:sp>
        <p:nvSpPr>
          <p:cNvPr id="49" name="Google Shape;49;h71c2a19aba2f255b_0_15">
            <a:extLst>
              <a:ext uri="{FF2B5EF4-FFF2-40B4-BE49-F238E27FC236}">
                <a16:creationId xmlns:a16="http://schemas.microsoft.com/office/drawing/2014/main" id="{F7C8FF32-EA01-461E-88CF-4C068224349E}"/>
              </a:ext>
            </a:extLst>
          </p:cNvPr>
          <p:cNvSpPr>
            <a:spLocks noGrp="1"/>
          </p:cNvSpPr>
          <p:nvPr/>
        </p:nvSpPr>
        <p:spPr>
          <a:xfrm>
            <a:off x="9425635" y="407822"/>
            <a:ext cx="2377500" cy="1830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404451"/>
              </a:buClr>
              <a:buSzPts val="920"/>
              <a:buFont typeface="DM Sans"/>
              <a:buNone/>
            </a:pPr>
            <a:r>
              <a:rPr sz="920" b="0" i="0" u="none" cap="none">
                <a:solidFill>
                  <a:srgbClr val="404451"/>
                </a:solidFill>
                <a:latin typeface="DM Sans"/>
                <a:ea typeface="DM Sans"/>
                <a:cs typeface="DM Sans"/>
              </a:rPr>
              <a:t>MARATHON ASSET MANAGEMENT</a:t>
            </a:r>
            <a:endParaRPr sz="920" b="0" i="0" u="none" cap="none">
              <a:solidFill>
                <a:schemeClr val="dk1"/>
              </a:solidFill>
              <a:latin typeface="Calibri"/>
              <a:ea typeface="Calibri"/>
              <a:cs typeface="Calibri"/>
            </a:endParaRPr>
          </a:p>
        </p:txBody>
      </p:sp>
      <p:sp>
        <p:nvSpPr>
          <p:cNvPr id="50" name="Google Shape;50;h71c2a19aba2f255b_0_15">
            <a:extLst>
              <a:ext uri="{FF2B5EF4-FFF2-40B4-BE49-F238E27FC236}">
                <a16:creationId xmlns:a16="http://schemas.microsoft.com/office/drawing/2014/main" id="{7280E1BF-A873-4EC2-8099-CB40BD3FB81A}"/>
              </a:ext>
            </a:extLst>
          </p:cNvPr>
          <p:cNvSpPr>
            <a:spLocks noGrp="1"/>
          </p:cNvSpPr>
          <p:nvPr/>
        </p:nvSpPr>
        <p:spPr>
          <a:xfrm>
            <a:off x="9425635" y="576072"/>
            <a:ext cx="2377500" cy="1464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404451"/>
              </a:buClr>
              <a:buSzPts val="620"/>
              <a:buFont typeface="DM Sans"/>
              <a:buNone/>
            </a:pPr>
            <a:r>
              <a:rPr sz="620" b="0" i="0" u="none" cap="none">
                <a:solidFill>
                  <a:srgbClr val="404451"/>
                </a:solidFill>
                <a:latin typeface="DM Sans"/>
                <a:ea typeface="DM Sans"/>
                <a:cs typeface="DM Sans"/>
              </a:rPr>
              <a:t>CORNELL CFEM CAPSTONE 2026</a:t>
            </a:r>
            <a:endParaRPr sz="620" b="0" i="0" u="none" cap="none">
              <a:solidFill>
                <a:schemeClr val="dk1"/>
              </a:solidFill>
              <a:latin typeface="Calibri"/>
              <a:ea typeface="Calibri"/>
              <a:cs typeface="Calibri"/>
            </a:endParaRPr>
          </a:p>
        </p:txBody>
      </p:sp>
      <p:sp>
        <p:nvSpPr>
          <p:cNvPr id="51" name="Google Shape;51;h71c2a19aba2f255b_0_15">
            <a:extLst>
              <a:ext uri="{FF2B5EF4-FFF2-40B4-BE49-F238E27FC236}">
                <a16:creationId xmlns:a16="http://schemas.microsoft.com/office/drawing/2014/main" id="{A00E0410-CCB9-477E-A305-111AC64CBDB1}"/>
              </a:ext>
            </a:extLst>
          </p:cNvPr>
          <p:cNvSpPr>
            <a:spLocks noGrp="1"/>
          </p:cNvSpPr>
          <p:nvPr/>
        </p:nvSpPr>
        <p:spPr>
          <a:xfrm>
            <a:off x="685800" y="695325"/>
            <a:ext cx="10820400" cy="628650"/>
          </a:xfrm>
          <a:prstGeom prst="rect">
            <a:avLst/>
          </a:prstGeom>
          <a:noFill/>
          <a:ln>
            <a:noFill/>
          </a:ln>
        </p:spPr>
        <p:txBody>
          <a:bodyPr spcFirstLastPara="1" wrap="none" lIns="0" tIns="0" rIns="0" bIns="0" anchor="t">
            <a:noAutofit/>
          </a:bodyPr>
          <a:lstStyle/>
          <a:p>
            <a:pPr marL="0" marR="0" lvl="0" indent="0" algn="l">
              <a:lnSpc>
                <a:spcPct val="100000"/>
              </a:lnSpc>
              <a:spcBef>
                <a:spcPts val="0"/>
              </a:spcBef>
              <a:spcAft>
                <a:spcPts val="0"/>
              </a:spcAft>
              <a:buClr>
                <a:srgbClr val="000000"/>
              </a:buClr>
              <a:buSzPts val="4000"/>
              <a:buFont typeface="Arial"/>
              <a:buNone/>
              <a:defRPr sz="3300" b="1">
                <a:solidFill>
                  <a:srgbClr val="20283F"/>
                </a:solidFill>
                <a:latin typeface="Saira"/>
                <a:ea typeface="Saira"/>
                <a:cs typeface="Saira"/>
              </a:defRPr>
            </a:pPr>
            <a:r>
              <a:rPr sz="3300" b="1">
                <a:solidFill>
                  <a:srgbClr val="20283F"/>
                </a:solidFill>
                <a:latin typeface="Saira"/>
                <a:ea typeface="Saira"/>
                <a:cs typeface="Saira"/>
              </a:rPr>
              <a:t>Sector coverage remains at the baseline</a:t>
            </a:r>
            <a:endParaRPr sz="1800" b="0" i="0" u="none" cap="none">
              <a:solidFill>
                <a:schemeClr val="dk1"/>
              </a:solidFill>
              <a:latin typeface="Calibri"/>
              <a:ea typeface="Calibri"/>
              <a:cs typeface="Calibri"/>
            </a:endParaRPr>
          </a:p>
        </p:txBody>
      </p:sp>
      <p:sp>
        <p:nvSpPr>
          <p:cNvPr id="52" name="Google Shape;52;h71c2a19aba2f255b_0_15">
            <a:extLst>
              <a:ext uri="{FF2B5EF4-FFF2-40B4-BE49-F238E27FC236}">
                <a16:creationId xmlns:a16="http://schemas.microsoft.com/office/drawing/2014/main" id="{DBF48D91-7877-404F-8BA0-8E56AA3476D2}"/>
              </a:ext>
            </a:extLst>
          </p:cNvPr>
          <p:cNvSpPr>
            <a:spLocks noGrp="1"/>
          </p:cNvSpPr>
          <p:nvPr/>
        </p:nvSpPr>
        <p:spPr>
          <a:xfrm>
            <a:off x="685800" y="219075"/>
            <a:ext cx="3714750" cy="438150"/>
          </a:xfrm>
          <a:prstGeom prst="rect">
            <a:avLst/>
          </a:prstGeom>
          <a:noFill/>
          <a:ln>
            <a:noFill/>
          </a:ln>
        </p:spPr>
        <p:txBody>
          <a:bodyPr spcFirstLastPara="1" wrap="square" lIns="91440" tIns="91440" rIns="91440" bIns="91440" anchor="t">
            <a:noAutofit/>
          </a:bodyPr>
          <a:lstStyle/>
          <a:p>
            <a:pPr marL="0" lvl="0" indent="0" algn="l">
              <a:spcBef>
                <a:spcPts val="0"/>
              </a:spcBef>
              <a:spcAft>
                <a:spcPts val="0"/>
              </a:spcAft>
              <a:buNone/>
              <a:defRPr sz="1650" b="1">
                <a:solidFill>
                  <a:srgbClr val="0753D6"/>
                </a:solidFill>
                <a:latin typeface="DM Sans"/>
                <a:ea typeface="DM Sans"/>
                <a:cs typeface="DM Sans"/>
              </a:defRPr>
            </a:pPr>
            <a:r>
              <a:rPr sz="1650" b="1">
                <a:solidFill>
                  <a:srgbClr val="0753D6"/>
                </a:solidFill>
                <a:latin typeface="DM Sans"/>
                <a:ea typeface="DM Sans"/>
                <a:cs typeface="DM Sans"/>
              </a:rPr>
              <a:t>Sector &amp; seniority</a:t>
            </a:r>
            <a:endParaRPr sz="1600" b="1">
              <a:solidFill>
                <a:srgbClr val="1155CC"/>
              </a:solidFill>
            </a:endParaRPr>
          </a:p>
        </p:txBody>
      </p:sp>
      <p:sp>
        <p:nvSpPr>
          <p:cNvPr id="65" name="scope">
            <a:extLst>
              <a:ext uri="{FF2B5EF4-FFF2-40B4-BE49-F238E27FC236}">
                <a16:creationId xmlns:a16="http://schemas.microsoft.com/office/drawing/2014/main" id="{14D566AC-7B85-4583-AB5D-EFCD49FFB447}"/>
              </a:ext>
            </a:extLst>
          </p:cNvPr>
          <p:cNvSpPr>
            <a:spLocks noGrp="1"/>
          </p:cNvSpPr>
          <p:nvPr/>
        </p:nvSpPr>
        <p:spPr>
          <a:xfrm>
            <a:off x="685800" y="1447800"/>
            <a:ext cx="10820400" cy="533400"/>
          </a:xfrm>
          <a:prstGeom prst="rect">
            <a:avLst/>
          </a:prstGeom>
          <a:noFill/>
          <a:ln w="0">
            <a:noFill/>
          </a:ln>
        </p:spPr>
        <p:txBody>
          <a:bodyPr wrap="square" lIns="0" tIns="0" rIns="0" bIns="0" anchor="t">
            <a:noAutofit/>
          </a:bodyPr>
          <a:lstStyle/>
          <a:p>
            <a:pPr algn="l">
              <a:defRPr sz="1875">
                <a:solidFill>
                  <a:srgbClr val="627086"/>
                </a:solidFill>
                <a:latin typeface="DM Sans"/>
                <a:ea typeface="DM Sans"/>
                <a:cs typeface="DM Sans"/>
              </a:defRPr>
            </a:pPr>
            <a:r>
              <a:rPr sz="1875">
                <a:solidFill>
                  <a:srgbClr val="627086"/>
                </a:solidFill>
                <a:latin typeface="DM Sans"/>
                <a:ea typeface="DM Sans"/>
                <a:cs typeface="DM Sans"/>
              </a:rPr>
              <a:t>Existing team rules and saved LLM answers; no new sector inference</a:t>
            </a:r>
          </a:p>
        </p:txBody>
      </p:sp>
      <p:graphicFrame>
        <p:nvGraphicFramePr>
          <p:cNvPr id="78" name="表格 77"/>
          <p:cNvGraphicFramePr/>
          <p:nvPr/>
        </p:nvGraphicFramePr>
        <p:xfrm>
          <a:off x="685800" y="2324100"/>
          <a:ext cx="10820400" cy="2057400"/>
        </p:xfrm>
        <a:graphic>
          <a:graphicData uri="http://schemas.openxmlformats.org/drawingml/2006/table">
            <a:tbl>
              <a:tblPr firstRow="1"/>
              <a:tblGrid>
                <a:gridCol w="4057650">
                  <a:extLst>
                    <a:ext uri="{9D8B030D-6E8A-4147-A177-3AD203B41FA5}">
                      <a16:colId xmlns:a16="http://schemas.microsoft.com/office/drawing/2014/main" val="20000"/>
                    </a:ext>
                  </a:extLst>
                </a:gridCol>
                <a:gridCol w="215265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571500">
                <a:tc>
                  <a:txBody>
                    <a:bodyPr/>
                    <a:lstStyle/>
                    <a:p>
                      <a:r>
                        <a:rPr sz="1800" b="1">
                          <a:solidFill>
                            <a:srgbClr val="20283F"/>
                          </a:solidFill>
                          <a:latin typeface="DM Sans"/>
                          <a:ea typeface="DM Sans"/>
                          <a:cs typeface="DM Sans"/>
                        </a:rPr>
                        <a:t>Sample</a:t>
                      </a:r>
                    </a:p>
                  </a:txBody>
                  <a:tcPr anchor="ctr">
                    <a:solidFill>
                      <a:srgbClr val="E3EBF2"/>
                    </a:solidFill>
                  </a:tcPr>
                </a:tc>
                <a:tc>
                  <a:txBody>
                    <a:bodyPr/>
                    <a:lstStyle/>
                    <a:p>
                      <a:r>
                        <a:rPr sz="1800" b="1">
                          <a:solidFill>
                            <a:srgbClr val="20283F"/>
                          </a:solidFill>
                          <a:latin typeface="DM Sans"/>
                          <a:ea typeface="DM Sans"/>
                          <a:cs typeface="DM Sans"/>
                        </a:rPr>
                        <a:t>Records</a:t>
                      </a:r>
                    </a:p>
                  </a:txBody>
                  <a:tcPr anchor="ctr">
                    <a:solidFill>
                      <a:srgbClr val="E3EBF2"/>
                    </a:solidFill>
                  </a:tcPr>
                </a:tc>
                <a:tc>
                  <a:txBody>
                    <a:bodyPr/>
                    <a:lstStyle/>
                    <a:p>
                      <a:r>
                        <a:rPr sz="1800" b="1">
                          <a:solidFill>
                            <a:srgbClr val="20283F"/>
                          </a:solidFill>
                          <a:latin typeface="DM Sans"/>
                          <a:ea typeface="DM Sans"/>
                          <a:cs typeface="DM Sans"/>
                        </a:rPr>
                        <a:t>Sector candidates</a:t>
                      </a:r>
                    </a:p>
                  </a:txBody>
                  <a:tcPr anchor="ctr">
                    <a:solidFill>
                      <a:srgbClr val="E3EBF2"/>
                    </a:solidFill>
                  </a:tcPr>
                </a:tc>
                <a:tc>
                  <a:txBody>
                    <a:bodyPr/>
                    <a:lstStyle/>
                    <a:p>
                      <a:r>
                        <a:rPr sz="1800" b="1">
                          <a:solidFill>
                            <a:srgbClr val="20283F"/>
                          </a:solidFill>
                          <a:latin typeface="DM Sans"/>
                          <a:ea typeface="DM Sans"/>
                          <a:cs typeface="DM Sans"/>
                        </a:rPr>
                        <a:t>Coverage</a:t>
                      </a:r>
                    </a:p>
                  </a:txBody>
                  <a:tcPr anchor="ctr">
                    <a:solidFill>
                      <a:srgbClr val="E3EBF2"/>
                    </a:solidFill>
                  </a:tcPr>
                </a:tc>
                <a:extLst>
                  <a:ext uri="{0D108BD9-81ED-4DB2-BD59-A6C34878D82A}">
                    <a16:rowId xmlns:a16="http://schemas.microsoft.com/office/drawing/2014/main" val="10000"/>
                  </a:ext>
                </a:extLst>
              </a:tr>
              <a:tr h="742950">
                <a:tc>
                  <a:txBody>
                    <a:bodyPr/>
                    <a:lstStyle/>
                    <a:p>
                      <a:r>
                        <a:rPr sz="2100" b="0" dirty="0">
                          <a:solidFill>
                            <a:srgbClr val="20283F"/>
                          </a:solidFill>
                          <a:latin typeface="DM Sans"/>
                          <a:ea typeface="DM Sans"/>
                          <a:cs typeface="DM Sans"/>
                        </a:rPr>
                        <a:t>Full source table</a:t>
                      </a:r>
                    </a:p>
                  </a:txBody>
                  <a:tcPr anchor="ctr">
                    <a:solidFill>
                      <a:srgbClr val="F2F6F9"/>
                    </a:solidFill>
                  </a:tcPr>
                </a:tc>
                <a:tc>
                  <a:txBody>
                    <a:bodyPr/>
                    <a:lstStyle/>
                    <a:p>
                      <a:pPr algn="r"/>
                      <a:r>
                        <a:rPr sz="2100" b="0">
                          <a:solidFill>
                            <a:srgbClr val="20283F"/>
                          </a:solidFill>
                          <a:latin typeface="DM Sans"/>
                          <a:ea typeface="DM Sans"/>
                          <a:cs typeface="DM Sans"/>
                        </a:rPr>
                        <a:t>608,680</a:t>
                      </a:r>
                    </a:p>
                  </a:txBody>
                  <a:tcPr anchor="ctr">
                    <a:solidFill>
                      <a:srgbClr val="F2F6F9"/>
                    </a:solidFill>
                  </a:tcPr>
                </a:tc>
                <a:tc>
                  <a:txBody>
                    <a:bodyPr/>
                    <a:lstStyle/>
                    <a:p>
                      <a:pPr algn="r"/>
                      <a:r>
                        <a:rPr sz="2100" b="0">
                          <a:solidFill>
                            <a:srgbClr val="20283F"/>
                          </a:solidFill>
                          <a:latin typeface="DM Sans"/>
                          <a:ea typeface="DM Sans"/>
                          <a:cs typeface="DM Sans"/>
                        </a:rPr>
                        <a:t>427,152</a:t>
                      </a:r>
                    </a:p>
                  </a:txBody>
                  <a:tcPr anchor="ctr">
                    <a:solidFill>
                      <a:srgbClr val="F2F6F9"/>
                    </a:solidFill>
                  </a:tcPr>
                </a:tc>
                <a:tc>
                  <a:txBody>
                    <a:bodyPr/>
                    <a:lstStyle/>
                    <a:p>
                      <a:pPr algn="r"/>
                      <a:r>
                        <a:rPr sz="2100" b="0">
                          <a:solidFill>
                            <a:srgbClr val="20283F"/>
                          </a:solidFill>
                          <a:latin typeface="DM Sans"/>
                          <a:ea typeface="DM Sans"/>
                          <a:cs typeface="DM Sans"/>
                        </a:rPr>
                        <a:t>70.18%</a:t>
                      </a:r>
                    </a:p>
                  </a:txBody>
                  <a:tcPr anchor="ctr">
                    <a:solidFill>
                      <a:srgbClr val="F2F6F9"/>
                    </a:solidFill>
                  </a:tcPr>
                </a:tc>
                <a:extLst>
                  <a:ext uri="{0D108BD9-81ED-4DB2-BD59-A6C34878D82A}">
                    <a16:rowId xmlns:a16="http://schemas.microsoft.com/office/drawing/2014/main" val="10001"/>
                  </a:ext>
                </a:extLst>
              </a:tr>
              <a:tr h="742950">
                <a:tc>
                  <a:txBody>
                    <a:bodyPr/>
                    <a:lstStyle/>
                    <a:p>
                      <a:r>
                        <a:rPr sz="2100" b="0">
                          <a:solidFill>
                            <a:srgbClr val="20283F"/>
                          </a:solidFill>
                          <a:latin typeface="DM Sans"/>
                          <a:ea typeface="DM Sans"/>
                          <a:cs typeface="DM Sans"/>
                        </a:rPr>
                        <a:t>Numeric-cleaned subset</a:t>
                      </a:r>
                    </a:p>
                  </a:txBody>
                  <a:tcPr anchor="ctr">
                    <a:solidFill>
                      <a:srgbClr val="F2F6F9"/>
                    </a:solidFill>
                  </a:tcPr>
                </a:tc>
                <a:tc>
                  <a:txBody>
                    <a:bodyPr/>
                    <a:lstStyle/>
                    <a:p>
                      <a:pPr algn="r"/>
                      <a:r>
                        <a:rPr sz="2100" b="0">
                          <a:solidFill>
                            <a:srgbClr val="20283F"/>
                          </a:solidFill>
                          <a:latin typeface="DM Sans"/>
                          <a:ea typeface="DM Sans"/>
                          <a:cs typeface="DM Sans"/>
                        </a:rPr>
                        <a:t>502,299</a:t>
                      </a:r>
                    </a:p>
                  </a:txBody>
                  <a:tcPr anchor="ctr">
                    <a:solidFill>
                      <a:srgbClr val="F2F6F9"/>
                    </a:solidFill>
                  </a:tcPr>
                </a:tc>
                <a:tc>
                  <a:txBody>
                    <a:bodyPr/>
                    <a:lstStyle/>
                    <a:p>
                      <a:pPr algn="r"/>
                      <a:r>
                        <a:rPr sz="2100" b="0">
                          <a:solidFill>
                            <a:srgbClr val="20283F"/>
                          </a:solidFill>
                          <a:latin typeface="DM Sans"/>
                          <a:ea typeface="DM Sans"/>
                          <a:cs typeface="DM Sans"/>
                        </a:rPr>
                        <a:t>397,763</a:t>
                      </a:r>
                    </a:p>
                  </a:txBody>
                  <a:tcPr anchor="ctr">
                    <a:solidFill>
                      <a:srgbClr val="F2F6F9"/>
                    </a:solidFill>
                  </a:tcPr>
                </a:tc>
                <a:tc>
                  <a:txBody>
                    <a:bodyPr/>
                    <a:lstStyle/>
                    <a:p>
                      <a:pPr algn="r"/>
                      <a:r>
                        <a:rPr sz="2100" b="0" dirty="0">
                          <a:solidFill>
                            <a:srgbClr val="20283F"/>
                          </a:solidFill>
                          <a:latin typeface="DM Sans"/>
                          <a:ea typeface="DM Sans"/>
                          <a:cs typeface="DM Sans"/>
                        </a:rPr>
                        <a:t>79.19%</a:t>
                      </a:r>
                    </a:p>
                  </a:txBody>
                  <a:tcPr anchor="ctr">
                    <a:solidFill>
                      <a:srgbClr val="F2F6F9"/>
                    </a:solidFill>
                  </a:tcPr>
                </a:tc>
                <a:extLst>
                  <a:ext uri="{0D108BD9-81ED-4DB2-BD59-A6C34878D82A}">
                    <a16:rowId xmlns:a16="http://schemas.microsoft.com/office/drawing/2014/main" val="10002"/>
                  </a:ext>
                </a:extLst>
              </a:tr>
            </a:tbl>
          </a:graphicData>
        </a:graphic>
      </p:graphicFrame>
      <p:sp>
        <p:nvSpPr>
          <p:cNvPr id="67" name="denominator">
            <a:extLst>
              <a:ext uri="{FF2B5EF4-FFF2-40B4-BE49-F238E27FC236}">
                <a16:creationId xmlns:a16="http://schemas.microsoft.com/office/drawing/2014/main" id="{CB60EF7E-326A-4756-A710-E84DACE092A9}"/>
              </a:ext>
            </a:extLst>
          </p:cNvPr>
          <p:cNvSpPr>
            <a:spLocks noGrp="1"/>
          </p:cNvSpPr>
          <p:nvPr/>
        </p:nvSpPr>
        <p:spPr>
          <a:xfrm>
            <a:off x="685800" y="4800600"/>
            <a:ext cx="10820400" cy="476250"/>
          </a:xfrm>
          <a:prstGeom prst="rect">
            <a:avLst/>
          </a:prstGeom>
          <a:noFill/>
          <a:ln w="0">
            <a:noFill/>
          </a:ln>
        </p:spPr>
        <p:txBody>
          <a:bodyPr wrap="square" lIns="0" tIns="0" rIns="0" bIns="0" anchor="t">
            <a:noAutofit/>
          </a:bodyPr>
          <a:lstStyle/>
          <a:p>
            <a:pPr algn="l">
              <a:defRPr sz="2325" b="1">
                <a:solidFill>
                  <a:srgbClr val="20283F"/>
                </a:solidFill>
                <a:latin typeface="DM Sans"/>
                <a:ea typeface="DM Sans"/>
                <a:cs typeface="DM Sans"/>
              </a:defRPr>
            </a:pPr>
            <a:r>
              <a:rPr sz="2325" b="1" dirty="0">
                <a:solidFill>
                  <a:srgbClr val="20283F"/>
                </a:solidFill>
                <a:latin typeface="DM Sans"/>
                <a:ea typeface="DM Sans"/>
                <a:cs typeface="DM Sans"/>
              </a:rPr>
              <a:t>Same method, different denominators</a:t>
            </a:r>
          </a:p>
        </p:txBody>
      </p:sp>
      <p:sp>
        <p:nvSpPr>
          <p:cNvPr id="68" name="accuracy">
            <a:extLst>
              <a:ext uri="{FF2B5EF4-FFF2-40B4-BE49-F238E27FC236}">
                <a16:creationId xmlns:a16="http://schemas.microsoft.com/office/drawing/2014/main" id="{ABF4837F-3B38-4D8B-A83A-8051D5F866E1}"/>
              </a:ext>
            </a:extLst>
          </p:cNvPr>
          <p:cNvSpPr>
            <a:spLocks noGrp="1"/>
          </p:cNvSpPr>
          <p:nvPr/>
        </p:nvSpPr>
        <p:spPr>
          <a:xfrm>
            <a:off x="685800" y="5353050"/>
            <a:ext cx="10820400" cy="409575"/>
          </a:xfrm>
          <a:prstGeom prst="rect">
            <a:avLst/>
          </a:prstGeom>
          <a:noFill/>
          <a:ln w="0">
            <a:noFill/>
          </a:ln>
        </p:spPr>
        <p:txBody>
          <a:bodyPr wrap="square" lIns="0" tIns="0" rIns="0" bIns="0" anchor="t">
            <a:noAutofit/>
          </a:bodyPr>
          <a:lstStyle/>
          <a:p>
            <a:pPr algn="l">
              <a:defRPr sz="2025">
                <a:solidFill>
                  <a:srgbClr val="20283F"/>
                </a:solidFill>
                <a:latin typeface="DM Sans"/>
                <a:ea typeface="DM Sans"/>
                <a:cs typeface="DM Sans"/>
              </a:defRPr>
            </a:pPr>
            <a:r>
              <a:rPr sz="2025" dirty="0">
                <a:solidFill>
                  <a:srgbClr val="20283F"/>
                </a:solidFill>
                <a:latin typeface="DM Sans"/>
                <a:ea typeface="DM Sans"/>
                <a:cs typeface="DM Sans"/>
              </a:rPr>
              <a:t>Coverage does not measure classification accuracy.</a:t>
            </a:r>
            <a:br>
              <a:rPr lang="en-US" sz="2025" dirty="0">
                <a:solidFill>
                  <a:srgbClr val="20283F"/>
                </a:solidFill>
                <a:latin typeface="DM Sans"/>
                <a:ea typeface="DM Sans"/>
                <a:cs typeface="DM Sans"/>
              </a:rPr>
            </a:br>
            <a:r>
              <a:rPr lang="en-US" altLang="zh-CN" sz="2400" dirty="0">
                <a:latin typeface="DM Sans"/>
                <a:ea typeface="DM Sans"/>
                <a:cs typeface="DM Sans"/>
              </a:rPr>
              <a:t>Next check: whether each sector label follows the reported industry</a:t>
            </a:r>
            <a:endParaRPr sz="2025" dirty="0">
              <a:latin typeface="DM Sans"/>
              <a:ea typeface="DM Sans"/>
              <a:cs typeface="DM Sans"/>
            </a:endParaRPr>
          </a:p>
        </p:txBody>
      </p:sp>
      <p:sp>
        <p:nvSpPr>
          <p:cNvPr id="69" name="sector_next">
            <a:extLst>
              <a:ext uri="{FF2B5EF4-FFF2-40B4-BE49-F238E27FC236}">
                <a16:creationId xmlns:a16="http://schemas.microsoft.com/office/drawing/2014/main" id="{B4CFABD6-DD6F-4B1B-A712-1E7E75FE0299}"/>
              </a:ext>
            </a:extLst>
          </p:cNvPr>
          <p:cNvSpPr>
            <a:spLocks noGrp="1"/>
          </p:cNvSpPr>
          <p:nvPr/>
        </p:nvSpPr>
        <p:spPr>
          <a:xfrm>
            <a:off x="685800" y="6000750"/>
            <a:ext cx="10820400" cy="361950"/>
          </a:xfrm>
          <a:prstGeom prst="rect">
            <a:avLst/>
          </a:prstGeom>
          <a:noFill/>
          <a:ln w="0">
            <a:noFill/>
          </a:ln>
        </p:spPr>
        <p:txBody>
          <a:bodyPr wrap="square" lIns="0" tIns="0" rIns="0" bIns="0" anchor="t">
            <a:noAutofit/>
          </a:bodyPr>
          <a:lstStyle/>
          <a:p>
            <a:pPr algn="l">
              <a:defRPr sz="1650">
                <a:solidFill>
                  <a:srgbClr val="627086"/>
                </a:solidFill>
                <a:latin typeface="DM Sans"/>
                <a:ea typeface="DM Sans"/>
                <a:cs typeface="DM Sans"/>
              </a:defRPr>
            </a:pPr>
            <a:r>
              <a:rPr sz="1650" dirty="0">
                <a:solidFill>
                  <a:srgbClr val="627086"/>
                </a:solidFill>
                <a:latin typeface="DM Sans"/>
                <a:ea typeface="DM Sans"/>
                <a:cs typeface="DM Sans"/>
              </a:rPr>
              <a:t>.</a:t>
            </a:r>
          </a:p>
        </p:txBody>
      </p:sp>
    </p:spTree>
    <p:extLst>
      <p:ext uri="{BB962C8B-B14F-4D97-AF65-F5344CB8AC3E}">
        <p14:creationId xmlns:p14="http://schemas.microsoft.com/office/powerpoint/2010/main" val="697260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Google Shape;46;h71c2a19aba2f255b_0_15"/>
          <p:cNvPicPr>
            <a:picLocks noChangeAspect="1"/>
          </p:cNvPicPr>
          <p:nvPr/>
        </p:nvPicPr>
        <p:blipFill rotWithShape="1">
          <a:blip r:embed="rId3">
            <a:alphaModFix/>
          </a:blip>
          <a:srcRect/>
          <a:stretch/>
        </p:blipFill>
        <p:spPr>
          <a:xfrm>
            <a:off x="8754466" y="433426"/>
            <a:ext cx="254203" cy="254203"/>
          </a:xfrm>
          <a:prstGeom prst="rect">
            <a:avLst/>
          </a:prstGeom>
          <a:ln>
            <a:noFill/>
          </a:ln>
        </p:spPr>
      </p:pic>
      <p:cxnSp>
        <p:nvCxnSpPr>
          <p:cNvPr id="71" name="Google Shape;47;h71c2a19aba2f255b_0_15"/>
          <p:cNvCxnSpPr/>
          <p:nvPr/>
        </p:nvCxnSpPr>
        <p:spPr>
          <a:xfrm>
            <a:off x="9062618" y="437083"/>
            <a:ext cx="0" cy="252300"/>
          </a:xfrm>
          <a:prstGeom prst="straightConnector1">
            <a:avLst/>
          </a:prstGeom>
          <a:ln w="9525" cap="flat">
            <a:solidFill>
              <a:srgbClr val="7C808B"/>
            </a:solidFill>
            <a:prstDash val="solid"/>
            <a:round/>
            <a:headEnd type="none" w="sm" len="sm"/>
            <a:tailEnd type="none" w="sm" len="sm"/>
          </a:ln>
        </p:spPr>
      </p:cxnSp>
      <p:pic>
        <p:nvPicPr>
          <p:cNvPr id="72" name="Google Shape;48;h71c2a19aba2f255b_0_15"/>
          <p:cNvPicPr>
            <a:picLocks noChangeAspect="1"/>
          </p:cNvPicPr>
          <p:nvPr/>
        </p:nvPicPr>
        <p:blipFill rotWithShape="1">
          <a:blip r:embed="rId4">
            <a:alphaModFix/>
          </a:blip>
          <a:srcRect/>
          <a:stretch/>
        </p:blipFill>
        <p:spPr>
          <a:xfrm>
            <a:off x="9131198" y="433426"/>
            <a:ext cx="241402" cy="241402"/>
          </a:xfrm>
          <a:prstGeom prst="rect">
            <a:avLst/>
          </a:prstGeom>
          <a:ln>
            <a:noFill/>
          </a:ln>
        </p:spPr>
      </p:pic>
      <p:sp>
        <p:nvSpPr>
          <p:cNvPr id="49" name="Google Shape;49;h71c2a19aba2f255b_0_15">
            <a:extLst>
              <a:ext uri="{FF2B5EF4-FFF2-40B4-BE49-F238E27FC236}">
                <a16:creationId xmlns:a16="http://schemas.microsoft.com/office/drawing/2014/main" id="{F7C8FF32-EA01-461E-88CF-4C068224349E}"/>
              </a:ext>
            </a:extLst>
          </p:cNvPr>
          <p:cNvSpPr>
            <a:spLocks noGrp="1"/>
          </p:cNvSpPr>
          <p:nvPr/>
        </p:nvSpPr>
        <p:spPr>
          <a:xfrm>
            <a:off x="9425635" y="407822"/>
            <a:ext cx="2377500" cy="1830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404451"/>
              </a:buClr>
              <a:buSzPts val="920"/>
              <a:buFont typeface="DM Sans"/>
              <a:buNone/>
            </a:pPr>
            <a:r>
              <a:rPr sz="920" b="0" i="0" u="none" cap="none">
                <a:solidFill>
                  <a:srgbClr val="404451"/>
                </a:solidFill>
                <a:latin typeface="DM Sans"/>
                <a:ea typeface="DM Sans"/>
                <a:cs typeface="DM Sans"/>
              </a:rPr>
              <a:t>MARATHON ASSET MANAGEMENT</a:t>
            </a:r>
            <a:endParaRPr sz="920" b="0" i="0" u="none" cap="none">
              <a:solidFill>
                <a:schemeClr val="dk1"/>
              </a:solidFill>
              <a:latin typeface="Calibri"/>
              <a:ea typeface="Calibri"/>
              <a:cs typeface="Calibri"/>
            </a:endParaRPr>
          </a:p>
        </p:txBody>
      </p:sp>
      <p:sp>
        <p:nvSpPr>
          <p:cNvPr id="50" name="Google Shape;50;h71c2a19aba2f255b_0_15">
            <a:extLst>
              <a:ext uri="{FF2B5EF4-FFF2-40B4-BE49-F238E27FC236}">
                <a16:creationId xmlns:a16="http://schemas.microsoft.com/office/drawing/2014/main" id="{7280E1BF-A873-4EC2-8099-CB40BD3FB81A}"/>
              </a:ext>
            </a:extLst>
          </p:cNvPr>
          <p:cNvSpPr>
            <a:spLocks noGrp="1"/>
          </p:cNvSpPr>
          <p:nvPr/>
        </p:nvSpPr>
        <p:spPr>
          <a:xfrm>
            <a:off x="9425635" y="576072"/>
            <a:ext cx="2377500" cy="1464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404451"/>
              </a:buClr>
              <a:buSzPts val="620"/>
              <a:buFont typeface="DM Sans"/>
              <a:buNone/>
            </a:pPr>
            <a:r>
              <a:rPr sz="620" b="0" i="0" u="none" cap="none">
                <a:solidFill>
                  <a:srgbClr val="404451"/>
                </a:solidFill>
                <a:latin typeface="DM Sans"/>
                <a:ea typeface="DM Sans"/>
                <a:cs typeface="DM Sans"/>
              </a:rPr>
              <a:t>CORNELL CFEM CAPSTONE 2026</a:t>
            </a:r>
            <a:endParaRPr sz="620" b="0" i="0" u="none" cap="none">
              <a:solidFill>
                <a:schemeClr val="dk1"/>
              </a:solidFill>
              <a:latin typeface="Calibri"/>
              <a:ea typeface="Calibri"/>
              <a:cs typeface="Calibri"/>
            </a:endParaRPr>
          </a:p>
        </p:txBody>
      </p:sp>
      <p:sp>
        <p:nvSpPr>
          <p:cNvPr id="51" name="Google Shape;51;h71c2a19aba2f255b_0_15">
            <a:extLst>
              <a:ext uri="{FF2B5EF4-FFF2-40B4-BE49-F238E27FC236}">
                <a16:creationId xmlns:a16="http://schemas.microsoft.com/office/drawing/2014/main" id="{A00E0410-CCB9-477E-A305-111AC64CBDB1}"/>
              </a:ext>
            </a:extLst>
          </p:cNvPr>
          <p:cNvSpPr>
            <a:spLocks noGrp="1"/>
          </p:cNvSpPr>
          <p:nvPr/>
        </p:nvSpPr>
        <p:spPr>
          <a:xfrm>
            <a:off x="685800" y="695325"/>
            <a:ext cx="10820400" cy="628650"/>
          </a:xfrm>
          <a:prstGeom prst="rect">
            <a:avLst/>
          </a:prstGeom>
          <a:noFill/>
          <a:ln>
            <a:noFill/>
          </a:ln>
        </p:spPr>
        <p:txBody>
          <a:bodyPr spcFirstLastPara="1" wrap="none" lIns="0" tIns="0" rIns="0" bIns="0" anchor="t">
            <a:noAutofit/>
          </a:bodyPr>
          <a:lstStyle/>
          <a:p>
            <a:pPr marL="0" marR="0" lvl="0" indent="0" algn="l">
              <a:lnSpc>
                <a:spcPct val="100000"/>
              </a:lnSpc>
              <a:spcBef>
                <a:spcPts val="0"/>
              </a:spcBef>
              <a:spcAft>
                <a:spcPts val="0"/>
              </a:spcAft>
              <a:buClr>
                <a:srgbClr val="000000"/>
              </a:buClr>
              <a:buSzPts val="4000"/>
              <a:buFont typeface="Arial"/>
              <a:buNone/>
              <a:defRPr sz="3300" b="1">
                <a:solidFill>
                  <a:srgbClr val="20283F"/>
                </a:solidFill>
                <a:latin typeface="Saira"/>
                <a:ea typeface="Saira"/>
                <a:cs typeface="Saira"/>
              </a:defRPr>
            </a:pPr>
            <a:r>
              <a:rPr sz="3300" b="1">
                <a:solidFill>
                  <a:srgbClr val="20283F"/>
                </a:solidFill>
                <a:latin typeface="Saira"/>
                <a:ea typeface="Saira"/>
                <a:cs typeface="Saira"/>
              </a:rPr>
              <a:t>Next step: review new model results</a:t>
            </a:r>
            <a:endParaRPr sz="1800" b="0" i="0" u="none" cap="none">
              <a:solidFill>
                <a:schemeClr val="dk1"/>
              </a:solidFill>
              <a:latin typeface="Calibri"/>
              <a:ea typeface="Calibri"/>
              <a:cs typeface="Calibri"/>
            </a:endParaRPr>
          </a:p>
        </p:txBody>
      </p:sp>
      <p:sp>
        <p:nvSpPr>
          <p:cNvPr id="52" name="Google Shape;52;h71c2a19aba2f255b_0_15">
            <a:extLst>
              <a:ext uri="{FF2B5EF4-FFF2-40B4-BE49-F238E27FC236}">
                <a16:creationId xmlns:a16="http://schemas.microsoft.com/office/drawing/2014/main" id="{DBF48D91-7877-404F-8BA0-8E56AA3476D2}"/>
              </a:ext>
            </a:extLst>
          </p:cNvPr>
          <p:cNvSpPr>
            <a:spLocks noGrp="1"/>
          </p:cNvSpPr>
          <p:nvPr/>
        </p:nvSpPr>
        <p:spPr>
          <a:xfrm>
            <a:off x="685800" y="219075"/>
            <a:ext cx="3714750" cy="438150"/>
          </a:xfrm>
          <a:prstGeom prst="rect">
            <a:avLst/>
          </a:prstGeom>
          <a:noFill/>
          <a:ln>
            <a:noFill/>
          </a:ln>
        </p:spPr>
        <p:txBody>
          <a:bodyPr spcFirstLastPara="1" wrap="square" lIns="91440" tIns="91440" rIns="91440" bIns="91440" anchor="t">
            <a:noAutofit/>
          </a:bodyPr>
          <a:lstStyle/>
          <a:p>
            <a:pPr marL="0" lvl="0" indent="0" algn="l">
              <a:spcBef>
                <a:spcPts val="0"/>
              </a:spcBef>
              <a:spcAft>
                <a:spcPts val="0"/>
              </a:spcAft>
              <a:buNone/>
              <a:defRPr sz="1650" b="1">
                <a:solidFill>
                  <a:srgbClr val="0753D6"/>
                </a:solidFill>
                <a:latin typeface="DM Sans"/>
                <a:ea typeface="DM Sans"/>
                <a:cs typeface="DM Sans"/>
              </a:defRPr>
            </a:pPr>
            <a:r>
              <a:rPr sz="1650" b="1">
                <a:solidFill>
                  <a:srgbClr val="0753D6"/>
                </a:solidFill>
                <a:latin typeface="DM Sans"/>
                <a:ea typeface="DM Sans"/>
                <a:cs typeface="DM Sans"/>
              </a:rPr>
              <a:t>Sector &amp; seniority</a:t>
            </a:r>
            <a:endParaRPr sz="1600" b="1">
              <a:solidFill>
                <a:srgbClr val="1155CC"/>
              </a:solidFill>
            </a:endParaRPr>
          </a:p>
        </p:txBody>
      </p:sp>
      <p:sp>
        <p:nvSpPr>
          <p:cNvPr id="65" name="scope">
            <a:extLst>
              <a:ext uri="{FF2B5EF4-FFF2-40B4-BE49-F238E27FC236}">
                <a16:creationId xmlns:a16="http://schemas.microsoft.com/office/drawing/2014/main" id="{63ACAB9C-80CD-4952-90F1-281C5AE15E2C}"/>
              </a:ext>
            </a:extLst>
          </p:cNvPr>
          <p:cNvSpPr>
            <a:spLocks noGrp="1"/>
          </p:cNvSpPr>
          <p:nvPr/>
        </p:nvSpPr>
        <p:spPr>
          <a:xfrm>
            <a:off x="685800" y="1447800"/>
            <a:ext cx="10820400" cy="533400"/>
          </a:xfrm>
          <a:prstGeom prst="rect">
            <a:avLst/>
          </a:prstGeom>
          <a:noFill/>
          <a:ln w="0">
            <a:noFill/>
          </a:ln>
        </p:spPr>
        <p:txBody>
          <a:bodyPr wrap="square" lIns="0" tIns="0" rIns="0" bIns="0" anchor="t">
            <a:noAutofit/>
          </a:bodyPr>
          <a:lstStyle/>
          <a:p>
            <a:pPr algn="l">
              <a:defRPr sz="1875">
                <a:solidFill>
                  <a:srgbClr val="627086"/>
                </a:solidFill>
                <a:latin typeface="DM Sans"/>
                <a:ea typeface="DM Sans"/>
                <a:cs typeface="DM Sans"/>
              </a:defRPr>
            </a:pPr>
            <a:r>
              <a:rPr sz="1875">
                <a:solidFill>
                  <a:srgbClr val="627086"/>
                </a:solidFill>
                <a:latin typeface="DM Sans"/>
                <a:ea typeface="DM Sans"/>
                <a:cs typeface="DM Sans"/>
              </a:rPr>
              <a:t>The full-period candidate table and review queue are ready for further work</a:t>
            </a:r>
          </a:p>
        </p:txBody>
      </p:sp>
      <p:sp>
        <p:nvSpPr>
          <p:cNvPr id="66" name="next_model">
            <a:extLst>
              <a:ext uri="{FF2B5EF4-FFF2-40B4-BE49-F238E27FC236}">
                <a16:creationId xmlns:a16="http://schemas.microsoft.com/office/drawing/2014/main" id="{FD20702D-DBBD-4188-AF3F-13759749B9F2}"/>
              </a:ext>
            </a:extLst>
          </p:cNvPr>
          <p:cNvSpPr>
            <a:spLocks noGrp="1"/>
          </p:cNvSpPr>
          <p:nvPr/>
        </p:nvSpPr>
        <p:spPr>
          <a:xfrm>
            <a:off x="685800" y="2428875"/>
            <a:ext cx="10820400" cy="628650"/>
          </a:xfrm>
          <a:prstGeom prst="rect">
            <a:avLst/>
          </a:prstGeom>
          <a:noFill/>
          <a:ln w="0">
            <a:noFill/>
          </a:ln>
        </p:spPr>
        <p:txBody>
          <a:bodyPr wrap="square" lIns="0" tIns="0" rIns="0" bIns="0" anchor="t">
            <a:noAutofit/>
          </a:bodyPr>
          <a:lstStyle/>
          <a:p>
            <a:pPr algn="l">
              <a:defRPr sz="2550" b="1">
                <a:solidFill>
                  <a:srgbClr val="20283F"/>
                </a:solidFill>
                <a:latin typeface="DM Sans"/>
                <a:ea typeface="DM Sans"/>
                <a:cs typeface="DM Sans"/>
              </a:defRPr>
            </a:pPr>
            <a:r>
              <a:rPr sz="2550" b="1">
                <a:solidFill>
                  <a:srgbClr val="20283F"/>
                </a:solidFill>
                <a:latin typeface="DM Sans"/>
                <a:ea typeface="DM Sans"/>
                <a:cs typeface="DM Sans"/>
              </a:rPr>
              <a:t>Small LLM pilot, followed by targeted review</a:t>
            </a:r>
          </a:p>
        </p:txBody>
      </p:sp>
      <p:sp>
        <p:nvSpPr>
          <p:cNvPr id="67" name="next_validation">
            <a:extLst>
              <a:ext uri="{FF2B5EF4-FFF2-40B4-BE49-F238E27FC236}">
                <a16:creationId xmlns:a16="http://schemas.microsoft.com/office/drawing/2014/main" id="{65B98DAA-DD75-4CE1-AC18-4F119E569377}"/>
              </a:ext>
            </a:extLst>
          </p:cNvPr>
          <p:cNvSpPr>
            <a:spLocks noGrp="1"/>
          </p:cNvSpPr>
          <p:nvPr/>
        </p:nvSpPr>
        <p:spPr>
          <a:xfrm>
            <a:off x="685800" y="3514725"/>
            <a:ext cx="10820400" cy="628650"/>
          </a:xfrm>
          <a:prstGeom prst="rect">
            <a:avLst/>
          </a:prstGeom>
          <a:noFill/>
          <a:ln w="0">
            <a:noFill/>
          </a:ln>
        </p:spPr>
        <p:txBody>
          <a:bodyPr wrap="square" lIns="0" tIns="0" rIns="0" bIns="0" anchor="t">
            <a:noAutofit/>
          </a:bodyPr>
          <a:lstStyle/>
          <a:p>
            <a:pPr algn="l">
              <a:defRPr sz="2400">
                <a:solidFill>
                  <a:srgbClr val="20283F"/>
                </a:solidFill>
                <a:latin typeface="DM Sans"/>
                <a:ea typeface="DM Sans"/>
                <a:cs typeface="DM Sans"/>
              </a:defRPr>
            </a:pPr>
            <a:r>
              <a:rPr sz="2400">
                <a:solidFill>
                  <a:srgbClr val="20283F"/>
                </a:solidFill>
                <a:latin typeface="DM Sans"/>
                <a:ea typeface="DM Sans"/>
                <a:cs typeface="DM Sans"/>
              </a:rPr>
              <a:t>Source checks on records not used in development</a:t>
            </a:r>
          </a:p>
        </p:txBody>
      </p:sp>
      <p:sp>
        <p:nvSpPr>
          <p:cNvPr id="68" name="api_dependency">
            <a:extLst>
              <a:ext uri="{FF2B5EF4-FFF2-40B4-BE49-F238E27FC236}">
                <a16:creationId xmlns:a16="http://schemas.microsoft.com/office/drawing/2014/main" id="{3B471D8D-C76C-4AF0-A671-7019EA7461AB}"/>
              </a:ext>
            </a:extLst>
          </p:cNvPr>
          <p:cNvSpPr>
            <a:spLocks noGrp="1"/>
          </p:cNvSpPr>
          <p:nvPr/>
        </p:nvSpPr>
        <p:spPr>
          <a:xfrm>
            <a:off x="685800" y="5000625"/>
            <a:ext cx="10820400" cy="495300"/>
          </a:xfrm>
          <a:prstGeom prst="rect">
            <a:avLst/>
          </a:prstGeom>
          <a:noFill/>
          <a:ln w="0">
            <a:noFill/>
          </a:ln>
        </p:spPr>
        <p:txBody>
          <a:bodyPr wrap="square" lIns="0" tIns="0" rIns="0" bIns="0" anchor="t">
            <a:noAutofit/>
          </a:bodyPr>
          <a:lstStyle/>
          <a:p>
            <a:pPr algn="l">
              <a:defRPr sz="2175" b="1">
                <a:solidFill>
                  <a:srgbClr val="BD650E"/>
                </a:solidFill>
                <a:latin typeface="DM Sans"/>
                <a:ea typeface="DM Sans"/>
                <a:cs typeface="DM Sans"/>
              </a:defRPr>
            </a:pPr>
            <a:r>
              <a:rPr sz="2175" b="1">
                <a:solidFill>
                  <a:srgbClr val="BD650E"/>
                </a:solidFill>
                <a:latin typeface="DM Sans"/>
                <a:ea typeface="DM Sans"/>
                <a:cs typeface="DM Sans"/>
              </a:rPr>
              <a:t>API access needed for new classifications</a:t>
            </a:r>
          </a:p>
        </p:txBody>
      </p:sp>
      <p:sp>
        <p:nvSpPr>
          <p:cNvPr id="69" name="api_status">
            <a:extLst>
              <a:ext uri="{FF2B5EF4-FFF2-40B4-BE49-F238E27FC236}">
                <a16:creationId xmlns:a16="http://schemas.microsoft.com/office/drawing/2014/main" id="{5192202E-51C1-4239-82CC-7AC1BA5CEDA7}"/>
              </a:ext>
            </a:extLst>
          </p:cNvPr>
          <p:cNvSpPr>
            <a:spLocks noGrp="1"/>
          </p:cNvSpPr>
          <p:nvPr/>
        </p:nvSpPr>
        <p:spPr>
          <a:xfrm>
            <a:off x="685800" y="5562600"/>
            <a:ext cx="10820400" cy="419100"/>
          </a:xfrm>
          <a:prstGeom prst="rect">
            <a:avLst/>
          </a:prstGeom>
          <a:noFill/>
          <a:ln w="0">
            <a:noFill/>
          </a:ln>
        </p:spPr>
        <p:txBody>
          <a:bodyPr wrap="square" lIns="0" tIns="0" rIns="0" bIns="0" anchor="t">
            <a:noAutofit/>
          </a:bodyPr>
          <a:lstStyle/>
          <a:p>
            <a:pPr algn="l">
              <a:defRPr sz="2025">
                <a:solidFill>
                  <a:srgbClr val="20283F"/>
                </a:solidFill>
                <a:latin typeface="DM Sans"/>
                <a:ea typeface="DM Sans"/>
                <a:cs typeface="DM Sans"/>
              </a:defRPr>
            </a:pPr>
            <a:r>
              <a:rPr sz="2025">
                <a:solidFill>
                  <a:srgbClr val="20283F"/>
                </a:solidFill>
                <a:latin typeface="DM Sans"/>
                <a:ea typeface="DM Sans"/>
                <a:cs typeface="DM Sans"/>
              </a:rPr>
              <a:t>New API calls: 0     New API cost: $0</a:t>
            </a:r>
          </a:p>
        </p:txBody>
      </p:sp>
    </p:spTree>
    <p:extLst>
      <p:ext uri="{BB962C8B-B14F-4D97-AF65-F5344CB8AC3E}">
        <p14:creationId xmlns:p14="http://schemas.microsoft.com/office/powerpoint/2010/main" val="282194867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3436</Words>
  <Application>Microsoft Macintosh PowerPoint</Application>
  <PresentationFormat>宽屏</PresentationFormat>
  <Paragraphs>470</Paragraphs>
  <Slides>19</Slides>
  <Notes>19</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19</vt:i4>
      </vt:variant>
    </vt:vector>
  </HeadingPairs>
  <TitlesOfParts>
    <vt:vector size="24" baseType="lpstr">
      <vt:lpstr>DM Sans</vt:lpstr>
      <vt:lpstr>Arial</vt:lpstr>
      <vt:lpstr>Calibri</vt:lpstr>
      <vt:lpstr>Saira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Olivia Mei</cp:lastModifiedBy>
  <cp:revision>1</cp:revision>
  <dcterms:created xsi:type="dcterms:W3CDTF">2026-09-02T01:49:34Z</dcterms:created>
  <dcterms:modified xsi:type="dcterms:W3CDTF">2026-10-01T13:32:10Z</dcterms:modified>
</cp:coreProperties>
</file>