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embeddedFontLst>
    <p:embeddedFont>
      <p:font typeface="Cambria" panose="02040503050406030204" pitchFamily="18" charset="0"/>
      <p:regular r:id="rId22"/>
      <p:bold r:id="rId23"/>
      <p:italic r:id="rId24"/>
      <p:boldItalic r:id="rId25"/>
    </p:embeddedFont>
    <p:embeddedFont>
      <p:font typeface="DM Sans" pitchFamily="2" charset="0"/>
      <p:regular r:id="rId26"/>
      <p:bold r:id="rId27"/>
      <p:italic r:id="rId28"/>
      <p:boldItalic r:id="rId29"/>
    </p:embeddedFont>
    <p:embeddedFont>
      <p:font typeface="Saira" panose="020B060402020202020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gNmdQDj1Rvocx1HNwwHcUl/52M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0203CA-392B-45A0-BE99-7340715BB029}" v="13" dt="2026-09-16T18:37:06.836"/>
    <p1510:client id="{280D89F3-6ED5-4A26-8D75-2F70226EC9D8}" v="1769" dt="2026-09-17T03:11:13.422"/>
    <p1510:client id="{53648406-8698-4285-BD60-7DD5CA5008C0}" v="15" dt="2026-09-16T18:47:55.458"/>
    <p1510:client id="{8EF303A1-D0C4-4BC0-9E95-6773C6E8D46C}" v="15" dt="2026-09-16T19:27:32.242"/>
    <p1510:client id="{FF79A832-110B-4235-A2E3-E606768AAA30}" v="464" dt="2026-09-16T18:17:49.815"/>
  </p1510:revLst>
</p1510:revInfo>
</file>

<file path=ppt/tableStyles.xml><?xml version="1.0" encoding="utf-8"?>
<a:tblStyleLst xmlns:a="http://schemas.openxmlformats.org/drawingml/2006/main" def="{04F8C4C1-8297-42D1-9A54-EEA6ACFCCACD}">
  <a:tblStyle styleId="{04F8C4C1-8297-42D1-9A54-EEA6ACFCCAC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B53526F1-605D-466D-9D6A-95BD18BEBACD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microsoft.com/office/2016/11/relationships/changesInfo" Target="changesInfos/changesInfo1.xml"/><Relationship Id="rId21" Type="http://schemas.openxmlformats.org/officeDocument/2006/relationships/notesMaster" Target="notesMasters/notesMaster1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ng Hsueh Lee" userId="zgKfxOzUbIKstLaft5gKBt/04kHzAodw8NiE245Gths=" providerId="None" clId="Web-{8EF303A1-D0C4-4BC0-9E95-6773C6E8D46C}"/>
    <pc:docChg chg="modSld">
      <pc:chgData name="Yung Hsueh Lee" userId="zgKfxOzUbIKstLaft5gKBt/04kHzAodw8NiE245Gths=" providerId="None" clId="Web-{8EF303A1-D0C4-4BC0-9E95-6773C6E8D46C}" dt="2026-09-16T19:27:32.133" v="13" actId="20577"/>
      <pc:docMkLst>
        <pc:docMk/>
      </pc:docMkLst>
      <pc:sldChg chg="modSp">
        <pc:chgData name="Yung Hsueh Lee" userId="zgKfxOzUbIKstLaft5gKBt/04kHzAodw8NiE245Gths=" providerId="None" clId="Web-{8EF303A1-D0C4-4BC0-9E95-6773C6E8D46C}" dt="2026-09-16T19:27:32.133" v="13" actId="20577"/>
        <pc:sldMkLst>
          <pc:docMk/>
          <pc:sldMk cId="558924362" sldId="267"/>
        </pc:sldMkLst>
        <pc:spChg chg="mod">
          <ac:chgData name="Yung Hsueh Lee" userId="zgKfxOzUbIKstLaft5gKBt/04kHzAodw8NiE245Gths=" providerId="None" clId="Web-{8EF303A1-D0C4-4BC0-9E95-6773C6E8D46C}" dt="2026-09-16T19:27:32.133" v="13" actId="20577"/>
          <ac:spMkLst>
            <pc:docMk/>
            <pc:sldMk cId="558924362" sldId="267"/>
            <ac:spMk id="5" creationId="{65DAFF0F-C062-D464-4EB5-B857FEEBB0EC}"/>
          </ac:spMkLst>
        </pc:spChg>
      </pc:sldChg>
    </pc:docChg>
  </pc:docChgLst>
  <pc:docChgLst>
    <pc:chgData name="Yung Hsueh Lee" userId="zgKfxOzUbIKstLaft5gKBt/04kHzAodw8NiE245Gths=" providerId="None" clId="Web-{0D0203CA-392B-45A0-BE99-7340715BB029}"/>
    <pc:docChg chg="modSld">
      <pc:chgData name="Yung Hsueh Lee" userId="zgKfxOzUbIKstLaft5gKBt/04kHzAodw8NiE245Gths=" providerId="None" clId="Web-{0D0203CA-392B-45A0-BE99-7340715BB029}" dt="2026-09-16T18:36:57.445" v="11" actId="20577"/>
      <pc:docMkLst>
        <pc:docMk/>
      </pc:docMkLst>
      <pc:sldChg chg="modSp">
        <pc:chgData name="Yung Hsueh Lee" userId="zgKfxOzUbIKstLaft5gKBt/04kHzAodw8NiE245Gths=" providerId="None" clId="Web-{0D0203CA-392B-45A0-BE99-7340715BB029}" dt="2026-09-16T18:36:57.445" v="11" actId="20577"/>
        <pc:sldMkLst>
          <pc:docMk/>
          <pc:sldMk cId="558924362" sldId="267"/>
        </pc:sldMkLst>
        <pc:spChg chg="mod">
          <ac:chgData name="Yung Hsueh Lee" userId="zgKfxOzUbIKstLaft5gKBt/04kHzAodw8NiE245Gths=" providerId="None" clId="Web-{0D0203CA-392B-45A0-BE99-7340715BB029}" dt="2026-09-16T18:36:57.445" v="11" actId="20577"/>
          <ac:spMkLst>
            <pc:docMk/>
            <pc:sldMk cId="558924362" sldId="267"/>
            <ac:spMk id="5" creationId="{65DAFF0F-C062-D464-4EB5-B857FEEBB0EC}"/>
          </ac:spMkLst>
        </pc:spChg>
      </pc:sldChg>
    </pc:docChg>
  </pc:docChgLst>
  <pc:docChgLst>
    <pc:chgData name="Yung Hsueh Lee" userId="zgKfxOzUbIKstLaft5gKBt/04kHzAodw8NiE245Gths=" providerId="None" clId="Web-{FF79A832-110B-4235-A2E3-E606768AAA30}"/>
    <pc:docChg chg="addSld modSld">
      <pc:chgData name="Yung Hsueh Lee" userId="zgKfxOzUbIKstLaft5gKBt/04kHzAodw8NiE245Gths=" providerId="None" clId="Web-{FF79A832-110B-4235-A2E3-E606768AAA30}" dt="2026-09-16T18:17:49.815" v="448" actId="20577"/>
      <pc:docMkLst>
        <pc:docMk/>
      </pc:docMkLst>
      <pc:sldChg chg="addSp delSp modSp add replId">
        <pc:chgData name="Yung Hsueh Lee" userId="zgKfxOzUbIKstLaft5gKBt/04kHzAodw8NiE245Gths=" providerId="None" clId="Web-{FF79A832-110B-4235-A2E3-E606768AAA30}" dt="2026-09-16T17:53:40.133" v="27" actId="20577"/>
        <pc:sldMkLst>
          <pc:docMk/>
          <pc:sldMk cId="261832847" sldId="265"/>
        </pc:sldMkLst>
        <pc:spChg chg="add mod">
          <ac:chgData name="Yung Hsueh Lee" userId="zgKfxOzUbIKstLaft5gKBt/04kHzAodw8NiE245Gths=" providerId="None" clId="Web-{FF79A832-110B-4235-A2E3-E606768AAA30}" dt="2026-09-16T17:53:40.133" v="27" actId="20577"/>
          <ac:spMkLst>
            <pc:docMk/>
            <pc:sldMk cId="261832847" sldId="265"/>
            <ac:spMk id="3" creationId="{A6F27008-C899-97B2-7A47-375015B4CF35}"/>
          </ac:spMkLst>
        </pc:spChg>
        <pc:spChg chg="del mod">
          <ac:chgData name="Yung Hsueh Lee" userId="zgKfxOzUbIKstLaft5gKBt/04kHzAodw8NiE245Gths=" providerId="None" clId="Web-{FF79A832-110B-4235-A2E3-E606768AAA30}" dt="2026-09-16T17:45:51.261" v="2"/>
          <ac:spMkLst>
            <pc:docMk/>
            <pc:sldMk cId="261832847" sldId="265"/>
            <ac:spMk id="238" creationId="{A5E5ACD6-5BBE-F663-0A3E-314ACF0C2BB4}"/>
          </ac:spMkLst>
        </pc:spChg>
        <pc:graphicFrameChg chg="del">
          <ac:chgData name="Yung Hsueh Lee" userId="zgKfxOzUbIKstLaft5gKBt/04kHzAodw8NiE245Gths=" providerId="None" clId="Web-{FF79A832-110B-4235-A2E3-E606768AAA30}" dt="2026-09-16T17:47:11.904" v="4"/>
          <ac:graphicFrameMkLst>
            <pc:docMk/>
            <pc:sldMk cId="261832847" sldId="265"/>
            <ac:graphicFrameMk id="239" creationId="{22F9F458-A7B7-7506-49B7-ED08B4A55BCC}"/>
          </ac:graphicFrameMkLst>
        </pc:graphicFrameChg>
        <pc:picChg chg="add mod">
          <ac:chgData name="Yung Hsueh Lee" userId="zgKfxOzUbIKstLaft5gKBt/04kHzAodw8NiE245Gths=" providerId="None" clId="Web-{FF79A832-110B-4235-A2E3-E606768AAA30}" dt="2026-09-16T17:53:22.820" v="20" actId="1076"/>
          <ac:picMkLst>
            <pc:docMk/>
            <pc:sldMk cId="261832847" sldId="265"/>
            <ac:picMk id="4" creationId="{EA9290E5-CA63-7C2D-0AEB-B2551B2CBF9C}"/>
          </ac:picMkLst>
        </pc:picChg>
        <pc:picChg chg="del">
          <ac:chgData name="Yung Hsueh Lee" userId="zgKfxOzUbIKstLaft5gKBt/04kHzAodw8NiE245Gths=" providerId="None" clId="Web-{FF79A832-110B-4235-A2E3-E606768AAA30}" dt="2026-09-16T17:47:10.701" v="3"/>
          <ac:picMkLst>
            <pc:docMk/>
            <pc:sldMk cId="261832847" sldId="265"/>
            <ac:picMk id="240" creationId="{58630C4E-8FC8-9CB3-D99F-5C448BA7EC7A}"/>
          </ac:picMkLst>
        </pc:picChg>
      </pc:sldChg>
      <pc:sldChg chg="addSp delSp modSp add replId">
        <pc:chgData name="Yung Hsueh Lee" userId="zgKfxOzUbIKstLaft5gKBt/04kHzAodw8NiE245Gths=" providerId="None" clId="Web-{FF79A832-110B-4235-A2E3-E606768AAA30}" dt="2026-09-16T18:00:51.224" v="390" actId="1076"/>
        <pc:sldMkLst>
          <pc:docMk/>
          <pc:sldMk cId="774106828" sldId="266"/>
        </pc:sldMkLst>
        <pc:spChg chg="mod">
          <ac:chgData name="Yung Hsueh Lee" userId="zgKfxOzUbIKstLaft5gKBt/04kHzAodw8NiE245Gths=" providerId="None" clId="Web-{FF79A832-110B-4235-A2E3-E606768AAA30}" dt="2026-09-16T17:54:55.557" v="55" actId="20577"/>
          <ac:spMkLst>
            <pc:docMk/>
            <pc:sldMk cId="774106828" sldId="266"/>
            <ac:spMk id="3" creationId="{254172F8-7E47-A2D0-D3AC-C85A9ADBF65F}"/>
          </ac:spMkLst>
        </pc:spChg>
        <pc:picChg chg="add mod">
          <ac:chgData name="Yung Hsueh Lee" userId="zgKfxOzUbIKstLaft5gKBt/04kHzAodw8NiE245Gths=" providerId="None" clId="Web-{FF79A832-110B-4235-A2E3-E606768AAA30}" dt="2026-09-16T18:00:51.224" v="390" actId="1076"/>
          <ac:picMkLst>
            <pc:docMk/>
            <pc:sldMk cId="774106828" sldId="266"/>
            <ac:picMk id="2" creationId="{258C2B04-9077-A8C1-942F-3EA85C920AFA}"/>
          </ac:picMkLst>
        </pc:picChg>
        <pc:picChg chg="del">
          <ac:chgData name="Yung Hsueh Lee" userId="zgKfxOzUbIKstLaft5gKBt/04kHzAodw8NiE245Gths=" providerId="None" clId="Web-{FF79A832-110B-4235-A2E3-E606768AAA30}" dt="2026-09-16T18:00:11.332" v="387"/>
          <ac:picMkLst>
            <pc:docMk/>
            <pc:sldMk cId="774106828" sldId="266"/>
            <ac:picMk id="4" creationId="{6D40C443-F003-A31F-1E41-BB84D88ADF69}"/>
          </ac:picMkLst>
        </pc:picChg>
      </pc:sldChg>
      <pc:sldChg chg="addSp delSp modSp add replId">
        <pc:chgData name="Yung Hsueh Lee" userId="zgKfxOzUbIKstLaft5gKBt/04kHzAodw8NiE245Gths=" providerId="None" clId="Web-{FF79A832-110B-4235-A2E3-E606768AAA30}" dt="2026-09-16T18:17:49.815" v="448" actId="20577"/>
        <pc:sldMkLst>
          <pc:docMk/>
          <pc:sldMk cId="558924362" sldId="267"/>
        </pc:sldMkLst>
        <pc:spChg chg="mod">
          <ac:chgData name="Yung Hsueh Lee" userId="zgKfxOzUbIKstLaft5gKBt/04kHzAodw8NiE245Gths=" providerId="None" clId="Web-{FF79A832-110B-4235-A2E3-E606768AAA30}" dt="2026-09-16T17:54:34.104" v="44" actId="20577"/>
          <ac:spMkLst>
            <pc:docMk/>
            <pc:sldMk cId="558924362" sldId="267"/>
            <ac:spMk id="3" creationId="{9BC7A9CA-259B-63EE-B8D6-C6DAA2056F6A}"/>
          </ac:spMkLst>
        </pc:spChg>
        <pc:spChg chg="add mod">
          <ac:chgData name="Yung Hsueh Lee" userId="zgKfxOzUbIKstLaft5gKBt/04kHzAodw8NiE245Gths=" providerId="None" clId="Web-{FF79A832-110B-4235-A2E3-E606768AAA30}" dt="2026-09-16T18:17:49.815" v="448" actId="20577"/>
          <ac:spMkLst>
            <pc:docMk/>
            <pc:sldMk cId="558924362" sldId="267"/>
            <ac:spMk id="5" creationId="{65DAFF0F-C062-D464-4EB5-B857FEEBB0EC}"/>
          </ac:spMkLst>
        </pc:spChg>
        <pc:picChg chg="del">
          <ac:chgData name="Yung Hsueh Lee" userId="zgKfxOzUbIKstLaft5gKBt/04kHzAodw8NiE245Gths=" providerId="None" clId="Web-{FF79A832-110B-4235-A2E3-E606768AAA30}" dt="2026-09-16T17:54:28.228" v="29"/>
          <ac:picMkLst>
            <pc:docMk/>
            <pc:sldMk cId="558924362" sldId="267"/>
            <ac:picMk id="4" creationId="{BBF26B59-285F-EE79-E814-549EAABE8066}"/>
          </ac:picMkLst>
        </pc:picChg>
      </pc:sldChg>
      <pc:sldChg chg="addSp delSp modSp add replId">
        <pc:chgData name="Yung Hsueh Lee" userId="zgKfxOzUbIKstLaft5gKBt/04kHzAodw8NiE245Gths=" providerId="None" clId="Web-{FF79A832-110B-4235-A2E3-E606768AAA30}" dt="2026-09-16T18:14:48.607" v="429" actId="1076"/>
        <pc:sldMkLst>
          <pc:docMk/>
          <pc:sldMk cId="556217030" sldId="268"/>
        </pc:sldMkLst>
        <pc:picChg chg="del">
          <ac:chgData name="Yung Hsueh Lee" userId="zgKfxOzUbIKstLaft5gKBt/04kHzAodw8NiE245Gths=" providerId="None" clId="Web-{FF79A832-110B-4235-A2E3-E606768AAA30}" dt="2026-09-16T18:01:03.021" v="392"/>
          <ac:picMkLst>
            <pc:docMk/>
            <pc:sldMk cId="556217030" sldId="268"/>
            <ac:picMk id="2" creationId="{1BE6BB06-9AF4-23F1-F7E1-2EF394D3E56F}"/>
          </ac:picMkLst>
        </pc:picChg>
        <pc:picChg chg="add mod">
          <ac:chgData name="Yung Hsueh Lee" userId="zgKfxOzUbIKstLaft5gKBt/04kHzAodw8NiE245Gths=" providerId="None" clId="Web-{FF79A832-110B-4235-A2E3-E606768AAA30}" dt="2026-09-16T18:14:48.607" v="429" actId="1076"/>
          <ac:picMkLst>
            <pc:docMk/>
            <pc:sldMk cId="556217030" sldId="268"/>
            <ac:picMk id="4" creationId="{65359AAE-5393-16F4-9B1B-A368DD88055F}"/>
          </ac:picMkLst>
        </pc:picChg>
      </pc:sldChg>
      <pc:sldChg chg="addSp delSp modSp add replId">
        <pc:chgData name="Yung Hsueh Lee" userId="zgKfxOzUbIKstLaft5gKBt/04kHzAodw8NiE245Gths=" providerId="None" clId="Web-{FF79A832-110B-4235-A2E3-E606768AAA30}" dt="2026-09-16T18:15:43.734" v="435" actId="1076"/>
        <pc:sldMkLst>
          <pc:docMk/>
          <pc:sldMk cId="2585781342" sldId="269"/>
        </pc:sldMkLst>
        <pc:picChg chg="add mod">
          <ac:chgData name="Yung Hsueh Lee" userId="zgKfxOzUbIKstLaft5gKBt/04kHzAodw8NiE245Gths=" providerId="None" clId="Web-{FF79A832-110B-4235-A2E3-E606768AAA30}" dt="2026-09-16T18:15:43.734" v="435" actId="1076"/>
          <ac:picMkLst>
            <pc:docMk/>
            <pc:sldMk cId="2585781342" sldId="269"/>
            <ac:picMk id="2" creationId="{AB5E5700-66FB-E08C-384B-D5021DC34F5C}"/>
          </ac:picMkLst>
        </pc:picChg>
        <pc:picChg chg="del">
          <ac:chgData name="Yung Hsueh Lee" userId="zgKfxOzUbIKstLaft5gKBt/04kHzAodw8NiE245Gths=" providerId="None" clId="Web-{FF79A832-110B-4235-A2E3-E606768AAA30}" dt="2026-09-16T18:15:11.514" v="431"/>
          <ac:picMkLst>
            <pc:docMk/>
            <pc:sldMk cId="2585781342" sldId="269"/>
            <ac:picMk id="4" creationId="{74AC609D-1681-FE22-5221-18B24CEF9A95}"/>
          </ac:picMkLst>
        </pc:picChg>
      </pc:sldChg>
      <pc:sldChg chg="addSp delSp modSp add replId">
        <pc:chgData name="Yung Hsueh Lee" userId="zgKfxOzUbIKstLaft5gKBt/04kHzAodw8NiE245Gths=" providerId="None" clId="Web-{FF79A832-110B-4235-A2E3-E606768AAA30}" dt="2026-09-16T18:16:30.016" v="440" actId="1076"/>
        <pc:sldMkLst>
          <pc:docMk/>
          <pc:sldMk cId="2113535357" sldId="270"/>
        </pc:sldMkLst>
        <pc:picChg chg="del">
          <ac:chgData name="Yung Hsueh Lee" userId="zgKfxOzUbIKstLaft5gKBt/04kHzAodw8NiE245Gths=" providerId="None" clId="Web-{FF79A832-110B-4235-A2E3-E606768AAA30}" dt="2026-09-16T18:15:49.109" v="437"/>
          <ac:picMkLst>
            <pc:docMk/>
            <pc:sldMk cId="2113535357" sldId="270"/>
            <ac:picMk id="2" creationId="{DFF9988B-9986-EBE5-5DFD-14A8B7C5F96E}"/>
          </ac:picMkLst>
        </pc:picChg>
        <pc:picChg chg="add mod">
          <ac:chgData name="Yung Hsueh Lee" userId="zgKfxOzUbIKstLaft5gKBt/04kHzAodw8NiE245Gths=" providerId="None" clId="Web-{FF79A832-110B-4235-A2E3-E606768AAA30}" dt="2026-09-16T18:16:30.016" v="440" actId="1076"/>
          <ac:picMkLst>
            <pc:docMk/>
            <pc:sldMk cId="2113535357" sldId="270"/>
            <ac:picMk id="4" creationId="{4BE4C065-7EF8-B517-2DE2-0363F028A16A}"/>
          </ac:picMkLst>
        </pc:picChg>
      </pc:sldChg>
      <pc:sldChg chg="addSp delSp modSp add replId">
        <pc:chgData name="Yung Hsueh Lee" userId="zgKfxOzUbIKstLaft5gKBt/04kHzAodw8NiE245Gths=" providerId="None" clId="Web-{FF79A832-110B-4235-A2E3-E606768AAA30}" dt="2026-09-16T18:17:05.955" v="446" actId="1076"/>
        <pc:sldMkLst>
          <pc:docMk/>
          <pc:sldMk cId="3046779976" sldId="271"/>
        </pc:sldMkLst>
        <pc:picChg chg="add mod">
          <ac:chgData name="Yung Hsueh Lee" userId="zgKfxOzUbIKstLaft5gKBt/04kHzAodw8NiE245Gths=" providerId="None" clId="Web-{FF79A832-110B-4235-A2E3-E606768AAA30}" dt="2026-09-16T18:17:05.955" v="446" actId="1076"/>
          <ac:picMkLst>
            <pc:docMk/>
            <pc:sldMk cId="3046779976" sldId="271"/>
            <ac:picMk id="2" creationId="{5A64C9CD-2BB8-7D60-60EB-1401D22EB472}"/>
          </ac:picMkLst>
        </pc:picChg>
        <pc:picChg chg="del">
          <ac:chgData name="Yung Hsueh Lee" userId="zgKfxOzUbIKstLaft5gKBt/04kHzAodw8NiE245Gths=" providerId="None" clId="Web-{FF79A832-110B-4235-A2E3-E606768AAA30}" dt="2026-09-16T18:16:38.501" v="442"/>
          <ac:picMkLst>
            <pc:docMk/>
            <pc:sldMk cId="3046779976" sldId="271"/>
            <ac:picMk id="4" creationId="{83184E4E-066A-DBAF-8A71-8D9EFF995C09}"/>
          </ac:picMkLst>
        </pc:picChg>
      </pc:sldChg>
    </pc:docChg>
  </pc:docChgLst>
  <pc:docChgLst>
    <pc:chgData name="Minxi Lin" userId="VeYwny5S/uBwBcyo+qYcltM3CwZL/iIhSlytkjegrPI=" providerId="None" clId="Web-{280D89F3-6ED5-4A26-8D75-2F70226EC9D8}"/>
    <pc:docChg chg="addSld delSld modSld">
      <pc:chgData name="Minxi Lin" userId="VeYwny5S/uBwBcyo+qYcltM3CwZL/iIhSlytkjegrPI=" providerId="None" clId="Web-{280D89F3-6ED5-4A26-8D75-2F70226EC9D8}" dt="2026-09-17T03:11:13.422" v="1221"/>
      <pc:docMkLst>
        <pc:docMk/>
      </pc:docMkLst>
      <pc:sldChg chg="addSp delSp modSp add replId">
        <pc:chgData name="Minxi Lin" userId="VeYwny5S/uBwBcyo+qYcltM3CwZL/iIhSlytkjegrPI=" providerId="None" clId="Web-{280D89F3-6ED5-4A26-8D75-2F70226EC9D8}" dt="2026-09-17T03:02:53.891" v="771" actId="20577"/>
        <pc:sldMkLst>
          <pc:docMk/>
          <pc:sldMk cId="836664099" sldId="272"/>
        </pc:sldMkLst>
        <pc:spChg chg="mod">
          <ac:chgData name="Minxi Lin" userId="VeYwny5S/uBwBcyo+qYcltM3CwZL/iIhSlytkjegrPI=" providerId="None" clId="Web-{280D89F3-6ED5-4A26-8D75-2F70226EC9D8}" dt="2026-09-17T02:17:10.569" v="57" actId="14100"/>
          <ac:spMkLst>
            <pc:docMk/>
            <pc:sldMk cId="836664099" sldId="272"/>
            <ac:spMk id="63" creationId="{9DCA35CE-741B-0E3A-BE9B-CD3BE9140F83}"/>
          </ac:spMkLst>
        </pc:spChg>
        <pc:spChg chg="mod">
          <ac:chgData name="Minxi Lin" userId="VeYwny5S/uBwBcyo+qYcltM3CwZL/iIhSlytkjegrPI=" providerId="None" clId="Web-{280D89F3-6ED5-4A26-8D75-2F70226EC9D8}" dt="2026-09-17T03:02:53.891" v="771" actId="20577"/>
          <ac:spMkLst>
            <pc:docMk/>
            <pc:sldMk cId="836664099" sldId="272"/>
            <ac:spMk id="64" creationId="{2ED1395F-AFB0-3245-ECF7-B879B0E988A3}"/>
          </ac:spMkLst>
        </pc:spChg>
        <pc:spChg chg="del">
          <ac:chgData name="Minxi Lin" userId="VeYwny5S/uBwBcyo+qYcltM3CwZL/iIhSlytkjegrPI=" providerId="None" clId="Web-{280D89F3-6ED5-4A26-8D75-2F70226EC9D8}" dt="2026-09-17T02:14:48.267" v="20"/>
          <ac:spMkLst>
            <pc:docMk/>
            <pc:sldMk cId="836664099" sldId="272"/>
            <ac:spMk id="65" creationId="{F57EC495-18AE-E2B9-8CD7-51021F2080F3}"/>
          </ac:spMkLst>
        </pc:spChg>
        <pc:spChg chg="del">
          <ac:chgData name="Minxi Lin" userId="VeYwny5S/uBwBcyo+qYcltM3CwZL/iIhSlytkjegrPI=" providerId="None" clId="Web-{280D89F3-6ED5-4A26-8D75-2F70226EC9D8}" dt="2026-09-17T02:14:53.299" v="40"/>
          <ac:spMkLst>
            <pc:docMk/>
            <pc:sldMk cId="836664099" sldId="272"/>
            <ac:spMk id="66" creationId="{B7FD14BF-55A5-2622-32CA-86487BC4ADDE}"/>
          </ac:spMkLst>
        </pc:spChg>
        <pc:spChg chg="del">
          <ac:chgData name="Minxi Lin" userId="VeYwny5S/uBwBcyo+qYcltM3CwZL/iIhSlytkjegrPI=" providerId="None" clId="Web-{280D89F3-6ED5-4A26-8D75-2F70226EC9D8}" dt="2026-09-17T02:14:53.299" v="39"/>
          <ac:spMkLst>
            <pc:docMk/>
            <pc:sldMk cId="836664099" sldId="272"/>
            <ac:spMk id="67" creationId="{67CDA8CD-BC12-F34B-CBB4-D123E02E0EE1}"/>
          </ac:spMkLst>
        </pc:spChg>
        <pc:spChg chg="del">
          <ac:chgData name="Minxi Lin" userId="VeYwny5S/uBwBcyo+qYcltM3CwZL/iIhSlytkjegrPI=" providerId="None" clId="Web-{280D89F3-6ED5-4A26-8D75-2F70226EC9D8}" dt="2026-09-17T02:14:53.299" v="38"/>
          <ac:spMkLst>
            <pc:docMk/>
            <pc:sldMk cId="836664099" sldId="272"/>
            <ac:spMk id="68" creationId="{988E819A-F40F-C37F-1FA9-8E6209DB9829}"/>
          </ac:spMkLst>
        </pc:spChg>
        <pc:spChg chg="del">
          <ac:chgData name="Minxi Lin" userId="VeYwny5S/uBwBcyo+qYcltM3CwZL/iIhSlytkjegrPI=" providerId="None" clId="Web-{280D89F3-6ED5-4A26-8D75-2F70226EC9D8}" dt="2026-09-17T02:14:53.299" v="36"/>
          <ac:spMkLst>
            <pc:docMk/>
            <pc:sldMk cId="836664099" sldId="272"/>
            <ac:spMk id="70" creationId="{9C34CD47-33E6-1B1B-0946-C9C474B8EAE5}"/>
          </ac:spMkLst>
        </pc:spChg>
        <pc:spChg chg="del">
          <ac:chgData name="Minxi Lin" userId="VeYwny5S/uBwBcyo+qYcltM3CwZL/iIhSlytkjegrPI=" providerId="None" clId="Web-{280D89F3-6ED5-4A26-8D75-2F70226EC9D8}" dt="2026-09-17T02:14:53.299" v="35"/>
          <ac:spMkLst>
            <pc:docMk/>
            <pc:sldMk cId="836664099" sldId="272"/>
            <ac:spMk id="71" creationId="{8D103B69-8107-8027-FD7E-53EA81823D11}"/>
          </ac:spMkLst>
        </pc:spChg>
        <pc:spChg chg="del">
          <ac:chgData name="Minxi Lin" userId="VeYwny5S/uBwBcyo+qYcltM3CwZL/iIhSlytkjegrPI=" providerId="None" clId="Web-{280D89F3-6ED5-4A26-8D75-2F70226EC9D8}" dt="2026-09-17T02:14:53.299" v="34"/>
          <ac:spMkLst>
            <pc:docMk/>
            <pc:sldMk cId="836664099" sldId="272"/>
            <ac:spMk id="72" creationId="{39971F16-F38C-3C9D-527C-48B3FDE2EDC2}"/>
          </ac:spMkLst>
        </pc:spChg>
        <pc:spChg chg="del">
          <ac:chgData name="Minxi Lin" userId="VeYwny5S/uBwBcyo+qYcltM3CwZL/iIhSlytkjegrPI=" providerId="None" clId="Web-{280D89F3-6ED5-4A26-8D75-2F70226EC9D8}" dt="2026-09-17T02:14:53.299" v="33"/>
          <ac:spMkLst>
            <pc:docMk/>
            <pc:sldMk cId="836664099" sldId="272"/>
            <ac:spMk id="73" creationId="{9BD44380-7C51-ED31-B934-3AD478A48642}"/>
          </ac:spMkLst>
        </pc:spChg>
        <pc:spChg chg="del">
          <ac:chgData name="Minxi Lin" userId="VeYwny5S/uBwBcyo+qYcltM3CwZL/iIhSlytkjegrPI=" providerId="None" clId="Web-{280D89F3-6ED5-4A26-8D75-2F70226EC9D8}" dt="2026-09-17T02:14:53.299" v="32"/>
          <ac:spMkLst>
            <pc:docMk/>
            <pc:sldMk cId="836664099" sldId="272"/>
            <ac:spMk id="74" creationId="{B5BF48D9-E8E8-2490-4B82-5B00FB0D43C6}"/>
          </ac:spMkLst>
        </pc:spChg>
        <pc:spChg chg="del">
          <ac:chgData name="Minxi Lin" userId="VeYwny5S/uBwBcyo+qYcltM3CwZL/iIhSlytkjegrPI=" providerId="None" clId="Web-{280D89F3-6ED5-4A26-8D75-2F70226EC9D8}" dt="2026-09-17T02:14:53.299" v="31"/>
          <ac:spMkLst>
            <pc:docMk/>
            <pc:sldMk cId="836664099" sldId="272"/>
            <ac:spMk id="75" creationId="{55B416C2-A15A-D7A5-11C3-A4F4AA416F52}"/>
          </ac:spMkLst>
        </pc:spChg>
        <pc:spChg chg="del">
          <ac:chgData name="Minxi Lin" userId="VeYwny5S/uBwBcyo+qYcltM3CwZL/iIhSlytkjegrPI=" providerId="None" clId="Web-{280D89F3-6ED5-4A26-8D75-2F70226EC9D8}" dt="2026-09-17T02:14:53.299" v="29"/>
          <ac:spMkLst>
            <pc:docMk/>
            <pc:sldMk cId="836664099" sldId="272"/>
            <ac:spMk id="77" creationId="{2561747F-22B6-0A87-79A4-F8122E4B33DA}"/>
          </ac:spMkLst>
        </pc:spChg>
        <pc:spChg chg="del">
          <ac:chgData name="Minxi Lin" userId="VeYwny5S/uBwBcyo+qYcltM3CwZL/iIhSlytkjegrPI=" providerId="None" clId="Web-{280D89F3-6ED5-4A26-8D75-2F70226EC9D8}" dt="2026-09-17T02:14:53.283" v="28"/>
          <ac:spMkLst>
            <pc:docMk/>
            <pc:sldMk cId="836664099" sldId="272"/>
            <ac:spMk id="78" creationId="{DDC533B6-F00A-E3ED-8FCE-A400FA225693}"/>
          </ac:spMkLst>
        </pc:spChg>
        <pc:spChg chg="del">
          <ac:chgData name="Minxi Lin" userId="VeYwny5S/uBwBcyo+qYcltM3CwZL/iIhSlytkjegrPI=" providerId="None" clId="Web-{280D89F3-6ED5-4A26-8D75-2F70226EC9D8}" dt="2026-09-17T02:14:53.283" v="27"/>
          <ac:spMkLst>
            <pc:docMk/>
            <pc:sldMk cId="836664099" sldId="272"/>
            <ac:spMk id="79" creationId="{2787A577-A2ED-278F-2A83-846B96F95740}"/>
          </ac:spMkLst>
        </pc:spChg>
        <pc:spChg chg="del">
          <ac:chgData name="Minxi Lin" userId="VeYwny5S/uBwBcyo+qYcltM3CwZL/iIhSlytkjegrPI=" providerId="None" clId="Web-{280D89F3-6ED5-4A26-8D75-2F70226EC9D8}" dt="2026-09-17T02:14:53.283" v="26"/>
          <ac:spMkLst>
            <pc:docMk/>
            <pc:sldMk cId="836664099" sldId="272"/>
            <ac:spMk id="80" creationId="{D8AF88BD-DDBD-2724-C361-B35C730662E1}"/>
          </ac:spMkLst>
        </pc:spChg>
        <pc:spChg chg="del">
          <ac:chgData name="Minxi Lin" userId="VeYwny5S/uBwBcyo+qYcltM3CwZL/iIhSlytkjegrPI=" providerId="None" clId="Web-{280D89F3-6ED5-4A26-8D75-2F70226EC9D8}" dt="2026-09-17T02:14:53.283" v="25"/>
          <ac:spMkLst>
            <pc:docMk/>
            <pc:sldMk cId="836664099" sldId="272"/>
            <ac:spMk id="81" creationId="{C1CC6165-B087-0CF4-834F-E6A4788777AB}"/>
          </ac:spMkLst>
        </pc:spChg>
        <pc:spChg chg="del">
          <ac:chgData name="Minxi Lin" userId="VeYwny5S/uBwBcyo+qYcltM3CwZL/iIhSlytkjegrPI=" providerId="None" clId="Web-{280D89F3-6ED5-4A26-8D75-2F70226EC9D8}" dt="2026-09-17T02:14:53.283" v="24"/>
          <ac:spMkLst>
            <pc:docMk/>
            <pc:sldMk cId="836664099" sldId="272"/>
            <ac:spMk id="82" creationId="{975C63D6-3081-0D54-A4F7-535541AB4CB9}"/>
          </ac:spMkLst>
        </pc:spChg>
        <pc:spChg chg="del">
          <ac:chgData name="Minxi Lin" userId="VeYwny5S/uBwBcyo+qYcltM3CwZL/iIhSlytkjegrPI=" providerId="None" clId="Web-{280D89F3-6ED5-4A26-8D75-2F70226EC9D8}" dt="2026-09-17T02:14:53.283" v="22"/>
          <ac:spMkLst>
            <pc:docMk/>
            <pc:sldMk cId="836664099" sldId="272"/>
            <ac:spMk id="84" creationId="{AF05E4E4-BD4A-0946-39CC-F8CDA1600431}"/>
          </ac:spMkLst>
        </pc:spChg>
        <pc:spChg chg="del">
          <ac:chgData name="Minxi Lin" userId="VeYwny5S/uBwBcyo+qYcltM3CwZL/iIhSlytkjegrPI=" providerId="None" clId="Web-{280D89F3-6ED5-4A26-8D75-2F70226EC9D8}" dt="2026-09-17T02:14:53.283" v="21"/>
          <ac:spMkLst>
            <pc:docMk/>
            <pc:sldMk cId="836664099" sldId="272"/>
            <ac:spMk id="85" creationId="{D205A34A-47DB-FA8F-DDC0-3664CF9FD858}"/>
          </ac:spMkLst>
        </pc:spChg>
        <pc:graphicFrameChg chg="add del mod modGraphic">
          <ac:chgData name="Minxi Lin" userId="VeYwny5S/uBwBcyo+qYcltM3CwZL/iIhSlytkjegrPI=" providerId="None" clId="Web-{280D89F3-6ED5-4A26-8D75-2F70226EC9D8}" dt="2026-09-17T02:46:00.765" v="129"/>
          <ac:graphicFrameMkLst>
            <pc:docMk/>
            <pc:sldMk cId="836664099" sldId="272"/>
            <ac:graphicFrameMk id="3" creationId="{252D342F-A348-8440-BC8D-CAB073955B79}"/>
          </ac:graphicFrameMkLst>
        </pc:graphicFrameChg>
        <pc:graphicFrameChg chg="add del mod modGraphic">
          <ac:chgData name="Minxi Lin" userId="VeYwny5S/uBwBcyo+qYcltM3CwZL/iIhSlytkjegrPI=" providerId="None" clId="Web-{280D89F3-6ED5-4A26-8D75-2F70226EC9D8}" dt="2026-09-17T02:49:48.757" v="304"/>
          <ac:graphicFrameMkLst>
            <pc:docMk/>
            <pc:sldMk cId="836664099" sldId="272"/>
            <ac:graphicFrameMk id="5" creationId="{DC9D451D-D0B7-D570-AD9C-404B4704491A}"/>
          </ac:graphicFrameMkLst>
        </pc:graphicFrameChg>
        <pc:graphicFrameChg chg="add del mod modGraphic">
          <ac:chgData name="Minxi Lin" userId="VeYwny5S/uBwBcyo+qYcltM3CwZL/iIhSlytkjegrPI=" providerId="None" clId="Web-{280D89F3-6ED5-4A26-8D75-2F70226EC9D8}" dt="2026-09-17T02:52:20.637" v="459"/>
          <ac:graphicFrameMkLst>
            <pc:docMk/>
            <pc:sldMk cId="836664099" sldId="272"/>
            <ac:graphicFrameMk id="7" creationId="{7D9D9A86-3865-B666-0EC8-87EA3EC880E7}"/>
          </ac:graphicFrameMkLst>
        </pc:graphicFrameChg>
        <pc:graphicFrameChg chg="add del mod modGraphic">
          <ac:chgData name="Minxi Lin" userId="VeYwny5S/uBwBcyo+qYcltM3CwZL/iIhSlytkjegrPI=" providerId="None" clId="Web-{280D89F3-6ED5-4A26-8D75-2F70226EC9D8}" dt="2026-09-17T02:52:19.402" v="458"/>
          <ac:graphicFrameMkLst>
            <pc:docMk/>
            <pc:sldMk cId="836664099" sldId="272"/>
            <ac:graphicFrameMk id="9" creationId="{238445BC-0445-3AF6-3E8B-2062667ABC86}"/>
          </ac:graphicFrameMkLst>
        </pc:graphicFrameChg>
        <pc:graphicFrameChg chg="add mod modGraphic">
          <ac:chgData name="Minxi Lin" userId="VeYwny5S/uBwBcyo+qYcltM3CwZL/iIhSlytkjegrPI=" providerId="None" clId="Web-{280D89F3-6ED5-4A26-8D75-2F70226EC9D8}" dt="2026-09-17T02:53:37.998" v="651" actId="1076"/>
          <ac:graphicFrameMkLst>
            <pc:docMk/>
            <pc:sldMk cId="836664099" sldId="272"/>
            <ac:graphicFrameMk id="11" creationId="{18481C34-23EB-DD47-1B4C-3FA0ED5E12E6}"/>
          </ac:graphicFrameMkLst>
        </pc:graphicFrameChg>
        <pc:cxnChg chg="del">
          <ac:chgData name="Minxi Lin" userId="VeYwny5S/uBwBcyo+qYcltM3CwZL/iIhSlytkjegrPI=" providerId="None" clId="Web-{280D89F3-6ED5-4A26-8D75-2F70226EC9D8}" dt="2026-09-17T02:14:53.299" v="37"/>
          <ac:cxnSpMkLst>
            <pc:docMk/>
            <pc:sldMk cId="836664099" sldId="272"/>
            <ac:cxnSpMk id="69" creationId="{C8C73613-7689-01BD-9973-A7BBEBC57EBB}"/>
          </ac:cxnSpMkLst>
        </pc:cxnChg>
        <pc:cxnChg chg="del">
          <ac:chgData name="Minxi Lin" userId="VeYwny5S/uBwBcyo+qYcltM3CwZL/iIhSlytkjegrPI=" providerId="None" clId="Web-{280D89F3-6ED5-4A26-8D75-2F70226EC9D8}" dt="2026-09-17T02:14:53.299" v="30"/>
          <ac:cxnSpMkLst>
            <pc:docMk/>
            <pc:sldMk cId="836664099" sldId="272"/>
            <ac:cxnSpMk id="76" creationId="{8F5E00AD-855D-A1BD-E03B-50B68BC79F47}"/>
          </ac:cxnSpMkLst>
        </pc:cxnChg>
        <pc:cxnChg chg="del">
          <ac:chgData name="Minxi Lin" userId="VeYwny5S/uBwBcyo+qYcltM3CwZL/iIhSlytkjegrPI=" providerId="None" clId="Web-{280D89F3-6ED5-4A26-8D75-2F70226EC9D8}" dt="2026-09-17T02:14:53.283" v="23"/>
          <ac:cxnSpMkLst>
            <pc:docMk/>
            <pc:sldMk cId="836664099" sldId="272"/>
            <ac:cxnSpMk id="83" creationId="{49D75B84-4523-B1A7-6981-88A0523B848A}"/>
          </ac:cxnSpMkLst>
        </pc:cxnChg>
      </pc:sldChg>
      <pc:sldChg chg="new del">
        <pc:chgData name="Minxi Lin" userId="VeYwny5S/uBwBcyo+qYcltM3CwZL/iIhSlytkjegrPI=" providerId="None" clId="Web-{280D89F3-6ED5-4A26-8D75-2F70226EC9D8}" dt="2026-09-17T02:14:12.657" v="1"/>
        <pc:sldMkLst>
          <pc:docMk/>
          <pc:sldMk cId="1418620990" sldId="272"/>
        </pc:sldMkLst>
      </pc:sldChg>
      <pc:sldChg chg="addSp delSp modSp add replId">
        <pc:chgData name="Minxi Lin" userId="VeYwny5S/uBwBcyo+qYcltM3CwZL/iIhSlytkjegrPI=" providerId="None" clId="Web-{280D89F3-6ED5-4A26-8D75-2F70226EC9D8}" dt="2026-09-17T03:05:32.536" v="1000" actId="20577"/>
        <pc:sldMkLst>
          <pc:docMk/>
          <pc:sldMk cId="4057257952" sldId="273"/>
        </pc:sldMkLst>
        <pc:spChg chg="mod">
          <ac:chgData name="Minxi Lin" userId="VeYwny5S/uBwBcyo+qYcltM3CwZL/iIhSlytkjegrPI=" providerId="None" clId="Web-{280D89F3-6ED5-4A26-8D75-2F70226EC9D8}" dt="2026-09-17T02:55:30.705" v="666" actId="20577"/>
          <ac:spMkLst>
            <pc:docMk/>
            <pc:sldMk cId="4057257952" sldId="273"/>
            <ac:spMk id="63" creationId="{EE48929C-7F39-A474-9568-21FB24D9FB82}"/>
          </ac:spMkLst>
        </pc:spChg>
        <pc:spChg chg="mod">
          <ac:chgData name="Minxi Lin" userId="VeYwny5S/uBwBcyo+qYcltM3CwZL/iIhSlytkjegrPI=" providerId="None" clId="Web-{280D89F3-6ED5-4A26-8D75-2F70226EC9D8}" dt="2026-09-17T03:05:32.536" v="1000" actId="20577"/>
          <ac:spMkLst>
            <pc:docMk/>
            <pc:sldMk cId="4057257952" sldId="273"/>
            <ac:spMk id="64" creationId="{A84374A3-86CA-E428-D173-9D6A7D21D8A9}"/>
          </ac:spMkLst>
        </pc:spChg>
        <pc:graphicFrameChg chg="add del mod modGraphic">
          <ac:chgData name="Minxi Lin" userId="VeYwny5S/uBwBcyo+qYcltM3CwZL/iIhSlytkjegrPI=" providerId="None" clId="Web-{280D89F3-6ED5-4A26-8D75-2F70226EC9D8}" dt="2026-09-17T03:00:54.403" v="686"/>
          <ac:graphicFrameMkLst>
            <pc:docMk/>
            <pc:sldMk cId="4057257952" sldId="273"/>
            <ac:graphicFrameMk id="3" creationId="{1E82011E-A623-533C-94B9-DFF1E57CCE33}"/>
          </ac:graphicFrameMkLst>
        </pc:graphicFrameChg>
        <pc:graphicFrameChg chg="add mod modGraphic">
          <ac:chgData name="Minxi Lin" userId="VeYwny5S/uBwBcyo+qYcltM3CwZL/iIhSlytkjegrPI=" providerId="None" clId="Web-{280D89F3-6ED5-4A26-8D75-2F70226EC9D8}" dt="2026-09-17T03:03:33.376" v="873"/>
          <ac:graphicFrameMkLst>
            <pc:docMk/>
            <pc:sldMk cId="4057257952" sldId="273"/>
            <ac:graphicFrameMk id="5" creationId="{6BC0C53A-AF39-07A8-2B03-FC2D613BE27E}"/>
          </ac:graphicFrameMkLst>
        </pc:graphicFrameChg>
        <pc:graphicFrameChg chg="del">
          <ac:chgData name="Minxi Lin" userId="VeYwny5S/uBwBcyo+qYcltM3CwZL/iIhSlytkjegrPI=" providerId="None" clId="Web-{280D89F3-6ED5-4A26-8D75-2F70226EC9D8}" dt="2026-09-17T03:00:42.543" v="681"/>
          <ac:graphicFrameMkLst>
            <pc:docMk/>
            <pc:sldMk cId="4057257952" sldId="273"/>
            <ac:graphicFrameMk id="11" creationId="{458F8A04-ECA0-BE94-299F-88DDC6010FCC}"/>
          </ac:graphicFrameMkLst>
        </pc:graphicFrameChg>
      </pc:sldChg>
      <pc:sldChg chg="addSp delSp modSp add replId">
        <pc:chgData name="Minxi Lin" userId="VeYwny5S/uBwBcyo+qYcltM3CwZL/iIhSlytkjegrPI=" providerId="None" clId="Web-{280D89F3-6ED5-4A26-8D75-2F70226EC9D8}" dt="2026-09-17T03:11:13.422" v="1221"/>
        <pc:sldMkLst>
          <pc:docMk/>
          <pc:sldMk cId="3881741706" sldId="274"/>
        </pc:sldMkLst>
        <pc:spChg chg="mod">
          <ac:chgData name="Minxi Lin" userId="VeYwny5S/uBwBcyo+qYcltM3CwZL/iIhSlytkjegrPI=" providerId="None" clId="Web-{280D89F3-6ED5-4A26-8D75-2F70226EC9D8}" dt="2026-09-17T03:07:01.602" v="1008" actId="20577"/>
          <ac:spMkLst>
            <pc:docMk/>
            <pc:sldMk cId="3881741706" sldId="274"/>
            <ac:spMk id="63" creationId="{8A7A7591-3432-DBE5-9A59-622415BE2768}"/>
          </ac:spMkLst>
        </pc:spChg>
        <pc:spChg chg="mod">
          <ac:chgData name="Minxi Lin" userId="VeYwny5S/uBwBcyo+qYcltM3CwZL/iIhSlytkjegrPI=" providerId="None" clId="Web-{280D89F3-6ED5-4A26-8D75-2F70226EC9D8}" dt="2026-09-17T03:11:03.922" v="1220" actId="20577"/>
          <ac:spMkLst>
            <pc:docMk/>
            <pc:sldMk cId="3881741706" sldId="274"/>
            <ac:spMk id="64" creationId="{5AD69F6F-DD5C-0139-667C-2E01E5D21DA8}"/>
          </ac:spMkLst>
        </pc:spChg>
        <pc:graphicFrameChg chg="add mod modGraphic">
          <ac:chgData name="Minxi Lin" userId="VeYwny5S/uBwBcyo+qYcltM3CwZL/iIhSlytkjegrPI=" providerId="None" clId="Web-{280D89F3-6ED5-4A26-8D75-2F70226EC9D8}" dt="2026-09-17T03:11:13.422" v="1221"/>
          <ac:graphicFrameMkLst>
            <pc:docMk/>
            <pc:sldMk cId="3881741706" sldId="274"/>
            <ac:graphicFrameMk id="3" creationId="{AEE11B6F-E595-6378-FEDE-EAA5EBAF8830}"/>
          </ac:graphicFrameMkLst>
        </pc:graphicFrameChg>
        <pc:graphicFrameChg chg="del">
          <ac:chgData name="Minxi Lin" userId="VeYwny5S/uBwBcyo+qYcltM3CwZL/iIhSlytkjegrPI=" providerId="None" clId="Web-{280D89F3-6ED5-4A26-8D75-2F70226EC9D8}" dt="2026-09-17T03:08:16.714" v="1059"/>
          <ac:graphicFrameMkLst>
            <pc:docMk/>
            <pc:sldMk cId="3881741706" sldId="274"/>
            <ac:graphicFrameMk id="5" creationId="{27DACC1B-8196-E3E5-6434-93B9B4AE8A32}"/>
          </ac:graphicFrameMkLst>
        </pc:graphicFrameChg>
      </pc:sldChg>
    </pc:docChg>
  </pc:docChgLst>
  <pc:docChgLst>
    <pc:chgData name="Yung Hsueh Lee" userId="zgKfxOzUbIKstLaft5gKBt/04kHzAodw8NiE245Gths=" providerId="None" clId="Web-{53648406-8698-4285-BD60-7DD5CA5008C0}"/>
    <pc:docChg chg="modSld">
      <pc:chgData name="Yung Hsueh Lee" userId="zgKfxOzUbIKstLaft5gKBt/04kHzAodw8NiE245Gths=" providerId="None" clId="Web-{53648406-8698-4285-BD60-7DD5CA5008C0}" dt="2026-09-16T18:47:55.458" v="12" actId="20577"/>
      <pc:docMkLst>
        <pc:docMk/>
      </pc:docMkLst>
      <pc:sldChg chg="modSp">
        <pc:chgData name="Yung Hsueh Lee" userId="zgKfxOzUbIKstLaft5gKBt/04kHzAodw8NiE245Gths=" providerId="None" clId="Web-{53648406-8698-4285-BD60-7DD5CA5008C0}" dt="2026-09-16T18:47:55.458" v="12" actId="20577"/>
        <pc:sldMkLst>
          <pc:docMk/>
          <pc:sldMk cId="558924362" sldId="267"/>
        </pc:sldMkLst>
        <pc:spChg chg="mod">
          <ac:chgData name="Yung Hsueh Lee" userId="zgKfxOzUbIKstLaft5gKBt/04kHzAodw8NiE245Gths=" providerId="None" clId="Web-{53648406-8698-4285-BD60-7DD5CA5008C0}" dt="2026-09-16T18:47:55.458" v="12" actId="20577"/>
          <ac:spMkLst>
            <pc:docMk/>
            <pc:sldMk cId="558924362" sldId="267"/>
            <ac:spMk id="5" creationId="{65DAFF0F-C062-D464-4EB5-B857FEEBB0E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f8d79f6689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" name="Google Shape;35;g3f8d79f6689_0_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g3f8d79f6689_0_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f8d79f6689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Google Shape;55;g3f8d79f6689_0_1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g3f8d79f6689_0_1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8d79f6689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" name="Google Shape;88;g3f8d79f6689_0_6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g3f8d79f6689_0_6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8d79f6689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g3f8d79f6689_0_2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3f8d79f6689_0_2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8" name="Google Shape;14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8d79f6689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g3f8d79f6689_0_8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f8d79f6689_0_8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8d79f6689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g3f8d79f6689_0_4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f8d79f6689_0_4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608DE141-7CA0-ADCB-164D-C58C1C86C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8d79f6689_0_40:notes">
            <a:extLst>
              <a:ext uri="{FF2B5EF4-FFF2-40B4-BE49-F238E27FC236}">
                <a16:creationId xmlns:a16="http://schemas.microsoft.com/office/drawing/2014/main" id="{E954BE34-F56F-9354-D039-59D84B2B8A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g3f8d79f6689_0_40:notes">
            <a:extLst>
              <a:ext uri="{FF2B5EF4-FFF2-40B4-BE49-F238E27FC236}">
                <a16:creationId xmlns:a16="http://schemas.microsoft.com/office/drawing/2014/main" id="{C78086B9-771E-BDBF-1648-042D897113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f8d79f6689_0_40:notes">
            <a:extLst>
              <a:ext uri="{FF2B5EF4-FFF2-40B4-BE49-F238E27FC236}">
                <a16:creationId xmlns:a16="http://schemas.microsoft.com/office/drawing/2014/main" id="{BCEDD3B6-F702-76F1-0ECC-ECC9EAC8D1C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512037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A904E53A-CB71-FEE0-B177-25A1F4807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8d79f6689_0_40:notes">
            <a:extLst>
              <a:ext uri="{FF2B5EF4-FFF2-40B4-BE49-F238E27FC236}">
                <a16:creationId xmlns:a16="http://schemas.microsoft.com/office/drawing/2014/main" id="{E01905BB-9381-74C1-27B0-B3F10A50FF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g3f8d79f6689_0_40:notes">
            <a:extLst>
              <a:ext uri="{FF2B5EF4-FFF2-40B4-BE49-F238E27FC236}">
                <a16:creationId xmlns:a16="http://schemas.microsoft.com/office/drawing/2014/main" id="{872467BA-36B5-21A6-6FB4-A2819C6BAE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f8d79f6689_0_40:notes">
            <a:extLst>
              <a:ext uri="{FF2B5EF4-FFF2-40B4-BE49-F238E27FC236}">
                <a16:creationId xmlns:a16="http://schemas.microsoft.com/office/drawing/2014/main" id="{F96283DB-89B1-CE60-8C81-39CC3C522A8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68713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91940195-C9F8-2632-C981-084CCCEDA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8d79f6689_0_40:notes">
            <a:extLst>
              <a:ext uri="{FF2B5EF4-FFF2-40B4-BE49-F238E27FC236}">
                <a16:creationId xmlns:a16="http://schemas.microsoft.com/office/drawing/2014/main" id="{D7F6F119-9245-263E-2EBC-2EAFBB3CAC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g3f8d79f6689_0_40:notes">
            <a:extLst>
              <a:ext uri="{FF2B5EF4-FFF2-40B4-BE49-F238E27FC236}">
                <a16:creationId xmlns:a16="http://schemas.microsoft.com/office/drawing/2014/main" id="{785A2887-B853-2286-EC40-6F0956E371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f8d79f6689_0_40:notes">
            <a:extLst>
              <a:ext uri="{FF2B5EF4-FFF2-40B4-BE49-F238E27FC236}">
                <a16:creationId xmlns:a16="http://schemas.microsoft.com/office/drawing/2014/main" id="{B15B2B01-489B-03CE-4092-4ABB18728D6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117906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287B220B-DCA4-CFD3-049A-08D679BA0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8d79f6689_0_40:notes">
            <a:extLst>
              <a:ext uri="{FF2B5EF4-FFF2-40B4-BE49-F238E27FC236}">
                <a16:creationId xmlns:a16="http://schemas.microsoft.com/office/drawing/2014/main" id="{BE40C5BB-FBEA-5F2F-F4C1-0923AF1DB3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g3f8d79f6689_0_40:notes">
            <a:extLst>
              <a:ext uri="{FF2B5EF4-FFF2-40B4-BE49-F238E27FC236}">
                <a16:creationId xmlns:a16="http://schemas.microsoft.com/office/drawing/2014/main" id="{A1DEFE51-D21F-30F2-3600-67D096B9A3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f8d79f6689_0_40:notes">
            <a:extLst>
              <a:ext uri="{FF2B5EF4-FFF2-40B4-BE49-F238E27FC236}">
                <a16:creationId xmlns:a16="http://schemas.microsoft.com/office/drawing/2014/main" id="{D898AF7F-CEB2-05E4-D9F0-857EAF412B6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704681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493723DF-86FE-09E7-41E1-855DE6B6D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8d79f6689_0_40:notes">
            <a:extLst>
              <a:ext uri="{FF2B5EF4-FFF2-40B4-BE49-F238E27FC236}">
                <a16:creationId xmlns:a16="http://schemas.microsoft.com/office/drawing/2014/main" id="{30407090-1AC2-DA43-109B-1E99043E95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g3f8d79f6689_0_40:notes">
            <a:extLst>
              <a:ext uri="{FF2B5EF4-FFF2-40B4-BE49-F238E27FC236}">
                <a16:creationId xmlns:a16="http://schemas.microsoft.com/office/drawing/2014/main" id="{AA985880-2A6C-44C9-4966-5F83815A4A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f8d79f6689_0_40:notes">
            <a:extLst>
              <a:ext uri="{FF2B5EF4-FFF2-40B4-BE49-F238E27FC236}">
                <a16:creationId xmlns:a16="http://schemas.microsoft.com/office/drawing/2014/main" id="{8E615957-8CB0-636A-01E5-A4F1D4E920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49929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0DB052D6-EEFA-13D2-3FA5-85FD2ADAC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8d79f6689_0_40:notes">
            <a:extLst>
              <a:ext uri="{FF2B5EF4-FFF2-40B4-BE49-F238E27FC236}">
                <a16:creationId xmlns:a16="http://schemas.microsoft.com/office/drawing/2014/main" id="{F2367BAE-D54E-429F-BCAD-BC9F9C39DE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g3f8d79f6689_0_40:notes">
            <a:extLst>
              <a:ext uri="{FF2B5EF4-FFF2-40B4-BE49-F238E27FC236}">
                <a16:creationId xmlns:a16="http://schemas.microsoft.com/office/drawing/2014/main" id="{A2AB9E19-BC8C-9289-577C-2BA242E964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f8d79f6689_0_40:notes">
            <a:extLst>
              <a:ext uri="{FF2B5EF4-FFF2-40B4-BE49-F238E27FC236}">
                <a16:creationId xmlns:a16="http://schemas.microsoft.com/office/drawing/2014/main" id="{A2AC670E-F208-4E9F-DEC9-A95D1E052DA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697063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8077E165-BFF4-2F50-2BCE-8ABFF1B46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8d79f6689_0_40:notes">
            <a:extLst>
              <a:ext uri="{FF2B5EF4-FFF2-40B4-BE49-F238E27FC236}">
                <a16:creationId xmlns:a16="http://schemas.microsoft.com/office/drawing/2014/main" id="{5E5D0F31-5BF9-945A-B495-849B92AC65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g3f8d79f6689_0_40:notes">
            <a:extLst>
              <a:ext uri="{FF2B5EF4-FFF2-40B4-BE49-F238E27FC236}">
                <a16:creationId xmlns:a16="http://schemas.microsoft.com/office/drawing/2014/main" id="{66BF9ECA-3ECF-C343-CB23-5C181D2EC6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f8d79f6689_0_40:notes">
            <a:extLst>
              <a:ext uri="{FF2B5EF4-FFF2-40B4-BE49-F238E27FC236}">
                <a16:creationId xmlns:a16="http://schemas.microsoft.com/office/drawing/2014/main" id="{EFE0B586-D75C-2D61-3635-3CA0AD72CB3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618598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655A526D-3CA0-B722-1C1B-1219C243F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f8d79f6689_0_18:notes">
            <a:extLst>
              <a:ext uri="{FF2B5EF4-FFF2-40B4-BE49-F238E27FC236}">
                <a16:creationId xmlns:a16="http://schemas.microsoft.com/office/drawing/2014/main" id="{1F0D80B2-CE2A-5E5C-CF47-2B7F34FAA7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Google Shape;55;g3f8d79f6689_0_18:notes">
            <a:extLst>
              <a:ext uri="{FF2B5EF4-FFF2-40B4-BE49-F238E27FC236}">
                <a16:creationId xmlns:a16="http://schemas.microsoft.com/office/drawing/2014/main" id="{92ABD8B8-4BF1-668B-7682-6B76CE1C96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g3f8d79f6689_0_18:notes">
            <a:extLst>
              <a:ext uri="{FF2B5EF4-FFF2-40B4-BE49-F238E27FC236}">
                <a16:creationId xmlns:a16="http://schemas.microsoft.com/office/drawing/2014/main" id="{63544C8B-F1CB-3696-7032-DC3B7B6E6DC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835187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DBBC3887-EADE-8A42-BEE1-36EE7613E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f8d79f6689_0_18:notes">
            <a:extLst>
              <a:ext uri="{FF2B5EF4-FFF2-40B4-BE49-F238E27FC236}">
                <a16:creationId xmlns:a16="http://schemas.microsoft.com/office/drawing/2014/main" id="{31BA6D24-2BE3-AA9B-03E0-53EE89D9F4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Google Shape;55;g3f8d79f6689_0_18:notes">
            <a:extLst>
              <a:ext uri="{FF2B5EF4-FFF2-40B4-BE49-F238E27FC236}">
                <a16:creationId xmlns:a16="http://schemas.microsoft.com/office/drawing/2014/main" id="{0AAF4C71-9EF4-0FF9-39C0-A015F8F9DB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g3f8d79f6689_0_18:notes">
            <a:extLst>
              <a:ext uri="{FF2B5EF4-FFF2-40B4-BE49-F238E27FC236}">
                <a16:creationId xmlns:a16="http://schemas.microsoft.com/office/drawing/2014/main" id="{DC4131F8-0916-659F-5EF7-F836AF52D40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910892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FD1D5DB7-D2BA-B9A5-E706-85819ADAD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f8d79f6689_0_18:notes">
            <a:extLst>
              <a:ext uri="{FF2B5EF4-FFF2-40B4-BE49-F238E27FC236}">
                <a16:creationId xmlns:a16="http://schemas.microsoft.com/office/drawing/2014/main" id="{207F0B2A-9873-7F5A-700C-05A78F9FD8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Google Shape;55;g3f8d79f6689_0_18:notes">
            <a:extLst>
              <a:ext uri="{FF2B5EF4-FFF2-40B4-BE49-F238E27FC236}">
                <a16:creationId xmlns:a16="http://schemas.microsoft.com/office/drawing/2014/main" id="{D73410B3-E558-3010-5D10-FA17811956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g3f8d79f6689_0_18:notes">
            <a:extLst>
              <a:ext uri="{FF2B5EF4-FFF2-40B4-BE49-F238E27FC236}">
                <a16:creationId xmlns:a16="http://schemas.microsoft.com/office/drawing/2014/main" id="{5C4D1A56-5E9D-8BB1-887A-34035FE06AC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79622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1" descr="assets/seal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5800" y="692201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Google Shape;13;p1"/>
          <p:cNvCxnSpPr/>
          <p:nvPr/>
        </p:nvCxnSpPr>
        <p:spPr>
          <a:xfrm>
            <a:off x="993953" y="695858"/>
            <a:ext cx="0" cy="252374"/>
          </a:xfrm>
          <a:prstGeom prst="straightConnector1">
            <a:avLst/>
          </a:prstGeom>
          <a:noFill/>
          <a:ln w="9525" cap="flat" cmpd="sng">
            <a:solidFill>
              <a:srgbClr val="7C808B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4" name="Google Shape;14;p1" descr="assets/mlogo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2533" y="692201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 txBox="1"/>
          <p:nvPr/>
        </p:nvSpPr>
        <p:spPr>
          <a:xfrm>
            <a:off x="1356970" y="666598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lang="en-US" sz="9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sz="9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1356970" y="834847"/>
            <a:ext cx="23774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lang="en-US" sz="6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sz="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685800" y="1810500"/>
            <a:ext cx="110766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43E"/>
              </a:buClr>
              <a:buSzPts val="7000"/>
              <a:buFont typeface="Saira"/>
              <a:buNone/>
            </a:pPr>
            <a:r>
              <a:rPr lang="en-US" sz="7000" b="1" i="0" u="none" strike="noStrike" cap="non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Marathon Project Meeting</a:t>
            </a:r>
            <a:endParaRPr sz="7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685800" y="4102000"/>
            <a:ext cx="10972800" cy="1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4487B8"/>
              </a:buClr>
              <a:buSzPts val="3470"/>
              <a:buFont typeface="DM Sans"/>
              <a:buNone/>
            </a:pPr>
            <a:r>
              <a:rPr lang="en-US" sz="3470" b="1" i="0" u="none" strike="noStrike" cap="none">
                <a:solidFill>
                  <a:srgbClr val="4487B8"/>
                </a:solidFill>
                <a:latin typeface="DM Sans"/>
                <a:ea typeface="DM Sans"/>
                <a:cs typeface="DM Sans"/>
                <a:sym typeface="DM Sans"/>
              </a:rPr>
              <a:t>Index Construction Using YTM</a:t>
            </a:r>
            <a:endParaRPr sz="34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685800" y="5486400"/>
            <a:ext cx="68580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1330"/>
              <a:buFont typeface="DM Sans"/>
              <a:buNone/>
            </a:pPr>
            <a:r>
              <a:rPr lang="en-US" sz="133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SPONSOR: Jason Foster</a:t>
            </a:r>
            <a:endParaRPr sz="133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1330"/>
              <a:buFont typeface="DM Sans"/>
              <a:buNone/>
            </a:pPr>
            <a:r>
              <a:rPr lang="en-US" sz="133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ADVISOR: Sasha Stoikov</a:t>
            </a:r>
            <a:endParaRPr sz="133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1330"/>
              <a:buFont typeface="DM Sans"/>
              <a:buNone/>
            </a:pPr>
            <a:r>
              <a:rPr lang="en-US" sz="133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TEAM: Alex Lee, Max Yap, Minxi Lin, Yung Lee, Olivia Mei</a:t>
            </a:r>
            <a:endParaRPr sz="133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1330"/>
              <a:buFont typeface="DM Sans"/>
              <a:buNone/>
            </a:pPr>
            <a:r>
              <a:rPr lang="en-US" sz="133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DATE: September 17, 2026</a:t>
            </a:r>
            <a:endParaRPr sz="133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9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5" descr="assets/sea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" name="Google Shape;26;p5"/>
          <p:cNvCxnSpPr/>
          <p:nvPr/>
        </p:nvCxnSpPr>
        <p:spPr>
          <a:xfrm>
            <a:off x="9062618" y="437083"/>
            <a:ext cx="0" cy="252374"/>
          </a:xfrm>
          <a:prstGeom prst="straightConnector1">
            <a:avLst/>
          </a:prstGeom>
          <a:noFill/>
          <a:ln w="9525" cap="flat" cmpd="sng">
            <a:solidFill>
              <a:srgbClr val="7C808B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7" name="Google Shape;27;p5" descr="assets/m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/>
          <p:nvPr/>
        </p:nvSpPr>
        <p:spPr>
          <a:xfrm>
            <a:off x="9425635" y="407822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lang="en-US" sz="9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sz="9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5"/>
          <p:cNvSpPr txBox="1"/>
          <p:nvPr/>
        </p:nvSpPr>
        <p:spPr>
          <a:xfrm>
            <a:off x="9425635" y="576072"/>
            <a:ext cx="237744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lang="en-US" sz="6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sz="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5"/>
          <p:cNvSpPr txBox="1"/>
          <p:nvPr/>
        </p:nvSpPr>
        <p:spPr>
          <a:xfrm>
            <a:off x="685800" y="658375"/>
            <a:ext cx="9063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200" b="1" i="0" u="none" strike="noStrike" cap="non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FV/PAR/Maturity Availability by Row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" name="Google Shape;31;p5"/>
          <p:cNvGraphicFramePr/>
          <p:nvPr/>
        </p:nvGraphicFramePr>
        <p:xfrm>
          <a:off x="885825" y="1607750"/>
          <a:ext cx="10420350" cy="4029075"/>
        </p:xfrm>
        <a:graphic>
          <a:graphicData uri="http://schemas.openxmlformats.org/drawingml/2006/table">
            <a:tbl>
              <a:tblPr>
                <a:noFill/>
                <a:tableStyleId>{04F8C4C1-8297-42D1-9A54-EEA6ACFCCACD}</a:tableStyleId>
              </a:tblPr>
              <a:tblGrid>
                <a:gridCol w="2343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3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2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FV</a:t>
                      </a:r>
                      <a:endParaRPr sz="1500" b="1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</a:t>
                      </a:r>
                      <a:endParaRPr sz="1500" b="1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Maturity</a:t>
                      </a:r>
                      <a:endParaRPr sz="1500" b="1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Rows</a:t>
                      </a:r>
                      <a:endParaRPr sz="1500" b="1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of Total</a:t>
                      </a:r>
                      <a:endParaRPr sz="1500" b="1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Available</a:t>
                      </a:r>
                      <a:endParaRPr sz="1300" u="none" strike="noStrike" cap="none">
                        <a:solidFill>
                          <a:srgbClr val="20202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Available</a:t>
                      </a:r>
                      <a:endParaRPr sz="1300" u="none" strike="noStrike" cap="none">
                        <a:solidFill>
                          <a:srgbClr val="20202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Available</a:t>
                      </a:r>
                      <a:endParaRPr sz="1300" u="none" strike="noStrike" cap="none">
                        <a:solidFill>
                          <a:srgbClr val="20202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172,394</a:t>
                      </a:r>
                      <a:endParaRPr sz="1300" u="none" strike="noStrike" cap="none">
                        <a:solidFill>
                          <a:srgbClr val="20202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35.0%</a:t>
                      </a:r>
                      <a:endParaRPr sz="1300" u="none" strike="noStrike" cap="none">
                        <a:solidFill>
                          <a:srgbClr val="20202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Available</a:t>
                      </a:r>
                      <a:endParaRPr sz="1300" u="none" strike="noStrike" cap="none">
                        <a:solidFill>
                          <a:srgbClr val="20202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Available</a:t>
                      </a:r>
                      <a:endParaRPr sz="1300" u="none" strike="noStrike" cap="none">
                        <a:solidFill>
                          <a:srgbClr val="20202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Missing</a:t>
                      </a:r>
                      <a:endParaRPr sz="1300" u="none" strike="noStrike" cap="none">
                        <a:solidFill>
                          <a:srgbClr val="20202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293,176</a:t>
                      </a:r>
                      <a:endParaRPr sz="1300" u="none" strike="noStrike" cap="none">
                        <a:solidFill>
                          <a:srgbClr val="20202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59.4%</a:t>
                      </a:r>
                      <a:endParaRPr sz="1300" u="none" strike="noStrike" cap="none">
                        <a:solidFill>
                          <a:srgbClr val="20202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Available</a:t>
                      </a:r>
                      <a:endParaRPr sz="1300" u="none" strike="noStrike" cap="none">
                        <a:solidFill>
                          <a:srgbClr val="20202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Missing</a:t>
                      </a:r>
                      <a:endParaRPr sz="1300" u="none" strike="noStrike" cap="none">
                        <a:solidFill>
                          <a:srgbClr val="20202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Available</a:t>
                      </a:r>
                      <a:endParaRPr sz="1300" u="none" strike="noStrike" cap="none">
                        <a:solidFill>
                          <a:srgbClr val="20202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8,053</a:t>
                      </a:r>
                      <a:endParaRPr sz="1300" u="none" strike="noStrike" cap="none">
                        <a:solidFill>
                          <a:srgbClr val="20202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1.6%</a:t>
                      </a:r>
                      <a:endParaRPr sz="1300" u="none" strike="noStrike" cap="none">
                        <a:solidFill>
                          <a:srgbClr val="20202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Available</a:t>
                      </a:r>
                      <a:endParaRPr sz="1300" u="none" strike="noStrike" cap="none">
                        <a:solidFill>
                          <a:srgbClr val="20202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Missing</a:t>
                      </a:r>
                      <a:endParaRPr sz="1300" u="none" strike="noStrike" cap="none">
                        <a:solidFill>
                          <a:srgbClr val="20202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Missing</a:t>
                      </a:r>
                      <a:endParaRPr sz="1300" u="none" strike="noStrike" cap="none">
                        <a:solidFill>
                          <a:srgbClr val="20202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5,011</a:t>
                      </a:r>
                      <a:endParaRPr sz="1300" u="none" strike="noStrike" cap="none">
                        <a:solidFill>
                          <a:srgbClr val="20202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1.0%</a:t>
                      </a:r>
                      <a:endParaRPr sz="1300" u="none" strike="noStrike" cap="none">
                        <a:solidFill>
                          <a:srgbClr val="20202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Missing</a:t>
                      </a:r>
                      <a:endParaRPr sz="1300" u="none" strike="noStrike" cap="none">
                        <a:solidFill>
                          <a:srgbClr val="20202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Available</a:t>
                      </a:r>
                      <a:endParaRPr sz="1300" u="none" strike="noStrike" cap="none">
                        <a:solidFill>
                          <a:srgbClr val="20202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Available</a:t>
                      </a:r>
                      <a:endParaRPr sz="1300" u="none" strike="noStrike" cap="none">
                        <a:solidFill>
                          <a:srgbClr val="20202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3,182</a:t>
                      </a:r>
                      <a:endParaRPr sz="1300" u="none" strike="noStrike" cap="none">
                        <a:solidFill>
                          <a:srgbClr val="20202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0.6%</a:t>
                      </a:r>
                      <a:endParaRPr sz="1300" u="none" strike="noStrike" cap="none">
                        <a:solidFill>
                          <a:srgbClr val="20202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Missing</a:t>
                      </a:r>
                      <a:endParaRPr sz="1300" u="none" strike="noStrike" cap="none">
                        <a:solidFill>
                          <a:srgbClr val="20202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Available</a:t>
                      </a:r>
                      <a:endParaRPr sz="1300" u="none" strike="noStrike" cap="none">
                        <a:solidFill>
                          <a:srgbClr val="20202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Missing</a:t>
                      </a:r>
                      <a:endParaRPr sz="1300" u="none" strike="noStrike" cap="none">
                        <a:solidFill>
                          <a:srgbClr val="20202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300" u="none" strike="noStrike" cap="none">
                        <a:solidFill>
                          <a:srgbClr val="20202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0.0%</a:t>
                      </a:r>
                      <a:endParaRPr sz="1300" u="none" strike="noStrike" cap="none">
                        <a:solidFill>
                          <a:srgbClr val="20202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Missing</a:t>
                      </a:r>
                      <a:endParaRPr sz="1300" u="none" strike="noStrike" cap="none">
                        <a:solidFill>
                          <a:srgbClr val="20202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Missing</a:t>
                      </a:r>
                      <a:endParaRPr sz="1300" u="none" strike="noStrike" cap="none">
                        <a:solidFill>
                          <a:srgbClr val="20202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Available</a:t>
                      </a:r>
                      <a:endParaRPr sz="1300" u="none" strike="noStrike" cap="none">
                        <a:solidFill>
                          <a:srgbClr val="20202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5,252</a:t>
                      </a:r>
                      <a:endParaRPr sz="1300" u="none" strike="noStrike" cap="none">
                        <a:solidFill>
                          <a:srgbClr val="20202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1.1%</a:t>
                      </a:r>
                      <a:endParaRPr sz="1300" u="none" strike="noStrike" cap="none">
                        <a:solidFill>
                          <a:srgbClr val="20202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Missing</a:t>
                      </a:r>
                      <a:endParaRPr sz="1300" u="none" strike="noStrike" cap="none">
                        <a:solidFill>
                          <a:srgbClr val="20202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Missing</a:t>
                      </a:r>
                      <a:endParaRPr sz="1300" u="none" strike="noStrike" cap="none">
                        <a:solidFill>
                          <a:srgbClr val="20202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Missing</a:t>
                      </a:r>
                      <a:endParaRPr sz="1300" u="none" strike="noStrike" cap="none">
                        <a:solidFill>
                          <a:srgbClr val="20202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6,014</a:t>
                      </a:r>
                      <a:endParaRPr sz="1300" u="none" strike="noStrike" cap="none">
                        <a:solidFill>
                          <a:srgbClr val="20202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1.2%</a:t>
                      </a:r>
                      <a:endParaRPr sz="1300" u="none" strike="noStrike" cap="none">
                        <a:solidFill>
                          <a:srgbClr val="20202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2" name="Google Shape;32;p5"/>
          <p:cNvSpPr txBox="1"/>
          <p:nvPr/>
        </p:nvSpPr>
        <p:spPr>
          <a:xfrm>
            <a:off x="907100" y="5761525"/>
            <a:ext cx="10306800" cy="4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None of TotalInterestRate (Coupon Rate), PIC, and PIK are missing after applying imputation and dropping all-missing rows (in the data cleaning stage).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9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g3f8d79f6689_0_4" descr="assets/sea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" name="Google Shape;39;g3f8d79f6689_0_4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w="9525" cap="flat" cmpd="sng">
            <a:solidFill>
              <a:srgbClr val="7C808B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0" name="Google Shape;40;g3f8d79f6689_0_4" descr="assets/m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g3f8d79f6689_0_4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lang="en-US" sz="9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sz="9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g3f8d79f6689_0_4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lang="en-US" sz="6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sz="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g3f8d79f6689_0_4"/>
          <p:cNvSpPr txBox="1"/>
          <p:nvPr/>
        </p:nvSpPr>
        <p:spPr>
          <a:xfrm>
            <a:off x="685800" y="658375"/>
            <a:ext cx="9063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Maturity Imputation Pipeline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g3f8d79f6689_0_4"/>
          <p:cNvSpPr txBox="1"/>
          <p:nvPr/>
        </p:nvSpPr>
        <p:spPr>
          <a:xfrm>
            <a:off x="685800" y="1305800"/>
            <a:ext cx="11117400" cy="5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Rule: Accept a candidate date d only if 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TTM(d) = (d - period) / 365.25 ∈ [0.1, 7.0] years 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(rules out already-matured or implausibly long-dated positions)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g3f8d79f6689_0_4"/>
          <p:cNvSpPr/>
          <p:nvPr/>
        </p:nvSpPr>
        <p:spPr>
          <a:xfrm>
            <a:off x="757575" y="1883968"/>
            <a:ext cx="11045700" cy="140550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For rows with non-null InvestmentMaturityDate, compute TTM(d).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it is within the range, accept; else, try the next imputation step.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g3f8d79f6689_0_4"/>
          <p:cNvSpPr/>
          <p:nvPr/>
        </p:nvSpPr>
        <p:spPr>
          <a:xfrm>
            <a:off x="9300175" y="2021988"/>
            <a:ext cx="2172900" cy="5682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186,606 rows (37.8%)</a:t>
            </a:r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g3f8d79f6689_0_4"/>
          <p:cNvSpPr/>
          <p:nvPr/>
        </p:nvSpPr>
        <p:spPr>
          <a:xfrm>
            <a:off x="757575" y="3438972"/>
            <a:ext cx="11045700" cy="1405500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For the remaining rows, try parsing from investment_identifier text.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regex match, such as “Due 10/19/2027”, “Maturity Date 03/22/39”, “due 8/2030”, etc.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successful, test if TTM(d) is within the range; otherwise, move onto the next step.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g3f8d79f6689_0_4"/>
          <p:cNvSpPr/>
          <p:nvPr/>
        </p:nvSpPr>
        <p:spPr>
          <a:xfrm>
            <a:off x="9300175" y="3599997"/>
            <a:ext cx="2172900" cy="568200"/>
          </a:xfrm>
          <a:prstGeom prst="roundRect">
            <a:avLst>
              <a:gd name="adj" fmla="val 16667"/>
            </a:avLst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5,058 rows (1.0%)</a:t>
            </a:r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g3f8d79f6689_0_4"/>
          <p:cNvSpPr/>
          <p:nvPr/>
        </p:nvSpPr>
        <p:spPr>
          <a:xfrm>
            <a:off x="757575" y="4993998"/>
            <a:ext cx="11045700" cy="1405500"/>
          </a:xfrm>
          <a:prstGeom prst="roundRect">
            <a:avLst>
              <a:gd name="adj" fmla="val 16667"/>
            </a:avLst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If the above two approaches do not work, use Cliffwater research paper’s default assumption*.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maturity_date_imputed = period + 3 years (default_years = 3 years)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g3f8d79f6689_0_4"/>
          <p:cNvSpPr/>
          <p:nvPr/>
        </p:nvSpPr>
        <p:spPr>
          <a:xfrm>
            <a:off x="9300175" y="5155023"/>
            <a:ext cx="2172900" cy="568200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301,518 (61.1%)</a:t>
            </a:r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g3f8d79f6689_0_4"/>
          <p:cNvSpPr txBox="1"/>
          <p:nvPr/>
        </p:nvSpPr>
        <p:spPr>
          <a:xfrm>
            <a:off x="368825" y="6588875"/>
            <a:ext cx="52431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g3f8d79f6689_0_4"/>
          <p:cNvSpPr txBox="1"/>
          <p:nvPr/>
        </p:nvSpPr>
        <p:spPr>
          <a:xfrm>
            <a:off x="398725" y="6539025"/>
            <a:ext cx="114633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en-US" sz="1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Do We Mean by Yield? (A discussion of components and calculations underlying direct lending yield)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Cliffwater LLC, August 3, 2016.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9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g3f8d79f6689_0_18" descr="assets/sea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" name="Google Shape;59;g3f8d79f6689_0_18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w="9525" cap="flat" cmpd="sng">
            <a:solidFill>
              <a:srgbClr val="7C808B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60" name="Google Shape;60;g3f8d79f6689_0_18" descr="assets/m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3f8d79f6689_0_18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lang="en-US" sz="9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sz="9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f8d79f6689_0_18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lang="en-US" sz="6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sz="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3f8d79f6689_0_18"/>
          <p:cNvSpPr txBox="1"/>
          <p:nvPr/>
        </p:nvSpPr>
        <p:spPr>
          <a:xfrm>
            <a:off x="685800" y="658375"/>
            <a:ext cx="9063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Flow-Based</a:t>
            </a:r>
            <a:r>
              <a:rPr lang="en-US" sz="4000" b="1" i="0" u="none" strike="noStrike" cap="non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 Index Construction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g3f8d79f6689_0_18"/>
          <p:cNvSpPr txBox="1"/>
          <p:nvPr/>
        </p:nvSpPr>
        <p:spPr>
          <a:xfrm>
            <a:off x="1421400" y="1650000"/>
            <a:ext cx="3000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Quarterly Return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g3f8d79f6689_0_18"/>
          <p:cNvSpPr/>
          <p:nvPr/>
        </p:nvSpPr>
        <p:spPr>
          <a:xfrm>
            <a:off x="3390618" y="2108812"/>
            <a:ext cx="5061600" cy="1022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g3f8d79f6689_0_18"/>
          <p:cNvSpPr txBox="1"/>
          <p:nvPr/>
        </p:nvSpPr>
        <p:spPr>
          <a:xfrm>
            <a:off x="3540618" y="2448550"/>
            <a:ext cx="24465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r</a:t>
            </a:r>
            <a:r>
              <a:rPr lang="en-US" sz="1440" b="0" i="1" u="none" strike="noStrike" cap="none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3f8d79f6689_0_18"/>
          <p:cNvSpPr txBox="1"/>
          <p:nvPr/>
        </p:nvSpPr>
        <p:spPr>
          <a:xfrm>
            <a:off x="3830270" y="2448550"/>
            <a:ext cx="63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  =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g3f8d79f6689_0_18"/>
          <p:cNvSpPr txBox="1"/>
          <p:nvPr/>
        </p:nvSpPr>
        <p:spPr>
          <a:xfrm>
            <a:off x="4510320" y="2250650"/>
            <a:ext cx="3792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ΔFV</a:t>
            </a:r>
            <a:r>
              <a:rPr lang="en-US" sz="1440" b="0" i="1" u="none" strike="noStrike" cap="none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t</a:t>
            </a:r>
            <a:r>
              <a:rPr lang="en-US" sz="20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  −  </a:t>
            </a:r>
            <a:r>
              <a:rPr lang="en-US" sz="200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ΔCOST</a:t>
            </a:r>
            <a:r>
              <a:rPr lang="en-US" sz="1440" b="0" i="1" u="none" strike="noStrike" cap="none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t</a:t>
            </a:r>
            <a:r>
              <a:rPr lang="en-US" sz="20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  +  </a:t>
            </a:r>
            <a:r>
              <a:rPr lang="en-US" sz="200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C</a:t>
            </a:r>
            <a:r>
              <a:rPr lang="en-US" sz="1440" b="0" i="1" u="none" strike="noStrike" cap="none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t</a:t>
            </a:r>
            <a:r>
              <a:rPr lang="en-US" sz="20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  +  </a:t>
            </a:r>
            <a:r>
              <a:rPr lang="en-US" sz="200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lang="en-US" sz="1440" b="0" i="1" u="none" strike="noStrike" cap="none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" name="Google Shape;69;g3f8d79f6689_0_18"/>
          <p:cNvCxnSpPr/>
          <p:nvPr/>
        </p:nvCxnSpPr>
        <p:spPr>
          <a:xfrm>
            <a:off x="4510270" y="2620000"/>
            <a:ext cx="3792000" cy="0"/>
          </a:xfrm>
          <a:prstGeom prst="straightConnector1">
            <a:avLst/>
          </a:prstGeom>
          <a:noFill/>
          <a:ln w="12700" cap="flat" cmpd="sng">
            <a:solidFill>
              <a:srgbClr val="4A4A4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0" name="Google Shape;70;g3f8d79f6689_0_18"/>
          <p:cNvSpPr txBox="1"/>
          <p:nvPr/>
        </p:nvSpPr>
        <p:spPr>
          <a:xfrm>
            <a:off x="4510270" y="2638288"/>
            <a:ext cx="379191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FV</a:t>
            </a:r>
            <a:r>
              <a:rPr lang="en-US" sz="1440" b="0" i="1" u="none" strike="noStrike" cap="none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t−1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f8d79f6689_0_18"/>
          <p:cNvSpPr txBox="1"/>
          <p:nvPr/>
        </p:nvSpPr>
        <p:spPr>
          <a:xfrm>
            <a:off x="1421400" y="3331188"/>
            <a:ext cx="1500000" cy="3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where: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g3f8d79f6689_0_18"/>
          <p:cNvSpPr/>
          <p:nvPr/>
        </p:nvSpPr>
        <p:spPr>
          <a:xfrm>
            <a:off x="4258890" y="3500000"/>
            <a:ext cx="3325020" cy="10223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g3f8d79f6689_0_18"/>
          <p:cNvSpPr txBox="1"/>
          <p:nvPr/>
        </p:nvSpPr>
        <p:spPr>
          <a:xfrm>
            <a:off x="4408890" y="3839738"/>
            <a:ext cx="24465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C</a:t>
            </a:r>
            <a:r>
              <a:rPr lang="en-US" sz="1440" b="0" i="1" u="none" strike="noStrike" cap="none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g3f8d79f6689_0_18"/>
          <p:cNvSpPr txBox="1"/>
          <p:nvPr/>
        </p:nvSpPr>
        <p:spPr>
          <a:xfrm>
            <a:off x="4698542" y="3839738"/>
            <a:ext cx="63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  =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3f8d79f6689_0_18"/>
          <p:cNvSpPr txBox="1"/>
          <p:nvPr/>
        </p:nvSpPr>
        <p:spPr>
          <a:xfrm>
            <a:off x="5378542" y="3650000"/>
            <a:ext cx="205536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PIC</a:t>
            </a:r>
            <a:r>
              <a:rPr lang="en-US" sz="1440" b="0" i="0" u="none" strike="noStrike" cap="none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Final, t-1</a:t>
            </a:r>
            <a:r>
              <a:rPr lang="en-US" sz="20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  ×  </a:t>
            </a:r>
            <a:r>
              <a:rPr lang="en-US" sz="200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PAR</a:t>
            </a:r>
            <a:r>
              <a:rPr lang="en-US" sz="1440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t-1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g3f8d79f6689_0_18"/>
          <p:cNvCxnSpPr/>
          <p:nvPr/>
        </p:nvCxnSpPr>
        <p:spPr>
          <a:xfrm>
            <a:off x="5378542" y="4011188"/>
            <a:ext cx="2055368" cy="0"/>
          </a:xfrm>
          <a:prstGeom prst="straightConnector1">
            <a:avLst/>
          </a:prstGeom>
          <a:noFill/>
          <a:ln w="12700" cap="flat" cmpd="sng">
            <a:solidFill>
              <a:srgbClr val="4A4A4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7" name="Google Shape;77;g3f8d79f6689_0_18"/>
          <p:cNvSpPr txBox="1"/>
          <p:nvPr/>
        </p:nvSpPr>
        <p:spPr>
          <a:xfrm>
            <a:off x="5378542" y="4029476"/>
            <a:ext cx="205536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g3f8d79f6689_0_18"/>
          <p:cNvSpPr txBox="1"/>
          <p:nvPr/>
        </p:nvSpPr>
        <p:spPr>
          <a:xfrm>
            <a:off x="7843910" y="3821188"/>
            <a:ext cx="3200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(cash interest income)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g3f8d79f6689_0_18"/>
          <p:cNvSpPr/>
          <p:nvPr/>
        </p:nvSpPr>
        <p:spPr>
          <a:xfrm>
            <a:off x="4258890" y="4580000"/>
            <a:ext cx="3325020" cy="10223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g3f8d79f6689_0_18"/>
          <p:cNvSpPr txBox="1"/>
          <p:nvPr/>
        </p:nvSpPr>
        <p:spPr>
          <a:xfrm>
            <a:off x="4408890" y="4919738"/>
            <a:ext cx="24465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lang="en-US" sz="1440" b="0" i="1" u="none" strike="noStrike" cap="none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g3f8d79f6689_0_18"/>
          <p:cNvSpPr txBox="1"/>
          <p:nvPr/>
        </p:nvSpPr>
        <p:spPr>
          <a:xfrm>
            <a:off x="4698542" y="4919738"/>
            <a:ext cx="63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  =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g3f8d79f6689_0_18"/>
          <p:cNvSpPr txBox="1"/>
          <p:nvPr/>
        </p:nvSpPr>
        <p:spPr>
          <a:xfrm>
            <a:off x="5378542" y="4730000"/>
            <a:ext cx="205536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PIK</a:t>
            </a:r>
            <a:r>
              <a:rPr lang="en-US" sz="1440" b="0" i="0" u="none" strike="noStrike" cap="none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Final, t-1</a:t>
            </a:r>
            <a:r>
              <a:rPr lang="en-US" sz="20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  ×  </a:t>
            </a:r>
            <a:r>
              <a:rPr lang="en-US" sz="2000" i="1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PAR</a:t>
            </a:r>
            <a:r>
              <a:rPr lang="en-US" sz="1440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t-1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g3f8d79f6689_0_18"/>
          <p:cNvCxnSpPr/>
          <p:nvPr/>
        </p:nvCxnSpPr>
        <p:spPr>
          <a:xfrm>
            <a:off x="5378542" y="5091188"/>
            <a:ext cx="2055368" cy="0"/>
          </a:xfrm>
          <a:prstGeom prst="straightConnector1">
            <a:avLst/>
          </a:prstGeom>
          <a:noFill/>
          <a:ln w="12700" cap="flat" cmpd="sng">
            <a:solidFill>
              <a:srgbClr val="4A4A4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4" name="Google Shape;84;g3f8d79f6689_0_18"/>
          <p:cNvSpPr txBox="1"/>
          <p:nvPr/>
        </p:nvSpPr>
        <p:spPr>
          <a:xfrm>
            <a:off x="5378542" y="5109476"/>
            <a:ext cx="205536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3f8d79f6689_0_18"/>
          <p:cNvSpPr txBox="1"/>
          <p:nvPr/>
        </p:nvSpPr>
        <p:spPr>
          <a:xfrm>
            <a:off x="7843910" y="4901188"/>
            <a:ext cx="3000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(PIK interest income)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9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g3f8d79f6689_0_66" descr="assets/sea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" name="Google Shape;92;g3f8d79f6689_0_66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w="9525" cap="flat" cmpd="sng">
            <a:solidFill>
              <a:srgbClr val="7C808B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93" name="Google Shape;93;g3f8d79f6689_0_66" descr="assets/m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f8d79f6689_0_66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lang="en-US" sz="9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sz="9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f8d79f6689_0_66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lang="en-US" sz="6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sz="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f8d79f6689_0_66"/>
          <p:cNvSpPr txBox="1"/>
          <p:nvPr/>
        </p:nvSpPr>
        <p:spPr>
          <a:xfrm>
            <a:off x="685800" y="658375"/>
            <a:ext cx="9063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Flow-Based</a:t>
            </a:r>
            <a:r>
              <a:rPr lang="en-US" sz="4000" b="1" i="0" u="none" strike="noStrike" cap="non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 Index Construction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3f8d79f6689_0_66"/>
          <p:cNvSpPr txBox="1"/>
          <p:nvPr/>
        </p:nvSpPr>
        <p:spPr>
          <a:xfrm>
            <a:off x="1421400" y="1650000"/>
            <a:ext cx="3000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Index Return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f8d79f6689_0_66"/>
          <p:cNvSpPr txBox="1"/>
          <p:nvPr/>
        </p:nvSpPr>
        <p:spPr>
          <a:xfrm>
            <a:off x="1421400" y="2150000"/>
            <a:ext cx="92000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The quarterly index return is the value-weighted return across investments: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f8d79f6689_0_66"/>
          <p:cNvSpPr/>
          <p:nvPr/>
        </p:nvSpPr>
        <p:spPr>
          <a:xfrm>
            <a:off x="4172433" y="2616981"/>
            <a:ext cx="3497934" cy="106603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f8d79f6689_0_66"/>
          <p:cNvSpPr txBox="1"/>
          <p:nvPr/>
        </p:nvSpPr>
        <p:spPr>
          <a:xfrm>
            <a:off x="4322433" y="2978550"/>
            <a:ext cx="1422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f8d79f6689_0_66"/>
          <p:cNvSpPr txBox="1"/>
          <p:nvPr/>
        </p:nvSpPr>
        <p:spPr>
          <a:xfrm>
            <a:off x="4478389" y="2948832"/>
            <a:ext cx="530352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r>
              <a:rPr lang="en-US" sz="144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Index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f8d79f6689_0_66"/>
          <p:cNvSpPr txBox="1"/>
          <p:nvPr/>
        </p:nvSpPr>
        <p:spPr>
          <a:xfrm>
            <a:off x="4478389" y="3159144"/>
            <a:ext cx="530352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r>
              <a:rPr lang="en-US" sz="144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f8d79f6689_0_66"/>
          <p:cNvSpPr txBox="1"/>
          <p:nvPr/>
        </p:nvSpPr>
        <p:spPr>
          <a:xfrm>
            <a:off x="5053741" y="2978550"/>
            <a:ext cx="63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  =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f8d79f6689_0_66"/>
          <p:cNvSpPr txBox="1"/>
          <p:nvPr/>
        </p:nvSpPr>
        <p:spPr>
          <a:xfrm>
            <a:off x="5733741" y="2766981"/>
            <a:ext cx="33467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r>
              <a:rPr lang="en-US" sz="144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f8d79f6689_0_66"/>
          <p:cNvSpPr txBox="1"/>
          <p:nvPr/>
        </p:nvSpPr>
        <p:spPr>
          <a:xfrm>
            <a:off x="5733741" y="2969977"/>
            <a:ext cx="334670" cy="360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Σ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3f8d79f6689_0_66"/>
          <p:cNvSpPr txBox="1"/>
          <p:nvPr/>
        </p:nvSpPr>
        <p:spPr>
          <a:xfrm>
            <a:off x="5733741" y="3340994"/>
            <a:ext cx="33467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r>
              <a:rPr lang="en-US" sz="144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i=1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3f8d79f6689_0_66"/>
          <p:cNvSpPr txBox="1"/>
          <p:nvPr/>
        </p:nvSpPr>
        <p:spPr>
          <a:xfrm>
            <a:off x="6113411" y="2978550"/>
            <a:ext cx="140695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w</a:t>
            </a:r>
            <a:r>
              <a:rPr lang="en-US" sz="1440" b="0" i="1" u="none" strike="noStrike" cap="none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i,t</a:t>
            </a:r>
            <a:r>
              <a:rPr lang="en-US" sz="20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  </a:t>
            </a:r>
            <a:r>
              <a:rPr lang="en-US" sz="200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r</a:t>
            </a:r>
            <a:r>
              <a:rPr lang="en-US" sz="1440" b="0" i="1" u="none" strike="noStrike" cap="none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i,t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3f8d79f6689_0_66"/>
          <p:cNvSpPr txBox="1"/>
          <p:nvPr/>
        </p:nvSpPr>
        <p:spPr>
          <a:xfrm>
            <a:off x="1421400" y="3913018"/>
            <a:ext cx="92000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with portfolio weights determined by beginning-of-quarter fair value: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3f8d79f6689_0_66"/>
          <p:cNvSpPr/>
          <p:nvPr/>
        </p:nvSpPr>
        <p:spPr>
          <a:xfrm>
            <a:off x="4510858" y="4451830"/>
            <a:ext cx="2821084" cy="144551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f8d79f6689_0_66"/>
          <p:cNvSpPr txBox="1"/>
          <p:nvPr/>
        </p:nvSpPr>
        <p:spPr>
          <a:xfrm>
            <a:off x="4660858" y="4791568"/>
            <a:ext cx="44947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w</a:t>
            </a:r>
            <a:r>
              <a:rPr lang="en-US" sz="1440" b="0" i="1" u="none" strike="noStrike" cap="none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i,t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f8d79f6689_0_66"/>
          <p:cNvSpPr txBox="1"/>
          <p:nvPr/>
        </p:nvSpPr>
        <p:spPr>
          <a:xfrm>
            <a:off x="5155336" y="4791568"/>
            <a:ext cx="63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  =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f8d79f6689_0_66"/>
          <p:cNvSpPr txBox="1"/>
          <p:nvPr/>
        </p:nvSpPr>
        <p:spPr>
          <a:xfrm>
            <a:off x="5835336" y="4601830"/>
            <a:ext cx="134660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FV</a:t>
            </a:r>
            <a:r>
              <a:rPr lang="en-US" sz="1440" b="0" i="1" u="none" strike="noStrike" cap="none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i,t−1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" name="Google Shape;113;g3f8d79f6689_0_66"/>
          <p:cNvCxnSpPr/>
          <p:nvPr/>
        </p:nvCxnSpPr>
        <p:spPr>
          <a:xfrm>
            <a:off x="5835336" y="4963018"/>
            <a:ext cx="1346606" cy="0"/>
          </a:xfrm>
          <a:prstGeom prst="straightConnector1">
            <a:avLst/>
          </a:prstGeom>
          <a:noFill/>
          <a:ln w="12700" cap="flat" cmpd="sng">
            <a:solidFill>
              <a:srgbClr val="4A4A4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4" name="Google Shape;114;g3f8d79f6689_0_66"/>
          <p:cNvSpPr txBox="1"/>
          <p:nvPr/>
        </p:nvSpPr>
        <p:spPr>
          <a:xfrm>
            <a:off x="5862768" y="4981306"/>
            <a:ext cx="33467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r>
              <a:rPr lang="en-US" sz="144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f8d79f6689_0_66"/>
          <p:cNvSpPr txBox="1"/>
          <p:nvPr/>
        </p:nvSpPr>
        <p:spPr>
          <a:xfrm>
            <a:off x="5862768" y="5184302"/>
            <a:ext cx="334670" cy="360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Σ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f8d79f6689_0_66"/>
          <p:cNvSpPr txBox="1"/>
          <p:nvPr/>
        </p:nvSpPr>
        <p:spPr>
          <a:xfrm>
            <a:off x="5862768" y="5555319"/>
            <a:ext cx="33467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r>
              <a:rPr lang="en-US" sz="144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j=1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f8d79f6689_0_66"/>
          <p:cNvSpPr txBox="1"/>
          <p:nvPr/>
        </p:nvSpPr>
        <p:spPr>
          <a:xfrm>
            <a:off x="6215726" y="4981306"/>
            <a:ext cx="938784" cy="766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FV</a:t>
            </a:r>
            <a:r>
              <a:rPr lang="en-US" sz="1440" b="0" i="1" u="none" strike="noStrike" cap="none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j,t−1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9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g3f8d79f6689_0_29" descr="assets/sea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" name="Google Shape;124;g3f8d79f6689_0_29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w="9525" cap="flat" cmpd="sng">
            <a:solidFill>
              <a:srgbClr val="7C808B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5" name="Google Shape;125;g3f8d79f6689_0_29" descr="assets/m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3f8d79f6689_0_29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lang="en-US" sz="9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sz="9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3f8d79f6689_0_29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lang="en-US" sz="6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sz="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3f8d79f6689_0_29"/>
          <p:cNvSpPr txBox="1"/>
          <p:nvPr/>
        </p:nvSpPr>
        <p:spPr>
          <a:xfrm>
            <a:off x="685800" y="658375"/>
            <a:ext cx="9063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YTM-Based Index Construction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f8d79f6689_0_29"/>
          <p:cNvSpPr txBox="1"/>
          <p:nvPr/>
        </p:nvSpPr>
        <p:spPr>
          <a:xfrm>
            <a:off x="1421400" y="1500000"/>
            <a:ext cx="6000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Yield-to-Maturity Calculation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f8d79f6689_0_29"/>
          <p:cNvSpPr txBox="1"/>
          <p:nvPr/>
        </p:nvSpPr>
        <p:spPr>
          <a:xfrm>
            <a:off x="1421400" y="1980000"/>
            <a:ext cx="9600000" cy="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The investment's current fair value is modeled as the present value of quarterly cash interest plus the principal repayment, including PIK accrual: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f8d79f6689_0_29"/>
          <p:cNvSpPr/>
          <p:nvPr/>
        </p:nvSpPr>
        <p:spPr>
          <a:xfrm>
            <a:off x="2694626" y="2585585"/>
            <a:ext cx="8073206" cy="102883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3f8d79f6689_0_29"/>
          <p:cNvSpPr txBox="1"/>
          <p:nvPr/>
        </p:nvSpPr>
        <p:spPr>
          <a:xfrm>
            <a:off x="2844626" y="2937122"/>
            <a:ext cx="367548" cy="325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FV</a:t>
            </a:r>
            <a:r>
              <a:rPr lang="en-US" sz="1368" b="0" i="1" u="none" strike="noStrike" cap="none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f8d79f6689_0_29"/>
          <p:cNvSpPr txBox="1"/>
          <p:nvPr/>
        </p:nvSpPr>
        <p:spPr>
          <a:xfrm>
            <a:off x="3247174" y="2937122"/>
            <a:ext cx="603250" cy="325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  =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f8d79f6689_0_29"/>
          <p:cNvSpPr txBox="1"/>
          <p:nvPr/>
        </p:nvSpPr>
        <p:spPr>
          <a:xfrm>
            <a:off x="3885424" y="2735585"/>
            <a:ext cx="319308" cy="182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8"/>
              <a:buFont typeface="Arial"/>
              <a:buNone/>
            </a:pPr>
            <a:r>
              <a:rPr lang="en-US" sz="1368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f8d79f6689_0_29"/>
          <p:cNvSpPr txBox="1"/>
          <p:nvPr/>
        </p:nvSpPr>
        <p:spPr>
          <a:xfrm>
            <a:off x="3885424" y="2928979"/>
            <a:ext cx="319308" cy="342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65"/>
              <a:buFont typeface="Arial"/>
              <a:buNone/>
            </a:pPr>
            <a:r>
              <a:rPr lang="en-US" sz="2565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Σ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f8d79f6689_0_29"/>
          <p:cNvSpPr txBox="1"/>
          <p:nvPr/>
        </p:nvSpPr>
        <p:spPr>
          <a:xfrm>
            <a:off x="3885424" y="3281993"/>
            <a:ext cx="319308" cy="182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8"/>
              <a:buFont typeface="Arial"/>
              <a:buNone/>
            </a:pPr>
            <a:r>
              <a:rPr lang="en-US" sz="1368" i="1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τ </a:t>
            </a:r>
            <a:r>
              <a:rPr lang="en-US" sz="1368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=1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f8d79f6689_0_29"/>
          <p:cNvSpPr txBox="1"/>
          <p:nvPr/>
        </p:nvSpPr>
        <p:spPr>
          <a:xfrm>
            <a:off x="4239732" y="2755957"/>
            <a:ext cx="3575000" cy="325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PAR</a:t>
            </a:r>
            <a:r>
              <a:rPr lang="en-US" sz="1368" i="1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en-US" sz="19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·(1+PIK</a:t>
            </a:r>
            <a:r>
              <a:rPr lang="en-US" sz="1368" b="0" i="0" u="none" strike="noStrike" cap="none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Final,</a:t>
            </a:r>
            <a:r>
              <a:rPr lang="en-US" sz="1368" i="1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en-US" sz="19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/4)</a:t>
            </a:r>
            <a:r>
              <a:rPr lang="en-US" sz="1368" i="1" baseline="30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τ </a:t>
            </a:r>
            <a:r>
              <a:rPr lang="en-US" sz="1368" b="0" i="1" u="none" strike="noStrike" cap="none" baseline="30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-1</a:t>
            </a:r>
            <a:r>
              <a:rPr lang="en-US" sz="19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 · </a:t>
            </a:r>
            <a:r>
              <a:rPr lang="en-US" sz="190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PIC</a:t>
            </a:r>
            <a:r>
              <a:rPr lang="en-US" sz="1368" b="0" i="0" u="none" strike="noStrike" cap="none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Final, </a:t>
            </a:r>
            <a:r>
              <a:rPr lang="en-US" sz="1368" i="1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en-US" sz="19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/4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8" name="Google Shape;138;g3f8d79f6689_0_29"/>
          <p:cNvCxnSpPr/>
          <p:nvPr/>
        </p:nvCxnSpPr>
        <p:spPr>
          <a:xfrm>
            <a:off x="4239732" y="3100000"/>
            <a:ext cx="3575000" cy="0"/>
          </a:xfrm>
          <a:prstGeom prst="straightConnector1">
            <a:avLst/>
          </a:prstGeom>
          <a:noFill/>
          <a:ln w="12700" cap="flat" cmpd="sng">
            <a:solidFill>
              <a:srgbClr val="4A4A4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9" name="Google Shape;139;g3f8d79f6689_0_29"/>
          <p:cNvSpPr txBox="1"/>
          <p:nvPr/>
        </p:nvSpPr>
        <p:spPr>
          <a:xfrm>
            <a:off x="4239732" y="3118288"/>
            <a:ext cx="3575000" cy="325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(1+y)</a:t>
            </a:r>
            <a:r>
              <a:rPr lang="en-US" sz="1368" i="1" baseline="30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τ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f8d79f6689_0_29"/>
          <p:cNvSpPr txBox="1"/>
          <p:nvPr/>
        </p:nvSpPr>
        <p:spPr>
          <a:xfrm>
            <a:off x="7849732" y="2937122"/>
            <a:ext cx="603250" cy="325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  +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f8d79f6689_0_29"/>
          <p:cNvSpPr txBox="1"/>
          <p:nvPr/>
        </p:nvSpPr>
        <p:spPr>
          <a:xfrm>
            <a:off x="8487982" y="2755957"/>
            <a:ext cx="2129850" cy="325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PAR</a:t>
            </a:r>
            <a:r>
              <a:rPr lang="en-US" sz="1368" i="1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en-US" sz="19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·(1+PIK</a:t>
            </a:r>
            <a:r>
              <a:rPr lang="en-US" sz="1368" b="0" i="0" u="none" strike="noStrike" cap="none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Final,</a:t>
            </a:r>
            <a:r>
              <a:rPr lang="en-US" sz="1368" i="1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en-US" sz="19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/4)</a:t>
            </a:r>
            <a:r>
              <a:rPr lang="en-US" sz="1368" b="0" i="1" u="none" strike="noStrike" cap="none" baseline="30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" name="Google Shape;142;g3f8d79f6689_0_29"/>
          <p:cNvCxnSpPr/>
          <p:nvPr/>
        </p:nvCxnSpPr>
        <p:spPr>
          <a:xfrm>
            <a:off x="8487982" y="3100000"/>
            <a:ext cx="2129850" cy="0"/>
          </a:xfrm>
          <a:prstGeom prst="straightConnector1">
            <a:avLst/>
          </a:prstGeom>
          <a:noFill/>
          <a:ln w="12700" cap="flat" cmpd="sng">
            <a:solidFill>
              <a:srgbClr val="4A4A4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3" name="Google Shape;143;g3f8d79f6689_0_29"/>
          <p:cNvSpPr txBox="1"/>
          <p:nvPr/>
        </p:nvSpPr>
        <p:spPr>
          <a:xfrm>
            <a:off x="8487982" y="3118288"/>
            <a:ext cx="2129850" cy="325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(1+y)</a:t>
            </a:r>
            <a:r>
              <a:rPr lang="en-US" sz="1368" b="0" i="1" u="none" strike="noStrike" cap="none" baseline="30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f8d79f6689_0_29"/>
          <p:cNvSpPr txBox="1"/>
          <p:nvPr/>
        </p:nvSpPr>
        <p:spPr>
          <a:xfrm>
            <a:off x="1421400" y="3834415"/>
            <a:ext cx="120000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where: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f8d79f6689_0_29"/>
          <p:cNvSpPr txBox="1"/>
          <p:nvPr/>
        </p:nvSpPr>
        <p:spPr>
          <a:xfrm>
            <a:off x="1571400" y="4254415"/>
            <a:ext cx="9000000" cy="1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•  </a:t>
            </a:r>
            <a:r>
              <a:rPr lang="en-US" sz="150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FV</a:t>
            </a:r>
            <a:r>
              <a:rPr lang="en-US" sz="1100" b="0" i="1" u="none" strike="noStrike" cap="none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en-US" sz="15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  =   current fair value of the investment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•  </a:t>
            </a:r>
            <a:r>
              <a:rPr lang="en-US" sz="150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PAR</a:t>
            </a:r>
            <a:r>
              <a:rPr lang="en-US" sz="1100" i="1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en-US" sz="15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  =   current principal amount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•  </a:t>
            </a:r>
            <a:r>
              <a:rPr lang="en-US" sz="150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PIC</a:t>
            </a:r>
            <a:r>
              <a:rPr lang="en-US" sz="1100" b="0" i="0" u="none" strike="noStrike" cap="none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Final, </a:t>
            </a:r>
            <a:r>
              <a:rPr lang="en-US" sz="1100" i="1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en-US" sz="15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 =   current annual cash interest rate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•  </a:t>
            </a:r>
            <a:r>
              <a:rPr lang="en-US" sz="150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PIK</a:t>
            </a:r>
            <a:r>
              <a:rPr lang="en-US" sz="1100" b="0" i="0" u="none" strike="noStrike" cap="none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Final, </a:t>
            </a:r>
            <a:r>
              <a:rPr lang="en-US" sz="1100" i="1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en-US" sz="15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 =   current annual PIK interest rate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•  </a:t>
            </a:r>
            <a:r>
              <a:rPr lang="en-US" sz="150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n</a:t>
            </a:r>
            <a:r>
              <a:rPr lang="en-US" sz="15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   =   number of quarters to maturity (rounded to the nearest integer)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•  </a:t>
            </a:r>
            <a:r>
              <a:rPr lang="en-US" sz="150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y</a:t>
            </a:r>
            <a:r>
              <a:rPr lang="en-US" sz="15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   =   quarterly yield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9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" descr="assets/sea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1" name="Google Shape;151;p2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w="9525" cap="flat" cmpd="sng">
            <a:solidFill>
              <a:srgbClr val="7C808B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52" name="Google Shape;152;p2" descr="assets/m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lang="en-US" sz="9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sz="9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lang="en-US" sz="6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sz="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685800" y="658375"/>
            <a:ext cx="9063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YTM-Based Index Construction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 txBox="1"/>
          <p:nvPr/>
        </p:nvSpPr>
        <p:spPr>
          <a:xfrm>
            <a:off x="1421400" y="1500000"/>
            <a:ext cx="6000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Solving for the Yield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1421400" y="1990000"/>
            <a:ext cx="6000000" cy="3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The yield </a:t>
            </a:r>
            <a:r>
              <a:rPr lang="en-US" sz="150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y</a:t>
            </a:r>
            <a:r>
              <a:rPr lang="en-US" sz="15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 is the solution to: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"/>
          <p:cNvSpPr/>
          <p:nvPr/>
        </p:nvSpPr>
        <p:spPr>
          <a:xfrm>
            <a:off x="2173025" y="2390725"/>
            <a:ext cx="8656746" cy="878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"/>
          <p:cNvSpPr txBox="1"/>
          <p:nvPr/>
        </p:nvSpPr>
        <p:spPr>
          <a:xfrm>
            <a:off x="2422227" y="2710575"/>
            <a:ext cx="7179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lang="en-US" sz="155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NPV(</a:t>
            </a:r>
            <a:r>
              <a:rPr lang="en-US" sz="155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y</a:t>
            </a:r>
            <a:r>
              <a:rPr lang="en-US" sz="155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"/>
          <p:cNvSpPr txBox="1"/>
          <p:nvPr/>
        </p:nvSpPr>
        <p:spPr>
          <a:xfrm>
            <a:off x="3169992" y="2697126"/>
            <a:ext cx="492125" cy="265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lang="en-US" sz="155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  =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"/>
          <p:cNvSpPr txBox="1"/>
          <p:nvPr/>
        </p:nvSpPr>
        <p:spPr>
          <a:xfrm>
            <a:off x="3692117" y="2530726"/>
            <a:ext cx="265541" cy="148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6"/>
              <a:buFont typeface="Arial"/>
              <a:buNone/>
            </a:pPr>
            <a:r>
              <a:rPr lang="en-US" sz="1116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"/>
          <p:cNvSpPr txBox="1"/>
          <p:nvPr/>
        </p:nvSpPr>
        <p:spPr>
          <a:xfrm>
            <a:off x="3692117" y="2690516"/>
            <a:ext cx="265541" cy="278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2"/>
              <a:buFont typeface="Arial"/>
              <a:buNone/>
            </a:pPr>
            <a:r>
              <a:rPr lang="en-US" sz="2092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Σ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"/>
          <p:cNvSpPr txBox="1"/>
          <p:nvPr/>
        </p:nvSpPr>
        <p:spPr>
          <a:xfrm>
            <a:off x="3692117" y="2980456"/>
            <a:ext cx="265541" cy="148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6"/>
              <a:buFont typeface="Arial"/>
              <a:buNone/>
            </a:pPr>
            <a:r>
              <a:rPr lang="en-US" sz="1116" i="1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τ </a:t>
            </a:r>
            <a:r>
              <a:rPr lang="en-US" sz="1116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=1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"/>
          <p:cNvSpPr txBox="1"/>
          <p:nvPr/>
        </p:nvSpPr>
        <p:spPr>
          <a:xfrm>
            <a:off x="3987658" y="2545965"/>
            <a:ext cx="2990000" cy="265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lang="en-US" sz="155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PAR</a:t>
            </a:r>
            <a:r>
              <a:rPr lang="en-US" sz="1100" i="1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en-US" sz="155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·(1+PIK</a:t>
            </a:r>
            <a:r>
              <a:rPr lang="en-US" sz="1116" b="0" i="0" u="none" strike="noStrike" cap="none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Final, </a:t>
            </a:r>
            <a:r>
              <a:rPr lang="en-US" sz="1100" i="1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en-US" sz="155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/4)</a:t>
            </a:r>
            <a:r>
              <a:rPr lang="en-US" sz="1116" i="1" baseline="30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τ </a:t>
            </a:r>
            <a:r>
              <a:rPr lang="en-US" sz="1116" b="0" i="1" u="none" strike="noStrike" cap="none" baseline="30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-1</a:t>
            </a:r>
            <a:r>
              <a:rPr lang="en-US" sz="155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 · </a:t>
            </a:r>
            <a:r>
              <a:rPr lang="en-US" sz="155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PIC</a:t>
            </a:r>
            <a:r>
              <a:rPr lang="en-US" sz="1116" b="0" i="0" u="none" strike="noStrike" cap="none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Final, </a:t>
            </a:r>
            <a:r>
              <a:rPr lang="en-US" sz="1100" i="1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en-US" sz="155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/4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" name="Google Shape;165;p2"/>
          <p:cNvCxnSpPr/>
          <p:nvPr/>
        </p:nvCxnSpPr>
        <p:spPr>
          <a:xfrm>
            <a:off x="3987658" y="2830000"/>
            <a:ext cx="2990000" cy="0"/>
          </a:xfrm>
          <a:prstGeom prst="straightConnector1">
            <a:avLst/>
          </a:prstGeom>
          <a:noFill/>
          <a:ln w="12700" cap="flat" cmpd="sng">
            <a:solidFill>
              <a:srgbClr val="4A4A4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6" name="Google Shape;166;p2"/>
          <p:cNvSpPr txBox="1"/>
          <p:nvPr/>
        </p:nvSpPr>
        <p:spPr>
          <a:xfrm>
            <a:off x="3987658" y="2848288"/>
            <a:ext cx="2990000" cy="265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lang="en-US" sz="155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(1+y)</a:t>
            </a:r>
            <a:r>
              <a:rPr lang="en-US" sz="1116" i="1" baseline="30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τ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"/>
          <p:cNvSpPr txBox="1"/>
          <p:nvPr/>
        </p:nvSpPr>
        <p:spPr>
          <a:xfrm>
            <a:off x="7007658" y="2697126"/>
            <a:ext cx="492125" cy="265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lang="en-US" sz="155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  +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"/>
          <p:cNvSpPr txBox="1"/>
          <p:nvPr/>
        </p:nvSpPr>
        <p:spPr>
          <a:xfrm>
            <a:off x="7529783" y="2545965"/>
            <a:ext cx="1747615" cy="265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lang="en-US" sz="155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PAR</a:t>
            </a:r>
            <a:r>
              <a:rPr lang="en-US" sz="1100" i="1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en-US" sz="155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·(1+PIK</a:t>
            </a:r>
            <a:r>
              <a:rPr lang="en-US" sz="1116" b="0" i="0" u="none" strike="noStrike" cap="none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Final, </a:t>
            </a:r>
            <a:r>
              <a:rPr lang="en-US" sz="1100" i="1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en-US" sz="155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/4)</a:t>
            </a:r>
            <a:r>
              <a:rPr lang="en-US" sz="1116" b="0" i="1" u="none" strike="noStrike" cap="none" baseline="30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" name="Google Shape;169;p2"/>
          <p:cNvCxnSpPr/>
          <p:nvPr/>
        </p:nvCxnSpPr>
        <p:spPr>
          <a:xfrm>
            <a:off x="7529783" y="2830000"/>
            <a:ext cx="1747615" cy="0"/>
          </a:xfrm>
          <a:prstGeom prst="straightConnector1">
            <a:avLst/>
          </a:prstGeom>
          <a:noFill/>
          <a:ln w="12700" cap="flat" cmpd="sng">
            <a:solidFill>
              <a:srgbClr val="4A4A4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0" name="Google Shape;170;p2"/>
          <p:cNvSpPr txBox="1"/>
          <p:nvPr/>
        </p:nvSpPr>
        <p:spPr>
          <a:xfrm>
            <a:off x="7529783" y="2848288"/>
            <a:ext cx="1747615" cy="265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lang="en-US" sz="155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(1+y)</a:t>
            </a:r>
            <a:r>
              <a:rPr lang="en-US" sz="1116" b="0" i="1" u="none" strike="noStrike" cap="none" baseline="30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"/>
          <p:cNvSpPr txBox="1"/>
          <p:nvPr/>
        </p:nvSpPr>
        <p:spPr>
          <a:xfrm>
            <a:off x="9307398" y="2697126"/>
            <a:ext cx="1382516" cy="265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lang="en-US" sz="155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  −  </a:t>
            </a:r>
            <a:r>
              <a:rPr lang="en-US" sz="155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FV</a:t>
            </a:r>
            <a:r>
              <a:rPr lang="en-US" sz="1116" b="0" i="1" u="none" strike="noStrike" cap="none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en-US" sz="155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  =  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"/>
          <p:cNvSpPr txBox="1"/>
          <p:nvPr/>
        </p:nvSpPr>
        <p:spPr>
          <a:xfrm>
            <a:off x="1421400" y="3509274"/>
            <a:ext cx="6000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Applying the Newton–Raphson Method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"/>
          <p:cNvSpPr txBox="1"/>
          <p:nvPr/>
        </p:nvSpPr>
        <p:spPr>
          <a:xfrm>
            <a:off x="1421400" y="3999274"/>
            <a:ext cx="9600000" cy="3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Starting from an initial guess </a:t>
            </a:r>
            <a:r>
              <a:rPr lang="en-US" sz="150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y</a:t>
            </a:r>
            <a:r>
              <a:rPr lang="en-US" sz="1100" b="0" i="1" u="none" strike="noStrike" cap="none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en-US" sz="15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=</a:t>
            </a:r>
            <a:r>
              <a:rPr lang="en-US" sz="150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IR</a:t>
            </a:r>
            <a:r>
              <a:rPr lang="en-US" sz="1100" b="0" i="1" u="none" strike="noStrike" cap="none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Final</a:t>
            </a:r>
            <a:r>
              <a:rPr lang="en-US" sz="15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 /4 (~99.8% of rows converge under (-0.5, 2.0) cap), the yield is solved iteratively (max_iter = 25) using: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"/>
          <p:cNvSpPr/>
          <p:nvPr/>
        </p:nvSpPr>
        <p:spPr>
          <a:xfrm>
            <a:off x="4347116" y="4352376"/>
            <a:ext cx="3148568" cy="93379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"/>
          <p:cNvSpPr txBox="1"/>
          <p:nvPr/>
        </p:nvSpPr>
        <p:spPr>
          <a:xfrm>
            <a:off x="4487116" y="4664969"/>
            <a:ext cx="40453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y</a:t>
            </a:r>
            <a:r>
              <a:rPr lang="en-US" sz="1296" b="0" i="1" u="none" strike="noStrike" cap="none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k+1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"/>
          <p:cNvSpPr txBox="1"/>
          <p:nvPr/>
        </p:nvSpPr>
        <p:spPr>
          <a:xfrm>
            <a:off x="4926646" y="4664969"/>
            <a:ext cx="57150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  =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"/>
          <p:cNvSpPr txBox="1"/>
          <p:nvPr/>
        </p:nvSpPr>
        <p:spPr>
          <a:xfrm>
            <a:off x="5533146" y="4664969"/>
            <a:ext cx="220187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y</a:t>
            </a:r>
            <a:r>
              <a:rPr lang="en-US" sz="1296" b="0" i="1" u="none" strike="noStrike" cap="none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"/>
          <p:cNvSpPr txBox="1"/>
          <p:nvPr/>
        </p:nvSpPr>
        <p:spPr>
          <a:xfrm>
            <a:off x="5788333" y="4664969"/>
            <a:ext cx="57150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  −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"/>
          <p:cNvSpPr txBox="1"/>
          <p:nvPr/>
        </p:nvSpPr>
        <p:spPr>
          <a:xfrm>
            <a:off x="6394833" y="4492376"/>
            <a:ext cx="960851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NPV(</a:t>
            </a:r>
            <a:r>
              <a:rPr lang="en-US" sz="180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y</a:t>
            </a:r>
            <a:r>
              <a:rPr lang="en-US" sz="1296" b="0" i="1" u="none" strike="noStrike" cap="none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k</a:t>
            </a:r>
            <a:r>
              <a:rPr lang="en-US" sz="18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0" name="Google Shape;180;p2"/>
          <p:cNvCxnSpPr/>
          <p:nvPr/>
        </p:nvCxnSpPr>
        <p:spPr>
          <a:xfrm>
            <a:off x="6394833" y="4819274"/>
            <a:ext cx="960851" cy="0"/>
          </a:xfrm>
          <a:prstGeom prst="straightConnector1">
            <a:avLst/>
          </a:prstGeom>
          <a:noFill/>
          <a:ln w="12700" cap="flat" cmpd="sng">
            <a:solidFill>
              <a:srgbClr val="4A4A4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1" name="Google Shape;181;p2"/>
          <p:cNvSpPr txBox="1"/>
          <p:nvPr/>
        </p:nvSpPr>
        <p:spPr>
          <a:xfrm>
            <a:off x="6394833" y="4837562"/>
            <a:ext cx="960851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NPV′(</a:t>
            </a:r>
            <a:r>
              <a:rPr lang="en-US" sz="180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y</a:t>
            </a:r>
            <a:r>
              <a:rPr lang="en-US" sz="1296" b="0" i="1" u="none" strike="noStrike" cap="none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k</a:t>
            </a:r>
            <a:r>
              <a:rPr lang="en-US" sz="18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"/>
          <p:cNvSpPr txBox="1"/>
          <p:nvPr/>
        </p:nvSpPr>
        <p:spPr>
          <a:xfrm>
            <a:off x="1421400" y="5516172"/>
            <a:ext cx="6000000" cy="3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where the derivative is: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"/>
          <p:cNvSpPr/>
          <p:nvPr/>
        </p:nvSpPr>
        <p:spPr>
          <a:xfrm>
            <a:off x="2734527" y="5808032"/>
            <a:ext cx="7739254" cy="856279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"/>
          <p:cNvSpPr txBox="1"/>
          <p:nvPr/>
        </p:nvSpPr>
        <p:spPr>
          <a:xfrm>
            <a:off x="2874527" y="6111871"/>
            <a:ext cx="655574" cy="248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lang="en-US" sz="145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NPV′(</a:t>
            </a:r>
            <a:r>
              <a:rPr lang="en-US" sz="145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y</a:t>
            </a:r>
            <a:r>
              <a:rPr lang="en-US" sz="145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"/>
          <p:cNvSpPr txBox="1"/>
          <p:nvPr/>
        </p:nvSpPr>
        <p:spPr>
          <a:xfrm>
            <a:off x="3555101" y="6111871"/>
            <a:ext cx="644525" cy="248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lang="en-US" sz="145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  =  −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"/>
          <p:cNvSpPr txBox="1"/>
          <p:nvPr/>
        </p:nvSpPr>
        <p:spPr>
          <a:xfrm>
            <a:off x="4224626" y="5948032"/>
            <a:ext cx="262128" cy="146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"/>
          <p:cNvSpPr txBox="1"/>
          <p:nvPr/>
        </p:nvSpPr>
        <p:spPr>
          <a:xfrm>
            <a:off x="4224626" y="6105689"/>
            <a:ext cx="262128" cy="260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7"/>
              <a:buFont typeface="Arial"/>
              <a:buNone/>
            </a:pPr>
            <a:r>
              <a:rPr lang="en-US" sz="1957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Σ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"/>
          <p:cNvSpPr txBox="1"/>
          <p:nvPr/>
        </p:nvSpPr>
        <p:spPr>
          <a:xfrm>
            <a:off x="4224626" y="6377626"/>
            <a:ext cx="262128" cy="146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i="1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τ </a:t>
            </a:r>
            <a:r>
              <a:rPr lang="en-US" sz="110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=1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"/>
          <p:cNvSpPr txBox="1"/>
          <p:nvPr/>
        </p:nvSpPr>
        <p:spPr>
          <a:xfrm>
            <a:off x="4511754" y="5969282"/>
            <a:ext cx="3270000" cy="248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lang="en-US" sz="145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t</a:t>
            </a:r>
            <a:r>
              <a:rPr lang="en-US" sz="145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 · </a:t>
            </a:r>
            <a:r>
              <a:rPr lang="en-US" sz="145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PAR</a:t>
            </a:r>
            <a:r>
              <a:rPr lang="en-US" sz="1100" i="1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en-US" sz="145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·(1+PIK</a:t>
            </a:r>
            <a:r>
              <a:rPr lang="en-US" sz="1100" b="0" i="0" u="none" strike="noStrike" cap="none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Final, </a:t>
            </a:r>
            <a:r>
              <a:rPr lang="en-US" sz="1100" i="1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en-US" sz="15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145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/4)</a:t>
            </a:r>
            <a:r>
              <a:rPr lang="en-US" sz="1100" i="1" baseline="30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τ </a:t>
            </a:r>
            <a:r>
              <a:rPr lang="en-US" sz="1100" b="0" i="1" u="none" strike="noStrike" cap="none" baseline="30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-1</a:t>
            </a:r>
            <a:r>
              <a:rPr lang="en-US" sz="145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 · </a:t>
            </a:r>
            <a:r>
              <a:rPr lang="en-US" sz="145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PIC</a:t>
            </a:r>
            <a:r>
              <a:rPr lang="en-US" sz="1100" b="0" i="0" u="none" strike="noStrike" cap="none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Final, </a:t>
            </a:r>
            <a:r>
              <a:rPr lang="en-US" sz="1100" i="1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en-US" sz="15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145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/4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" name="Google Shape;190;p2"/>
          <p:cNvCxnSpPr/>
          <p:nvPr/>
        </p:nvCxnSpPr>
        <p:spPr>
          <a:xfrm>
            <a:off x="4511754" y="6236172"/>
            <a:ext cx="3270000" cy="0"/>
          </a:xfrm>
          <a:prstGeom prst="straightConnector1">
            <a:avLst/>
          </a:prstGeom>
          <a:noFill/>
          <a:ln w="12700" cap="flat" cmpd="sng">
            <a:solidFill>
              <a:srgbClr val="4A4A4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1" name="Google Shape;191;p2"/>
          <p:cNvSpPr txBox="1"/>
          <p:nvPr/>
        </p:nvSpPr>
        <p:spPr>
          <a:xfrm>
            <a:off x="4511754" y="6254460"/>
            <a:ext cx="3270000" cy="248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lang="en-US" sz="145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(1+y)</a:t>
            </a:r>
            <a:r>
              <a:rPr lang="en-US" sz="1100" i="1" baseline="30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τ </a:t>
            </a:r>
            <a:r>
              <a:rPr lang="en-US" sz="1100" b="0" i="1" u="none" strike="noStrike" cap="none" baseline="30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+1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"/>
          <p:cNvSpPr txBox="1"/>
          <p:nvPr/>
        </p:nvSpPr>
        <p:spPr>
          <a:xfrm>
            <a:off x="7806754" y="6111871"/>
            <a:ext cx="460375" cy="248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lang="en-US" sz="145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  −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"/>
          <p:cNvSpPr txBox="1"/>
          <p:nvPr/>
        </p:nvSpPr>
        <p:spPr>
          <a:xfrm>
            <a:off x="8292129" y="5969282"/>
            <a:ext cx="2041652" cy="248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lang="en-US" sz="145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n</a:t>
            </a:r>
            <a:r>
              <a:rPr lang="en-US" sz="145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 · </a:t>
            </a:r>
            <a:r>
              <a:rPr lang="en-US" sz="145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PAR</a:t>
            </a:r>
            <a:r>
              <a:rPr lang="en-US" sz="1100" i="1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en-US" sz="145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(1+PIK</a:t>
            </a:r>
            <a:r>
              <a:rPr lang="en-US" sz="1100" b="0" i="0" u="none" strike="noStrike" cap="none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Final, </a:t>
            </a:r>
            <a:r>
              <a:rPr lang="en-US" sz="1100" i="1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en-US" sz="15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145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/4)</a:t>
            </a:r>
            <a:r>
              <a:rPr lang="en-US" sz="1100" b="0" i="1" u="none" strike="noStrike" cap="none" baseline="30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" name="Google Shape;194;p2"/>
          <p:cNvCxnSpPr/>
          <p:nvPr/>
        </p:nvCxnSpPr>
        <p:spPr>
          <a:xfrm>
            <a:off x="8292129" y="6236172"/>
            <a:ext cx="2041652" cy="0"/>
          </a:xfrm>
          <a:prstGeom prst="straightConnector1">
            <a:avLst/>
          </a:prstGeom>
          <a:noFill/>
          <a:ln w="12700" cap="flat" cmpd="sng">
            <a:solidFill>
              <a:srgbClr val="4A4A4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5" name="Google Shape;195;p2"/>
          <p:cNvSpPr txBox="1"/>
          <p:nvPr/>
        </p:nvSpPr>
        <p:spPr>
          <a:xfrm>
            <a:off x="8292129" y="6254460"/>
            <a:ext cx="2041652" cy="248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lang="en-US" sz="145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(1+y)</a:t>
            </a:r>
            <a:r>
              <a:rPr lang="en-US" sz="1100" b="0" i="1" u="none" strike="noStrike" cap="none" baseline="30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n+1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9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g3f8d79f6689_0_80" descr="assets/sea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2" name="Google Shape;202;g3f8d79f6689_0_80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w="9525" cap="flat" cmpd="sng">
            <a:solidFill>
              <a:srgbClr val="7C808B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3" name="Google Shape;203;g3f8d79f6689_0_80" descr="assets/m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g3f8d79f6689_0_80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lang="en-US" sz="9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sz="9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f8d79f6689_0_80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lang="en-US" sz="6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sz="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f8d79f6689_0_80"/>
          <p:cNvSpPr txBox="1"/>
          <p:nvPr/>
        </p:nvSpPr>
        <p:spPr>
          <a:xfrm>
            <a:off x="685800" y="658375"/>
            <a:ext cx="9063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YTM-Based Index Construction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f8d79f6689_0_80"/>
          <p:cNvSpPr txBox="1"/>
          <p:nvPr/>
        </p:nvSpPr>
        <p:spPr>
          <a:xfrm>
            <a:off x="1421400" y="1650000"/>
            <a:ext cx="3000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Index Yield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f8d79f6689_0_80"/>
          <p:cNvSpPr txBox="1"/>
          <p:nvPr/>
        </p:nvSpPr>
        <p:spPr>
          <a:xfrm>
            <a:off x="1421400" y="2130000"/>
            <a:ext cx="9600000" cy="7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Once the individual investment yields </a:t>
            </a:r>
            <a:r>
              <a:rPr lang="en-US" sz="150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y</a:t>
            </a:r>
            <a:r>
              <a:rPr lang="en-US" sz="1200" b="0" i="1" u="none" strike="noStrike" cap="none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i</a:t>
            </a:r>
            <a:r>
              <a:rPr lang="en-US" sz="16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15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have been obtained, the quarterly index yield is the current-quarter fair-value-weighted average: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f8d79f6689_0_80"/>
          <p:cNvSpPr/>
          <p:nvPr/>
        </p:nvSpPr>
        <p:spPr>
          <a:xfrm>
            <a:off x="4377259" y="2716981"/>
            <a:ext cx="3088282" cy="106603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f8d79f6689_0_80"/>
          <p:cNvSpPr txBox="1"/>
          <p:nvPr/>
        </p:nvSpPr>
        <p:spPr>
          <a:xfrm>
            <a:off x="4527259" y="3078550"/>
            <a:ext cx="1422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f8d79f6689_0_80"/>
          <p:cNvSpPr txBox="1"/>
          <p:nvPr/>
        </p:nvSpPr>
        <p:spPr>
          <a:xfrm>
            <a:off x="4683215" y="3048832"/>
            <a:ext cx="530352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r>
              <a:rPr lang="en-US" sz="144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Index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f8d79f6689_0_80"/>
          <p:cNvSpPr txBox="1"/>
          <p:nvPr/>
        </p:nvSpPr>
        <p:spPr>
          <a:xfrm>
            <a:off x="4683215" y="3259144"/>
            <a:ext cx="530352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r>
              <a:rPr lang="en-US" sz="144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f8d79f6689_0_80"/>
          <p:cNvSpPr txBox="1"/>
          <p:nvPr/>
        </p:nvSpPr>
        <p:spPr>
          <a:xfrm>
            <a:off x="5258567" y="3078550"/>
            <a:ext cx="63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  =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f8d79f6689_0_80"/>
          <p:cNvSpPr txBox="1"/>
          <p:nvPr/>
        </p:nvSpPr>
        <p:spPr>
          <a:xfrm>
            <a:off x="5938567" y="2866981"/>
            <a:ext cx="33467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r>
              <a:rPr lang="en-US" sz="144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f8d79f6689_0_80"/>
          <p:cNvSpPr txBox="1"/>
          <p:nvPr/>
        </p:nvSpPr>
        <p:spPr>
          <a:xfrm>
            <a:off x="5938567" y="3069977"/>
            <a:ext cx="334670" cy="360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Σ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f8d79f6689_0_80"/>
          <p:cNvSpPr txBox="1"/>
          <p:nvPr/>
        </p:nvSpPr>
        <p:spPr>
          <a:xfrm>
            <a:off x="5938567" y="3440994"/>
            <a:ext cx="33467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r>
              <a:rPr lang="en-US" sz="144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i=1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3f8d79f6689_0_80"/>
          <p:cNvSpPr txBox="1"/>
          <p:nvPr/>
        </p:nvSpPr>
        <p:spPr>
          <a:xfrm>
            <a:off x="6318237" y="3078550"/>
            <a:ext cx="99730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w</a:t>
            </a:r>
            <a:r>
              <a:rPr lang="en-US" sz="1440" b="0" i="1" u="none" strike="noStrike" cap="none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i</a:t>
            </a:r>
            <a:r>
              <a:rPr lang="en-US" sz="20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  </a:t>
            </a:r>
            <a:r>
              <a:rPr lang="en-US" sz="200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y</a:t>
            </a:r>
            <a:r>
              <a:rPr lang="en-US" sz="1440" b="0" i="1" u="none" strike="noStrike" cap="none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f8d79f6689_0_80"/>
          <p:cNvSpPr txBox="1"/>
          <p:nvPr/>
        </p:nvSpPr>
        <p:spPr>
          <a:xfrm>
            <a:off x="1421400" y="4013018"/>
            <a:ext cx="1200000" cy="3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with: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f8d79f6689_0_80"/>
          <p:cNvSpPr/>
          <p:nvPr/>
        </p:nvSpPr>
        <p:spPr>
          <a:xfrm>
            <a:off x="4818097" y="4551830"/>
            <a:ext cx="2206606" cy="144551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f8d79f6689_0_80"/>
          <p:cNvSpPr txBox="1"/>
          <p:nvPr/>
        </p:nvSpPr>
        <p:spPr>
          <a:xfrm>
            <a:off x="4968097" y="4891568"/>
            <a:ext cx="24465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w</a:t>
            </a:r>
            <a:r>
              <a:rPr lang="en-US" sz="1440" b="0" i="1" u="none" strike="noStrike" cap="none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f8d79f6689_0_80"/>
          <p:cNvSpPr txBox="1"/>
          <p:nvPr/>
        </p:nvSpPr>
        <p:spPr>
          <a:xfrm>
            <a:off x="5257749" y="4891568"/>
            <a:ext cx="63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  =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f8d79f6689_0_80"/>
          <p:cNvSpPr txBox="1"/>
          <p:nvPr/>
        </p:nvSpPr>
        <p:spPr>
          <a:xfrm>
            <a:off x="5937749" y="4701830"/>
            <a:ext cx="93695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FV</a:t>
            </a:r>
            <a:r>
              <a:rPr lang="en-US" sz="1440" b="0" i="1" u="none" strike="noStrike" cap="none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3" name="Google Shape;223;g3f8d79f6689_0_80"/>
          <p:cNvCxnSpPr/>
          <p:nvPr/>
        </p:nvCxnSpPr>
        <p:spPr>
          <a:xfrm>
            <a:off x="5937749" y="5063018"/>
            <a:ext cx="936954" cy="0"/>
          </a:xfrm>
          <a:prstGeom prst="straightConnector1">
            <a:avLst/>
          </a:prstGeom>
          <a:noFill/>
          <a:ln w="12700" cap="flat" cmpd="sng">
            <a:solidFill>
              <a:srgbClr val="4A4A4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4" name="Google Shape;224;g3f8d79f6689_0_80"/>
          <p:cNvSpPr txBox="1"/>
          <p:nvPr/>
        </p:nvSpPr>
        <p:spPr>
          <a:xfrm>
            <a:off x="5965181" y="5081306"/>
            <a:ext cx="33467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r>
              <a:rPr lang="en-US" sz="144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f8d79f6689_0_80"/>
          <p:cNvSpPr txBox="1"/>
          <p:nvPr/>
        </p:nvSpPr>
        <p:spPr>
          <a:xfrm>
            <a:off x="5965181" y="5284302"/>
            <a:ext cx="334670" cy="360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0" i="0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Σ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f8d79f6689_0_80"/>
          <p:cNvSpPr txBox="1"/>
          <p:nvPr/>
        </p:nvSpPr>
        <p:spPr>
          <a:xfrm>
            <a:off x="5965181" y="5655319"/>
            <a:ext cx="33467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r>
              <a:rPr lang="en-US" sz="144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j=1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f8d79f6689_0_80"/>
          <p:cNvSpPr txBox="1"/>
          <p:nvPr/>
        </p:nvSpPr>
        <p:spPr>
          <a:xfrm>
            <a:off x="6318139" y="5081306"/>
            <a:ext cx="529132" cy="766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FV</a:t>
            </a:r>
            <a:r>
              <a:rPr lang="en-US" sz="1440" b="0" i="1" u="none" strike="noStrike" cap="none" baseline="-25000">
                <a:solidFill>
                  <a:srgbClr val="1D243E"/>
                </a:solidFill>
                <a:latin typeface="Cambria"/>
                <a:ea typeface="Cambria"/>
                <a:cs typeface="Cambria"/>
                <a:sym typeface="Cambria"/>
              </a:rPr>
              <a:t>j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9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g3f8d79f6689_0_40" descr="assets/sea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4" name="Google Shape;234;g3f8d79f6689_0_40"/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w="9525" cap="flat" cmpd="sng">
            <a:solidFill>
              <a:srgbClr val="7C808B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35" name="Google Shape;235;g3f8d79f6689_0_40" descr="assets/m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g3f8d79f6689_0_40"/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lang="en-US" sz="9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sz="9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f8d79f6689_0_40"/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lang="en-US" sz="6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sz="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3f8d79f6689_0_40"/>
          <p:cNvSpPr txBox="1"/>
          <p:nvPr/>
        </p:nvSpPr>
        <p:spPr>
          <a:xfrm>
            <a:off x="685800" y="658375"/>
            <a:ext cx="9063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1D243E"/>
                </a:solidFill>
                <a:latin typeface="Saira"/>
                <a:ea typeface="Saira"/>
                <a:cs typeface="Saira"/>
                <a:sym typeface="Saira"/>
              </a:rPr>
              <a:t>CDLI Tracking Performance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9" name="Google Shape;239;g3f8d79f6689_0_40"/>
          <p:cNvGraphicFramePr/>
          <p:nvPr/>
        </p:nvGraphicFramePr>
        <p:xfrm>
          <a:off x="7365575" y="2618950"/>
          <a:ext cx="4741125" cy="1620110"/>
        </p:xfrm>
        <a:graphic>
          <a:graphicData uri="http://schemas.openxmlformats.org/drawingml/2006/table">
            <a:tbl>
              <a:tblPr>
                <a:noFill/>
                <a:tableStyleId>{B53526F1-605D-466D-9D6A-95BD18BEBACD}</a:tableStyleId>
              </a:tblPr>
              <a:tblGrid>
                <a:gridCol w="158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0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6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/>
                        <a:t>Comparison</a:t>
                      </a:r>
                      <a:endParaRPr sz="12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/>
                        <a:t>Correlation</a:t>
                      </a:r>
                      <a:endParaRPr sz="12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/>
                        <a:t>TE (annualized)</a:t>
                      </a:r>
                      <a:endParaRPr sz="1200" b="1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/>
                        <a:t>DCF-YTM vs. CDLI</a:t>
                      </a:r>
                      <a:endParaRPr sz="12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/>
                        <a:t>0.821</a:t>
                      </a:r>
                      <a:endParaRPr sz="12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/>
                        <a:t>0.72</a:t>
                      </a:r>
                      <a:r>
                        <a:rPr lang="en-US" sz="1200" b="1"/>
                        <a:t>4</a:t>
                      </a:r>
                      <a:r>
                        <a:rPr lang="en-US" sz="1200" b="1" u="none" strike="noStrike" cap="none"/>
                        <a:t>%</a:t>
                      </a:r>
                      <a:endParaRPr sz="1200" b="1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/>
                        <a:t>Flow-based Index vs. CDLI</a:t>
                      </a:r>
                      <a:endParaRPr sz="12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/>
                        <a:t>0.</a:t>
                      </a:r>
                      <a:r>
                        <a:rPr lang="en-US" sz="1200" b="1"/>
                        <a:t>958</a:t>
                      </a:r>
                      <a:endParaRPr sz="12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/>
                        <a:t>0.3</a:t>
                      </a:r>
                      <a:r>
                        <a:rPr lang="en-US" sz="1200" b="1"/>
                        <a:t>27</a:t>
                      </a:r>
                      <a:r>
                        <a:rPr lang="en-US" sz="1200" b="1" u="none" strike="noStrike" cap="none"/>
                        <a:t>%</a:t>
                      </a:r>
                      <a:endParaRPr sz="1200" b="1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40" name="Google Shape;240;g3f8d79f6689_0_40" title="ytm_vs_index_vs_cdli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2325" y="1663813"/>
            <a:ext cx="7060774" cy="3530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9"/>
        </a:solidFill>
        <a:effectLst/>
      </p:bgPr>
    </p:bg>
    <p:spTree>
      <p:nvGrpSpPr>
        <p:cNvPr id="1" name="Shape 232">
          <a:extLst>
            <a:ext uri="{FF2B5EF4-FFF2-40B4-BE49-F238E27FC236}">
              <a16:creationId xmlns:a16="http://schemas.microsoft.com/office/drawing/2014/main" id="{793B117D-C9FF-D211-8B56-542F89829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g3f8d79f6689_0_40" descr="assets/seal.png">
            <a:extLst>
              <a:ext uri="{FF2B5EF4-FFF2-40B4-BE49-F238E27FC236}">
                <a16:creationId xmlns:a16="http://schemas.microsoft.com/office/drawing/2014/main" id="{42DCB3C7-C4D6-C8F1-8C54-38A54B15BFA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4" name="Google Shape;234;g3f8d79f6689_0_40">
            <a:extLst>
              <a:ext uri="{FF2B5EF4-FFF2-40B4-BE49-F238E27FC236}">
                <a16:creationId xmlns:a16="http://schemas.microsoft.com/office/drawing/2014/main" id="{2A5B8CC9-E12C-6BA9-2A37-FD1F5230CFBA}"/>
              </a:ext>
            </a:extLst>
          </p:cNvPr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w="9525" cap="flat" cmpd="sng">
            <a:solidFill>
              <a:srgbClr val="7C808B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35" name="Google Shape;235;g3f8d79f6689_0_40" descr="assets/mlogo.png">
            <a:extLst>
              <a:ext uri="{FF2B5EF4-FFF2-40B4-BE49-F238E27FC236}">
                <a16:creationId xmlns:a16="http://schemas.microsoft.com/office/drawing/2014/main" id="{4C8C1B4F-8006-9762-E24A-511FA72C389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g3f8d79f6689_0_40">
            <a:extLst>
              <a:ext uri="{FF2B5EF4-FFF2-40B4-BE49-F238E27FC236}">
                <a16:creationId xmlns:a16="http://schemas.microsoft.com/office/drawing/2014/main" id="{F43A1331-405E-2AFA-D98B-326D8CD3EABC}"/>
              </a:ext>
            </a:extLst>
          </p:cNvPr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lang="en-US" sz="9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sz="9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f8d79f6689_0_40">
            <a:extLst>
              <a:ext uri="{FF2B5EF4-FFF2-40B4-BE49-F238E27FC236}">
                <a16:creationId xmlns:a16="http://schemas.microsoft.com/office/drawing/2014/main" id="{3A66E1E1-661A-B12B-8E18-E7FFEB4731F6}"/>
              </a:ext>
            </a:extLst>
          </p:cNvPr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lang="en-US" sz="6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sz="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238;g3f8d79f6689_0_40">
            <a:extLst>
              <a:ext uri="{FF2B5EF4-FFF2-40B4-BE49-F238E27FC236}">
                <a16:creationId xmlns:a16="http://schemas.microsoft.com/office/drawing/2014/main" id="{A6F27008-C899-97B2-7A47-375015B4CF35}"/>
              </a:ext>
            </a:extLst>
          </p:cNvPr>
          <p:cNvSpPr txBox="1"/>
          <p:nvPr/>
        </p:nvSpPr>
        <p:spPr>
          <a:xfrm>
            <a:off x="685800" y="658375"/>
            <a:ext cx="9063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4000" b="1">
                <a:solidFill>
                  <a:srgbClr val="1D243E"/>
                </a:solidFill>
                <a:latin typeface="Saira"/>
                <a:sym typeface="Saira"/>
              </a:rPr>
              <a:t>Case Study – First Brands</a:t>
            </a:r>
            <a:endParaRPr lang="en-US" sz="4000" b="1" dirty="0">
              <a:solidFill>
                <a:srgbClr val="1D243E"/>
              </a:solidFill>
              <a:latin typeface="Saira"/>
              <a:sym typeface="Saira"/>
            </a:endParaRPr>
          </a:p>
        </p:txBody>
      </p:sp>
      <p:pic>
        <p:nvPicPr>
          <p:cNvPr id="4" name="Picture 3" descr="A graph of a number of brands&#10;&#10;AI-generated content may be incorrect.">
            <a:extLst>
              <a:ext uri="{FF2B5EF4-FFF2-40B4-BE49-F238E27FC236}">
                <a16:creationId xmlns:a16="http://schemas.microsoft.com/office/drawing/2014/main" id="{EA9290E5-CA63-7C2D-0AEB-B2551B2CBF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343025"/>
            <a:ext cx="8801100" cy="53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32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9"/>
        </a:solidFill>
        <a:effectLst/>
      </p:bgPr>
    </p:bg>
    <p:spTree>
      <p:nvGrpSpPr>
        <p:cNvPr id="1" name="Shape 232">
          <a:extLst>
            <a:ext uri="{FF2B5EF4-FFF2-40B4-BE49-F238E27FC236}">
              <a16:creationId xmlns:a16="http://schemas.microsoft.com/office/drawing/2014/main" id="{327AD83B-6104-0E14-2FFC-5BD17C5FA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g3f8d79f6689_0_40" descr="assets/seal.png">
            <a:extLst>
              <a:ext uri="{FF2B5EF4-FFF2-40B4-BE49-F238E27FC236}">
                <a16:creationId xmlns:a16="http://schemas.microsoft.com/office/drawing/2014/main" id="{99D86476-939B-A1C7-2D20-2FF476DD0C3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4" name="Google Shape;234;g3f8d79f6689_0_40">
            <a:extLst>
              <a:ext uri="{FF2B5EF4-FFF2-40B4-BE49-F238E27FC236}">
                <a16:creationId xmlns:a16="http://schemas.microsoft.com/office/drawing/2014/main" id="{DE201FA0-0923-7DC0-0DE4-5AB8B354C3BD}"/>
              </a:ext>
            </a:extLst>
          </p:cNvPr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w="9525" cap="flat" cmpd="sng">
            <a:solidFill>
              <a:srgbClr val="7C808B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35" name="Google Shape;235;g3f8d79f6689_0_40" descr="assets/mlogo.png">
            <a:extLst>
              <a:ext uri="{FF2B5EF4-FFF2-40B4-BE49-F238E27FC236}">
                <a16:creationId xmlns:a16="http://schemas.microsoft.com/office/drawing/2014/main" id="{5ED46249-A01C-588B-3969-4766C5ED21A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g3f8d79f6689_0_40">
            <a:extLst>
              <a:ext uri="{FF2B5EF4-FFF2-40B4-BE49-F238E27FC236}">
                <a16:creationId xmlns:a16="http://schemas.microsoft.com/office/drawing/2014/main" id="{9B42E202-98CC-E007-4222-8C5B24F79D45}"/>
              </a:ext>
            </a:extLst>
          </p:cNvPr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lang="en-US" sz="9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sz="9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f8d79f6689_0_40">
            <a:extLst>
              <a:ext uri="{FF2B5EF4-FFF2-40B4-BE49-F238E27FC236}">
                <a16:creationId xmlns:a16="http://schemas.microsoft.com/office/drawing/2014/main" id="{9405D779-1D3A-7812-443F-F8E6A355A647}"/>
              </a:ext>
            </a:extLst>
          </p:cNvPr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lang="en-US" sz="6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sz="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238;g3f8d79f6689_0_40">
            <a:extLst>
              <a:ext uri="{FF2B5EF4-FFF2-40B4-BE49-F238E27FC236}">
                <a16:creationId xmlns:a16="http://schemas.microsoft.com/office/drawing/2014/main" id="{9BC7A9CA-259B-63EE-B8D6-C6DAA2056F6A}"/>
              </a:ext>
            </a:extLst>
          </p:cNvPr>
          <p:cNvSpPr txBox="1"/>
          <p:nvPr/>
        </p:nvSpPr>
        <p:spPr>
          <a:xfrm>
            <a:off x="685800" y="658375"/>
            <a:ext cx="9063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4000" b="1" dirty="0">
                <a:solidFill>
                  <a:srgbClr val="1D243E"/>
                </a:solidFill>
                <a:latin typeface="Saira"/>
              </a:rPr>
              <a:t>Valuation Dispersion</a:t>
            </a:r>
            <a:endParaRPr lang="en-US" sz="4000" b="1" dirty="0">
              <a:solidFill>
                <a:srgbClr val="1D243E"/>
              </a:solidFill>
              <a:latin typeface="Saira"/>
              <a:sym typeface="Saira"/>
            </a:endParaRPr>
          </a:p>
        </p:txBody>
      </p:sp>
      <p:sp>
        <p:nvSpPr>
          <p:cNvPr id="5" name="Google Shape;98;g3f8d79f6689_0_66">
            <a:extLst>
              <a:ext uri="{FF2B5EF4-FFF2-40B4-BE49-F238E27FC236}">
                <a16:creationId xmlns:a16="http://schemas.microsoft.com/office/drawing/2014/main" id="{65DAFF0F-C062-D464-4EB5-B857FEEBB0EC}"/>
              </a:ext>
            </a:extLst>
          </p:cNvPr>
          <p:cNvSpPr txBox="1"/>
          <p:nvPr/>
        </p:nvSpPr>
        <p:spPr>
          <a:xfrm>
            <a:off x="687975" y="1502300"/>
            <a:ext cx="9200000" cy="361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sz="1600" dirty="0">
                <a:solidFill>
                  <a:srgbClr val="1D243E"/>
                </a:solidFill>
                <a:latin typeface="Cambria"/>
                <a:ea typeface="Cambria"/>
                <a:sym typeface="Cambria"/>
              </a:rPr>
              <a:t>A borrower is only included if it is held by at least 4 distinct BDCs in the exact same quarter</a:t>
            </a:r>
            <a:endParaRPr lang="en-US" sz="1600">
              <a:solidFill>
                <a:srgbClr val="1D243E"/>
              </a:solidFill>
              <a:latin typeface="Cambria"/>
              <a:ea typeface="Cambria"/>
            </a:endParaRPr>
          </a:p>
          <a:p>
            <a:endParaRPr lang="en-US" sz="1600" dirty="0">
              <a:solidFill>
                <a:srgbClr val="1D243E"/>
              </a:solidFill>
              <a:latin typeface="Cambria"/>
              <a:ea typeface="Cambria"/>
            </a:endParaRPr>
          </a:p>
          <a:p>
            <a:r>
              <a:rPr lang="en-US" sz="1600" dirty="0">
                <a:solidFill>
                  <a:srgbClr val="1D243E"/>
                </a:solidFill>
                <a:latin typeface="Cambria"/>
                <a:ea typeface="Cambria"/>
              </a:rPr>
              <a:t>The total aggregate dollar exposure across the lenders must be greater than 30 million</a:t>
            </a:r>
          </a:p>
          <a:p>
            <a:endParaRPr lang="en-US" sz="1600" dirty="0">
              <a:solidFill>
                <a:srgbClr val="1D243E"/>
              </a:solidFill>
              <a:latin typeface="Cambria"/>
              <a:ea typeface="Cambria"/>
            </a:endParaRPr>
          </a:p>
          <a:p>
            <a:r>
              <a:rPr lang="en-US" sz="1600" dirty="0">
                <a:solidFill>
                  <a:srgbClr val="1D243E"/>
                </a:solidFill>
                <a:latin typeface="Cambria"/>
                <a:ea typeface="Cambria"/>
              </a:rPr>
              <a:t>Top 5</a:t>
            </a:r>
          </a:p>
          <a:p>
            <a:endParaRPr lang="en-US" sz="1600" dirty="0">
              <a:solidFill>
                <a:srgbClr val="1D243E"/>
              </a:solidFill>
              <a:latin typeface="Cambria"/>
              <a:ea typeface="Cambria"/>
            </a:endParaRPr>
          </a:p>
          <a:p>
            <a:r>
              <a:rPr lang="en-US" sz="1600" dirty="0">
                <a:solidFill>
                  <a:srgbClr val="1D243E"/>
                </a:solidFill>
                <a:latin typeface="Cambria"/>
                <a:ea typeface="Cambria"/>
              </a:rPr>
              <a:t>Interesting Finding: Negative Valuation</a:t>
            </a:r>
          </a:p>
          <a:p>
            <a:endParaRPr lang="en-US" sz="1600" dirty="0">
              <a:solidFill>
                <a:srgbClr val="1D243E"/>
              </a:solidFill>
              <a:latin typeface="Cambria"/>
              <a:ea typeface="Cambria"/>
            </a:endParaRPr>
          </a:p>
          <a:p>
            <a:r>
              <a:rPr lang="en-US" sz="1600" dirty="0">
                <a:solidFill>
                  <a:srgbClr val="1D243E"/>
                </a:solidFill>
                <a:latin typeface="Cambria"/>
                <a:ea typeface="Cambria"/>
              </a:rPr>
              <a:t>Assumption: </a:t>
            </a:r>
            <a:r>
              <a:rPr lang="en-US" sz="1600" dirty="0">
                <a:latin typeface="Cambria"/>
                <a:ea typeface="Cambria"/>
              </a:rPr>
              <a:t>Occurs when a lender hasn't handed over any cash, but is legally locked into a contract to lend money to a struggling company (becomes liability)</a:t>
            </a:r>
            <a:endParaRPr lang="en-US" sz="1600" dirty="0">
              <a:solidFill>
                <a:srgbClr val="1D243E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558924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9"/>
        </a:solidFill>
        <a:effectLst/>
      </p:bgPr>
    </p:bg>
    <p:spTree>
      <p:nvGrpSpPr>
        <p:cNvPr id="1" name="Shape 232">
          <a:extLst>
            <a:ext uri="{FF2B5EF4-FFF2-40B4-BE49-F238E27FC236}">
              <a16:creationId xmlns:a16="http://schemas.microsoft.com/office/drawing/2014/main" id="{0A61CC28-C2A6-D341-9B9F-B0F9F0A19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g3f8d79f6689_0_40" descr="assets/seal.png">
            <a:extLst>
              <a:ext uri="{FF2B5EF4-FFF2-40B4-BE49-F238E27FC236}">
                <a16:creationId xmlns:a16="http://schemas.microsoft.com/office/drawing/2014/main" id="{52C171E4-133E-FF45-AC9A-352F61DD9FD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4" name="Google Shape;234;g3f8d79f6689_0_40">
            <a:extLst>
              <a:ext uri="{FF2B5EF4-FFF2-40B4-BE49-F238E27FC236}">
                <a16:creationId xmlns:a16="http://schemas.microsoft.com/office/drawing/2014/main" id="{6E78E052-9ED6-A262-FAA7-2E45267B520E}"/>
              </a:ext>
            </a:extLst>
          </p:cNvPr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w="9525" cap="flat" cmpd="sng">
            <a:solidFill>
              <a:srgbClr val="7C808B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35" name="Google Shape;235;g3f8d79f6689_0_40" descr="assets/mlogo.png">
            <a:extLst>
              <a:ext uri="{FF2B5EF4-FFF2-40B4-BE49-F238E27FC236}">
                <a16:creationId xmlns:a16="http://schemas.microsoft.com/office/drawing/2014/main" id="{3A955C21-31BB-AFC9-D5C2-E65DFF83A7B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g3f8d79f6689_0_40">
            <a:extLst>
              <a:ext uri="{FF2B5EF4-FFF2-40B4-BE49-F238E27FC236}">
                <a16:creationId xmlns:a16="http://schemas.microsoft.com/office/drawing/2014/main" id="{70E31B4A-DAA3-2C6F-51DE-A67805B55528}"/>
              </a:ext>
            </a:extLst>
          </p:cNvPr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lang="en-US" sz="9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sz="9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f8d79f6689_0_40">
            <a:extLst>
              <a:ext uri="{FF2B5EF4-FFF2-40B4-BE49-F238E27FC236}">
                <a16:creationId xmlns:a16="http://schemas.microsoft.com/office/drawing/2014/main" id="{9E175CC1-1A4D-85A7-C78F-FC3F5B9D80D5}"/>
              </a:ext>
            </a:extLst>
          </p:cNvPr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lang="en-US" sz="6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sz="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238;g3f8d79f6689_0_40">
            <a:extLst>
              <a:ext uri="{FF2B5EF4-FFF2-40B4-BE49-F238E27FC236}">
                <a16:creationId xmlns:a16="http://schemas.microsoft.com/office/drawing/2014/main" id="{254172F8-7E47-A2D0-D3AC-C85A9ADBF65F}"/>
              </a:ext>
            </a:extLst>
          </p:cNvPr>
          <p:cNvSpPr txBox="1"/>
          <p:nvPr/>
        </p:nvSpPr>
        <p:spPr>
          <a:xfrm>
            <a:off x="685800" y="658375"/>
            <a:ext cx="9063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4000" b="1" dirty="0">
                <a:solidFill>
                  <a:srgbClr val="1D243E"/>
                </a:solidFill>
                <a:latin typeface="Saira"/>
                <a:sym typeface="Saira"/>
              </a:rPr>
              <a:t>More Case Studies</a:t>
            </a:r>
          </a:p>
        </p:txBody>
      </p:sp>
      <p:pic>
        <p:nvPicPr>
          <p:cNvPr id="2" name="Picture 1" descr="A graph of a number of individuals&#10;&#10;AI-generated content may be incorrect.">
            <a:extLst>
              <a:ext uri="{FF2B5EF4-FFF2-40B4-BE49-F238E27FC236}">
                <a16:creationId xmlns:a16="http://schemas.microsoft.com/office/drawing/2014/main" id="{258C2B04-9077-A8C1-942F-3EA85C920A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038" y="1347788"/>
            <a:ext cx="9058275" cy="53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106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9"/>
        </a:solidFill>
        <a:effectLst/>
      </p:bgPr>
    </p:bg>
    <p:spTree>
      <p:nvGrpSpPr>
        <p:cNvPr id="1" name="Shape 232">
          <a:extLst>
            <a:ext uri="{FF2B5EF4-FFF2-40B4-BE49-F238E27FC236}">
              <a16:creationId xmlns:a16="http://schemas.microsoft.com/office/drawing/2014/main" id="{6FFAD889-12D7-BE80-0D35-7CA437FEB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g3f8d79f6689_0_40" descr="assets/seal.png">
            <a:extLst>
              <a:ext uri="{FF2B5EF4-FFF2-40B4-BE49-F238E27FC236}">
                <a16:creationId xmlns:a16="http://schemas.microsoft.com/office/drawing/2014/main" id="{AFE8E3C5-5987-C341-9C59-E1C21DE2DFE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4" name="Google Shape;234;g3f8d79f6689_0_40">
            <a:extLst>
              <a:ext uri="{FF2B5EF4-FFF2-40B4-BE49-F238E27FC236}">
                <a16:creationId xmlns:a16="http://schemas.microsoft.com/office/drawing/2014/main" id="{88305E4C-9918-49F3-343E-0DAF66FF21AD}"/>
              </a:ext>
            </a:extLst>
          </p:cNvPr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w="9525" cap="flat" cmpd="sng">
            <a:solidFill>
              <a:srgbClr val="7C808B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35" name="Google Shape;235;g3f8d79f6689_0_40" descr="assets/mlogo.png">
            <a:extLst>
              <a:ext uri="{FF2B5EF4-FFF2-40B4-BE49-F238E27FC236}">
                <a16:creationId xmlns:a16="http://schemas.microsoft.com/office/drawing/2014/main" id="{265040F8-C7F3-A4BC-58F2-A6ED16EC704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g3f8d79f6689_0_40">
            <a:extLst>
              <a:ext uri="{FF2B5EF4-FFF2-40B4-BE49-F238E27FC236}">
                <a16:creationId xmlns:a16="http://schemas.microsoft.com/office/drawing/2014/main" id="{A775ABCC-ADFA-A026-7CAF-0D08FCF4B88D}"/>
              </a:ext>
            </a:extLst>
          </p:cNvPr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lang="en-US" sz="9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sz="9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f8d79f6689_0_40">
            <a:extLst>
              <a:ext uri="{FF2B5EF4-FFF2-40B4-BE49-F238E27FC236}">
                <a16:creationId xmlns:a16="http://schemas.microsoft.com/office/drawing/2014/main" id="{18C99256-5C9D-7A25-74AF-965D591171DF}"/>
              </a:ext>
            </a:extLst>
          </p:cNvPr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lang="en-US" sz="6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sz="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238;g3f8d79f6689_0_40">
            <a:extLst>
              <a:ext uri="{FF2B5EF4-FFF2-40B4-BE49-F238E27FC236}">
                <a16:creationId xmlns:a16="http://schemas.microsoft.com/office/drawing/2014/main" id="{5253BF27-E6E5-5778-11B8-76C2CEEB1756}"/>
              </a:ext>
            </a:extLst>
          </p:cNvPr>
          <p:cNvSpPr txBox="1"/>
          <p:nvPr/>
        </p:nvSpPr>
        <p:spPr>
          <a:xfrm>
            <a:off x="685800" y="658375"/>
            <a:ext cx="9063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4000" b="1" dirty="0">
                <a:solidFill>
                  <a:srgbClr val="1D243E"/>
                </a:solidFill>
                <a:latin typeface="Saira"/>
                <a:sym typeface="Saira"/>
              </a:rPr>
              <a:t>More Case Studies</a:t>
            </a:r>
          </a:p>
        </p:txBody>
      </p:sp>
      <p:pic>
        <p:nvPicPr>
          <p:cNvPr id="4" name="Picture 3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65359AAE-5393-16F4-9B1B-A368DD8805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038" y="1347788"/>
            <a:ext cx="9058275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217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9"/>
        </a:solidFill>
        <a:effectLst/>
      </p:bgPr>
    </p:bg>
    <p:spTree>
      <p:nvGrpSpPr>
        <p:cNvPr id="1" name="Shape 232">
          <a:extLst>
            <a:ext uri="{FF2B5EF4-FFF2-40B4-BE49-F238E27FC236}">
              <a16:creationId xmlns:a16="http://schemas.microsoft.com/office/drawing/2014/main" id="{21C08181-728C-4D59-DBDD-D1EC7A6E0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g3f8d79f6689_0_40" descr="assets/seal.png">
            <a:extLst>
              <a:ext uri="{FF2B5EF4-FFF2-40B4-BE49-F238E27FC236}">
                <a16:creationId xmlns:a16="http://schemas.microsoft.com/office/drawing/2014/main" id="{F3D3F4B5-54CF-27A2-83BB-43EC0DA1ACA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4" name="Google Shape;234;g3f8d79f6689_0_40">
            <a:extLst>
              <a:ext uri="{FF2B5EF4-FFF2-40B4-BE49-F238E27FC236}">
                <a16:creationId xmlns:a16="http://schemas.microsoft.com/office/drawing/2014/main" id="{D6607F75-2AD7-A772-8FC0-6D0471F9A235}"/>
              </a:ext>
            </a:extLst>
          </p:cNvPr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w="9525" cap="flat" cmpd="sng">
            <a:solidFill>
              <a:srgbClr val="7C808B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35" name="Google Shape;235;g3f8d79f6689_0_40" descr="assets/mlogo.png">
            <a:extLst>
              <a:ext uri="{FF2B5EF4-FFF2-40B4-BE49-F238E27FC236}">
                <a16:creationId xmlns:a16="http://schemas.microsoft.com/office/drawing/2014/main" id="{5B138536-247C-E06E-87C1-E706BE240E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g3f8d79f6689_0_40">
            <a:extLst>
              <a:ext uri="{FF2B5EF4-FFF2-40B4-BE49-F238E27FC236}">
                <a16:creationId xmlns:a16="http://schemas.microsoft.com/office/drawing/2014/main" id="{79504B21-1E3E-139B-6468-824279E538EE}"/>
              </a:ext>
            </a:extLst>
          </p:cNvPr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lang="en-US" sz="920" b="0" i="0" u="none" strike="noStrike" cap="none" dirty="0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sz="92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f8d79f6689_0_40">
            <a:extLst>
              <a:ext uri="{FF2B5EF4-FFF2-40B4-BE49-F238E27FC236}">
                <a16:creationId xmlns:a16="http://schemas.microsoft.com/office/drawing/2014/main" id="{4CA521CC-30BF-E95C-C8FF-86E7B78ADD02}"/>
              </a:ext>
            </a:extLst>
          </p:cNvPr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lang="en-US" sz="620" b="0" i="0" u="none" strike="noStrike" cap="none" dirty="0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sz="62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238;g3f8d79f6689_0_40">
            <a:extLst>
              <a:ext uri="{FF2B5EF4-FFF2-40B4-BE49-F238E27FC236}">
                <a16:creationId xmlns:a16="http://schemas.microsoft.com/office/drawing/2014/main" id="{D04BABA1-19C9-C163-3621-2375DAA6D9F5}"/>
              </a:ext>
            </a:extLst>
          </p:cNvPr>
          <p:cNvSpPr txBox="1"/>
          <p:nvPr/>
        </p:nvSpPr>
        <p:spPr>
          <a:xfrm>
            <a:off x="685800" y="658375"/>
            <a:ext cx="9063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4000" b="1" dirty="0">
                <a:solidFill>
                  <a:srgbClr val="1D243E"/>
                </a:solidFill>
                <a:latin typeface="Saira"/>
                <a:sym typeface="Saira"/>
              </a:rPr>
              <a:t>More Case Studies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5E5700-66FB-E08C-384B-D5021DC34F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262063"/>
            <a:ext cx="9124950" cy="538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781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9"/>
        </a:solidFill>
        <a:effectLst/>
      </p:bgPr>
    </p:bg>
    <p:spTree>
      <p:nvGrpSpPr>
        <p:cNvPr id="1" name="Shape 232">
          <a:extLst>
            <a:ext uri="{FF2B5EF4-FFF2-40B4-BE49-F238E27FC236}">
              <a16:creationId xmlns:a16="http://schemas.microsoft.com/office/drawing/2014/main" id="{83EDFA98-B774-6602-6FF5-1371A0A3A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g3f8d79f6689_0_40" descr="assets/seal.png">
            <a:extLst>
              <a:ext uri="{FF2B5EF4-FFF2-40B4-BE49-F238E27FC236}">
                <a16:creationId xmlns:a16="http://schemas.microsoft.com/office/drawing/2014/main" id="{BCE26069-71D0-D8E4-FA97-BE34488D78D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4" name="Google Shape;234;g3f8d79f6689_0_40">
            <a:extLst>
              <a:ext uri="{FF2B5EF4-FFF2-40B4-BE49-F238E27FC236}">
                <a16:creationId xmlns:a16="http://schemas.microsoft.com/office/drawing/2014/main" id="{F85923AE-A924-A063-933E-C3365B25EF38}"/>
              </a:ext>
            </a:extLst>
          </p:cNvPr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w="9525" cap="flat" cmpd="sng">
            <a:solidFill>
              <a:srgbClr val="7C808B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35" name="Google Shape;235;g3f8d79f6689_0_40" descr="assets/mlogo.png">
            <a:extLst>
              <a:ext uri="{FF2B5EF4-FFF2-40B4-BE49-F238E27FC236}">
                <a16:creationId xmlns:a16="http://schemas.microsoft.com/office/drawing/2014/main" id="{437C5354-F4FE-899F-91EE-52201046974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g3f8d79f6689_0_40">
            <a:extLst>
              <a:ext uri="{FF2B5EF4-FFF2-40B4-BE49-F238E27FC236}">
                <a16:creationId xmlns:a16="http://schemas.microsoft.com/office/drawing/2014/main" id="{F09487A2-620F-9737-9A4E-33F1E4C3D6A2}"/>
              </a:ext>
            </a:extLst>
          </p:cNvPr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lang="en-US" sz="9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sz="9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f8d79f6689_0_40">
            <a:extLst>
              <a:ext uri="{FF2B5EF4-FFF2-40B4-BE49-F238E27FC236}">
                <a16:creationId xmlns:a16="http://schemas.microsoft.com/office/drawing/2014/main" id="{ABE0D1FE-CA1F-CF27-F2A0-090541582DEF}"/>
              </a:ext>
            </a:extLst>
          </p:cNvPr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lang="en-US" sz="6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sz="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238;g3f8d79f6689_0_40">
            <a:extLst>
              <a:ext uri="{FF2B5EF4-FFF2-40B4-BE49-F238E27FC236}">
                <a16:creationId xmlns:a16="http://schemas.microsoft.com/office/drawing/2014/main" id="{D76A850D-55C0-35D0-9594-1898E4CA46E1}"/>
              </a:ext>
            </a:extLst>
          </p:cNvPr>
          <p:cNvSpPr txBox="1"/>
          <p:nvPr/>
        </p:nvSpPr>
        <p:spPr>
          <a:xfrm>
            <a:off x="685800" y="658375"/>
            <a:ext cx="9063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4000" b="1" dirty="0">
                <a:solidFill>
                  <a:srgbClr val="1D243E"/>
                </a:solidFill>
                <a:latin typeface="Saira"/>
                <a:sym typeface="Saira"/>
              </a:rPr>
              <a:t>More Case Studies</a:t>
            </a:r>
          </a:p>
        </p:txBody>
      </p:sp>
      <p:pic>
        <p:nvPicPr>
          <p:cNvPr id="4" name="Picture 3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4BE4C065-7EF8-B517-2DE2-0363F028A1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038" y="1343025"/>
            <a:ext cx="8953500" cy="53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535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9"/>
        </a:solidFill>
        <a:effectLst/>
      </p:bgPr>
    </p:bg>
    <p:spTree>
      <p:nvGrpSpPr>
        <p:cNvPr id="1" name="Shape 232">
          <a:extLst>
            <a:ext uri="{FF2B5EF4-FFF2-40B4-BE49-F238E27FC236}">
              <a16:creationId xmlns:a16="http://schemas.microsoft.com/office/drawing/2014/main" id="{4D894485-8B8C-EBD4-4D0E-65C8BB499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g3f8d79f6689_0_40" descr="assets/seal.png">
            <a:extLst>
              <a:ext uri="{FF2B5EF4-FFF2-40B4-BE49-F238E27FC236}">
                <a16:creationId xmlns:a16="http://schemas.microsoft.com/office/drawing/2014/main" id="{33E0FF37-1F5A-7357-00C7-D88C025DEC4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4" name="Google Shape;234;g3f8d79f6689_0_40">
            <a:extLst>
              <a:ext uri="{FF2B5EF4-FFF2-40B4-BE49-F238E27FC236}">
                <a16:creationId xmlns:a16="http://schemas.microsoft.com/office/drawing/2014/main" id="{9DF0F418-0994-BD8C-E5DE-45BEE54A65F8}"/>
              </a:ext>
            </a:extLst>
          </p:cNvPr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w="9525" cap="flat" cmpd="sng">
            <a:solidFill>
              <a:srgbClr val="7C808B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35" name="Google Shape;235;g3f8d79f6689_0_40" descr="assets/mlogo.png">
            <a:extLst>
              <a:ext uri="{FF2B5EF4-FFF2-40B4-BE49-F238E27FC236}">
                <a16:creationId xmlns:a16="http://schemas.microsoft.com/office/drawing/2014/main" id="{343F16FE-FC57-37E2-7348-E77E476D331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g3f8d79f6689_0_40">
            <a:extLst>
              <a:ext uri="{FF2B5EF4-FFF2-40B4-BE49-F238E27FC236}">
                <a16:creationId xmlns:a16="http://schemas.microsoft.com/office/drawing/2014/main" id="{11132496-0360-DD79-1214-71EBE29530EA}"/>
              </a:ext>
            </a:extLst>
          </p:cNvPr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lang="en-US" sz="9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sz="9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f8d79f6689_0_40">
            <a:extLst>
              <a:ext uri="{FF2B5EF4-FFF2-40B4-BE49-F238E27FC236}">
                <a16:creationId xmlns:a16="http://schemas.microsoft.com/office/drawing/2014/main" id="{34C1354B-B0C2-DCED-3916-07CF91E68627}"/>
              </a:ext>
            </a:extLst>
          </p:cNvPr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lang="en-US" sz="6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sz="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238;g3f8d79f6689_0_40">
            <a:extLst>
              <a:ext uri="{FF2B5EF4-FFF2-40B4-BE49-F238E27FC236}">
                <a16:creationId xmlns:a16="http://schemas.microsoft.com/office/drawing/2014/main" id="{D6F29B76-7108-2142-F13D-5555EC94674C}"/>
              </a:ext>
            </a:extLst>
          </p:cNvPr>
          <p:cNvSpPr txBox="1"/>
          <p:nvPr/>
        </p:nvSpPr>
        <p:spPr>
          <a:xfrm>
            <a:off x="685800" y="658375"/>
            <a:ext cx="9063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4000" b="1" dirty="0">
                <a:solidFill>
                  <a:srgbClr val="1D243E"/>
                </a:solidFill>
                <a:latin typeface="Saira"/>
                <a:sym typeface="Saira"/>
              </a:rPr>
              <a:t>More Case Studies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64C9CD-2BB8-7D60-60EB-1401D22EB4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038" y="1262063"/>
            <a:ext cx="8963025" cy="536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7799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9"/>
        </a:solidFill>
        <a:effectLst/>
      </p:bgPr>
    </p:bg>
    <p:spTree>
      <p:nvGrpSpPr>
        <p:cNvPr id="1" name="Shape 57">
          <a:extLst>
            <a:ext uri="{FF2B5EF4-FFF2-40B4-BE49-F238E27FC236}">
              <a16:creationId xmlns:a16="http://schemas.microsoft.com/office/drawing/2014/main" id="{7F5331E1-2BFE-EC5D-0D0E-B486E4091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g3f8d79f6689_0_18" descr="assets/seal.png">
            <a:extLst>
              <a:ext uri="{FF2B5EF4-FFF2-40B4-BE49-F238E27FC236}">
                <a16:creationId xmlns:a16="http://schemas.microsoft.com/office/drawing/2014/main" id="{A9388582-7921-DCA2-C683-B3FF0EE1494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" name="Google Shape;59;g3f8d79f6689_0_18">
            <a:extLst>
              <a:ext uri="{FF2B5EF4-FFF2-40B4-BE49-F238E27FC236}">
                <a16:creationId xmlns:a16="http://schemas.microsoft.com/office/drawing/2014/main" id="{11AEEEA2-F926-0359-565A-A10238FB8E81}"/>
              </a:ext>
            </a:extLst>
          </p:cNvPr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w="9525" cap="flat" cmpd="sng">
            <a:solidFill>
              <a:srgbClr val="7C808B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60" name="Google Shape;60;g3f8d79f6689_0_18" descr="assets/mlogo.png">
            <a:extLst>
              <a:ext uri="{FF2B5EF4-FFF2-40B4-BE49-F238E27FC236}">
                <a16:creationId xmlns:a16="http://schemas.microsoft.com/office/drawing/2014/main" id="{09CFD74F-952F-4F15-419F-1EAD091A892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3f8d79f6689_0_18">
            <a:extLst>
              <a:ext uri="{FF2B5EF4-FFF2-40B4-BE49-F238E27FC236}">
                <a16:creationId xmlns:a16="http://schemas.microsoft.com/office/drawing/2014/main" id="{65AD379A-69E5-4CC0-8366-FDD79C80D84C}"/>
              </a:ext>
            </a:extLst>
          </p:cNvPr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lang="en-US" sz="9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sz="9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f8d79f6689_0_18">
            <a:extLst>
              <a:ext uri="{FF2B5EF4-FFF2-40B4-BE49-F238E27FC236}">
                <a16:creationId xmlns:a16="http://schemas.microsoft.com/office/drawing/2014/main" id="{E8548109-0AB6-5327-06F3-CEE17E71F044}"/>
              </a:ext>
            </a:extLst>
          </p:cNvPr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lang="en-US" sz="6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sz="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3f8d79f6689_0_18">
            <a:extLst>
              <a:ext uri="{FF2B5EF4-FFF2-40B4-BE49-F238E27FC236}">
                <a16:creationId xmlns:a16="http://schemas.microsoft.com/office/drawing/2014/main" id="{9DCA35CE-741B-0E3A-BE9B-CD3BE9140F83}"/>
              </a:ext>
            </a:extLst>
          </p:cNvPr>
          <p:cNvSpPr txBox="1"/>
          <p:nvPr/>
        </p:nvSpPr>
        <p:spPr>
          <a:xfrm>
            <a:off x="685800" y="650002"/>
            <a:ext cx="10536758" cy="694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4000" b="1" dirty="0">
                <a:solidFill>
                  <a:srgbClr val="1D243E"/>
                </a:solidFill>
                <a:latin typeface="Saira"/>
                <a:sym typeface="Saira"/>
              </a:rPr>
              <a:t>Subsector Analysis: Technology 2026Q1</a:t>
            </a:r>
            <a:endParaRPr lang="en-US" dirty="0"/>
          </a:p>
        </p:txBody>
      </p:sp>
      <p:sp>
        <p:nvSpPr>
          <p:cNvPr id="64" name="Google Shape;64;g3f8d79f6689_0_18">
            <a:extLst>
              <a:ext uri="{FF2B5EF4-FFF2-40B4-BE49-F238E27FC236}">
                <a16:creationId xmlns:a16="http://schemas.microsoft.com/office/drawing/2014/main" id="{2ED1395F-AFB0-3245-ECF7-B879B0E988A3}"/>
              </a:ext>
            </a:extLst>
          </p:cNvPr>
          <p:cNvSpPr txBox="1"/>
          <p:nvPr/>
        </p:nvSpPr>
        <p:spPr>
          <a:xfrm>
            <a:off x="687975" y="1345200"/>
            <a:ext cx="11087876" cy="4859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>
              <a:buChar char="•"/>
            </a:pPr>
            <a:r>
              <a:rPr lang="en-US" sz="2000" dirty="0">
                <a:solidFill>
                  <a:srgbClr val="1D243E"/>
                </a:solidFill>
                <a:latin typeface="Cambria"/>
                <a:ea typeface="Cambria"/>
              </a:rPr>
              <a:t>Price return: -2.86%</a:t>
            </a:r>
          </a:p>
          <a:p>
            <a:pPr marL="342900" indent="-342900">
              <a:buChar char="•"/>
            </a:pPr>
            <a:r>
              <a:rPr lang="en-US" sz="2000" dirty="0">
                <a:solidFill>
                  <a:srgbClr val="1D243E"/>
                </a:solidFill>
                <a:latin typeface="Cambria"/>
                <a:ea typeface="Cambria"/>
              </a:rPr>
              <a:t>Software was the main driver: Medallia, Solera, and Cornerstone OnDemand are the top negative contributors</a:t>
            </a:r>
          </a:p>
          <a:p>
            <a:pPr marL="342900" indent="-342900">
              <a:buChar char="•"/>
            </a:pPr>
            <a:r>
              <a:rPr lang="en-US" sz="2000" dirty="0">
                <a:solidFill>
                  <a:srgbClr val="1D243E"/>
                </a:solidFill>
                <a:latin typeface="Cambria"/>
                <a:ea typeface="Cambria"/>
              </a:rPr>
              <a:t>Not highly concentrated: the top 5 negative contributors accounted for only 21.2% of gross negative contribution, while the top 10 accounted for 29.6%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8481C34-23EB-DD47-1B4C-3FA0ED5E12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1903706"/>
              </p:ext>
            </p:extLst>
          </p:nvPr>
        </p:nvGraphicFramePr>
        <p:xfrm>
          <a:off x="250698" y="2943225"/>
          <a:ext cx="11693694" cy="3688546"/>
        </p:xfrm>
        <a:graphic>
          <a:graphicData uri="http://schemas.openxmlformats.org/drawingml/2006/table">
            <a:tbl>
              <a:tblPr firstRow="1" bandRow="1">
                <a:tableStyleId>{04F8C4C1-8297-42D1-9A54-EEA6ACFCCACD}</a:tableStyleId>
              </a:tblPr>
              <a:tblGrid>
                <a:gridCol w="4424959">
                  <a:extLst>
                    <a:ext uri="{9D8B030D-6E8A-4147-A177-3AD203B41FA5}">
                      <a16:colId xmlns:a16="http://schemas.microsoft.com/office/drawing/2014/main" val="3395135990"/>
                    </a:ext>
                  </a:extLst>
                </a:gridCol>
                <a:gridCol w="1711845">
                  <a:extLst>
                    <a:ext uri="{9D8B030D-6E8A-4147-A177-3AD203B41FA5}">
                      <a16:colId xmlns:a16="http://schemas.microsoft.com/office/drawing/2014/main" val="3604482787"/>
                    </a:ext>
                  </a:extLst>
                </a:gridCol>
                <a:gridCol w="1246445">
                  <a:extLst>
                    <a:ext uri="{9D8B030D-6E8A-4147-A177-3AD203B41FA5}">
                      <a16:colId xmlns:a16="http://schemas.microsoft.com/office/drawing/2014/main" val="2023477965"/>
                    </a:ext>
                  </a:extLst>
                </a:gridCol>
                <a:gridCol w="1456390">
                  <a:extLst>
                    <a:ext uri="{9D8B030D-6E8A-4147-A177-3AD203B41FA5}">
                      <a16:colId xmlns:a16="http://schemas.microsoft.com/office/drawing/2014/main" val="1460135269"/>
                    </a:ext>
                  </a:extLst>
                </a:gridCol>
                <a:gridCol w="2854055">
                  <a:extLst>
                    <a:ext uri="{9D8B030D-6E8A-4147-A177-3AD203B41FA5}">
                      <a16:colId xmlns:a16="http://schemas.microsoft.com/office/drawing/2014/main" val="3667399"/>
                    </a:ext>
                  </a:extLst>
                </a:gridCol>
              </a:tblGrid>
              <a:tr h="43394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effectLst/>
                        </a:rPr>
                        <a:t>Borrower Name</a:t>
                      </a:r>
                      <a:endParaRPr lang="en-US" dirty="0" err="1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effectLst/>
                        </a:rPr>
                        <a:t>Negative Contribution</a:t>
                      </a:r>
                      <a:endParaRPr lang="en-US" dirty="0"/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effectLst/>
                        </a:rPr>
                        <a:t>Negative Share</a:t>
                      </a:r>
                      <a:endParaRPr lang="en-US" dirty="0" err="1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effectLst/>
                        </a:rPr>
                        <a:t>Cumulative Contribution</a:t>
                      </a:r>
                      <a:endParaRPr lang="en-US" dirty="0" err="1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effectLst/>
                        </a:rPr>
                        <a:t>Subsector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8059839"/>
                  </a:ext>
                </a:extLst>
              </a:tr>
              <a:tr h="2169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Medallia, Inc. 1 | Non-Affiliated Issuer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0.31%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10.28%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10.28%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Software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4658512"/>
                  </a:ext>
                </a:extLst>
              </a:tr>
              <a:tr h="4339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Barracuda Parent, LLC | Second lien senior secured loan | Non-Affiliated Issuer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0.09%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3.18%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13.45%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Cybersecurity / Networking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0548748"/>
                  </a:ext>
                </a:extLst>
              </a:tr>
              <a:tr h="2169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Medallia Inc | Software &amp; Services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0.09%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3.05%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16.50%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Software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9410774"/>
                  </a:ext>
                </a:extLst>
              </a:tr>
              <a:tr h="2169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Solera LLC | Software &amp; Services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0.07%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2.38%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18.88%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Software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6722857"/>
                  </a:ext>
                </a:extLst>
              </a:tr>
              <a:tr h="2169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Navigator Acquiror, Inc. | Non-Affiliated Issuer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0.07%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2.30%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21.19%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Unknown / Insufficient Information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5985490"/>
                  </a:ext>
                </a:extLst>
              </a:tr>
              <a:tr h="4339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Cornerstone OnDemand, Inc. | Second lien senior secured loan | Non-Affiliated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0.06%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1.88%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23.07%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Software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5927891"/>
                  </a:ext>
                </a:extLst>
              </a:tr>
              <a:tr h="4339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Cornerstone OnDemand, Inc. and Sunshine Software Holdings, Inc., Second lien senior secured loan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0.05%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1.83%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24.90%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Software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2818939"/>
                  </a:ext>
                </a:extLst>
              </a:tr>
              <a:tr h="2169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Medallia, Inc. 2 | Non-Affiliated Issuer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0.05%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1.78%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26.68%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Software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7967355"/>
                  </a:ext>
                </a:extLst>
              </a:tr>
              <a:tr h="4339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Cornerstone OnDemand, Inc. and Sunshine Software Holdings, Inc., First lien senior secured loan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0.05%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1.54%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28.22%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Software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3674987"/>
                  </a:ext>
                </a:extLst>
              </a:tr>
              <a:tr h="4339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Cornerstone OnDemand, Inc. | Second lien senior secured loan | Non-Affiliated Issuer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0.04%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1.35%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29.58%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Software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33944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66640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9"/>
        </a:solidFill>
        <a:effectLst/>
      </p:bgPr>
    </p:bg>
    <p:spTree>
      <p:nvGrpSpPr>
        <p:cNvPr id="1" name="Shape 57">
          <a:extLst>
            <a:ext uri="{FF2B5EF4-FFF2-40B4-BE49-F238E27FC236}">
              <a16:creationId xmlns:a16="http://schemas.microsoft.com/office/drawing/2014/main" id="{D483C99A-7CF2-F428-69EA-918F6BF22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g3f8d79f6689_0_18" descr="assets/seal.png">
            <a:extLst>
              <a:ext uri="{FF2B5EF4-FFF2-40B4-BE49-F238E27FC236}">
                <a16:creationId xmlns:a16="http://schemas.microsoft.com/office/drawing/2014/main" id="{C10FD75F-A7CE-D4F1-49DA-0FECFB88CFF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" name="Google Shape;59;g3f8d79f6689_0_18">
            <a:extLst>
              <a:ext uri="{FF2B5EF4-FFF2-40B4-BE49-F238E27FC236}">
                <a16:creationId xmlns:a16="http://schemas.microsoft.com/office/drawing/2014/main" id="{0ABC2B0C-2976-1262-0108-A3248EFBF61C}"/>
              </a:ext>
            </a:extLst>
          </p:cNvPr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w="9525" cap="flat" cmpd="sng">
            <a:solidFill>
              <a:srgbClr val="7C808B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60" name="Google Shape;60;g3f8d79f6689_0_18" descr="assets/mlogo.png">
            <a:extLst>
              <a:ext uri="{FF2B5EF4-FFF2-40B4-BE49-F238E27FC236}">
                <a16:creationId xmlns:a16="http://schemas.microsoft.com/office/drawing/2014/main" id="{CBD11718-B018-DF22-6F42-F3F9625B677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3f8d79f6689_0_18">
            <a:extLst>
              <a:ext uri="{FF2B5EF4-FFF2-40B4-BE49-F238E27FC236}">
                <a16:creationId xmlns:a16="http://schemas.microsoft.com/office/drawing/2014/main" id="{4F9E5D71-1DC5-9365-F54E-02DE525EF79D}"/>
              </a:ext>
            </a:extLst>
          </p:cNvPr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lang="en-US" sz="9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sz="9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f8d79f6689_0_18">
            <a:extLst>
              <a:ext uri="{FF2B5EF4-FFF2-40B4-BE49-F238E27FC236}">
                <a16:creationId xmlns:a16="http://schemas.microsoft.com/office/drawing/2014/main" id="{C375B6B4-FC4E-D400-D991-154552179C16}"/>
              </a:ext>
            </a:extLst>
          </p:cNvPr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lang="en-US" sz="6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sz="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3f8d79f6689_0_18">
            <a:extLst>
              <a:ext uri="{FF2B5EF4-FFF2-40B4-BE49-F238E27FC236}">
                <a16:creationId xmlns:a16="http://schemas.microsoft.com/office/drawing/2014/main" id="{EE48929C-7F39-A474-9568-21FB24D9FB82}"/>
              </a:ext>
            </a:extLst>
          </p:cNvPr>
          <p:cNvSpPr txBox="1"/>
          <p:nvPr/>
        </p:nvSpPr>
        <p:spPr>
          <a:xfrm>
            <a:off x="685800" y="650002"/>
            <a:ext cx="10536758" cy="694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4000" b="1" dirty="0">
                <a:solidFill>
                  <a:srgbClr val="1D243E"/>
                </a:solidFill>
                <a:latin typeface="Saira"/>
                <a:sym typeface="Saira"/>
              </a:rPr>
              <a:t>Subsector Analysis: Healthcare 2024Q3</a:t>
            </a:r>
            <a:endParaRPr lang="en-US" dirty="0"/>
          </a:p>
        </p:txBody>
      </p:sp>
      <p:sp>
        <p:nvSpPr>
          <p:cNvPr id="64" name="Google Shape;64;g3f8d79f6689_0_18">
            <a:extLst>
              <a:ext uri="{FF2B5EF4-FFF2-40B4-BE49-F238E27FC236}">
                <a16:creationId xmlns:a16="http://schemas.microsoft.com/office/drawing/2014/main" id="{A84374A3-86CA-E428-D173-9D6A7D21D8A9}"/>
              </a:ext>
            </a:extLst>
          </p:cNvPr>
          <p:cNvSpPr txBox="1"/>
          <p:nvPr/>
        </p:nvSpPr>
        <p:spPr>
          <a:xfrm>
            <a:off x="687975" y="1345200"/>
            <a:ext cx="11087876" cy="4859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>
              <a:buChar char="•"/>
            </a:pPr>
            <a:r>
              <a:rPr lang="en-US" sz="2000" dirty="0">
                <a:solidFill>
                  <a:srgbClr val="1D243E"/>
                </a:solidFill>
                <a:latin typeface="Cambria"/>
                <a:ea typeface="Cambria"/>
              </a:rPr>
              <a:t>Price return: -0.48%</a:t>
            </a:r>
          </a:p>
          <a:p>
            <a:pPr marL="342900" indent="-342900">
              <a:buChar char="•"/>
            </a:pPr>
            <a:r>
              <a:rPr lang="en-US" sz="2000" dirty="0">
                <a:solidFill>
                  <a:srgbClr val="1D243E"/>
                </a:solidFill>
                <a:latin typeface="Cambria"/>
                <a:ea typeface="Cambria"/>
              </a:rPr>
              <a:t>Highly concentrated: Miami Beach Medical Group has ~46.43% negative contribution</a:t>
            </a:r>
          </a:p>
          <a:p>
            <a:pPr marL="342900" indent="-342900">
              <a:buChar char="•"/>
            </a:pPr>
            <a:r>
              <a:rPr lang="en-US" sz="2000" dirty="0">
                <a:solidFill>
                  <a:srgbClr val="1D243E"/>
                </a:solidFill>
                <a:latin typeface="Cambria"/>
                <a:ea typeface="Cambria"/>
              </a:rPr>
              <a:t>Healthcare services is the main driver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BC0C53A-AF39-07A8-2B03-FC2D613BE2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496700"/>
              </p:ext>
            </p:extLst>
          </p:nvPr>
        </p:nvGraphicFramePr>
        <p:xfrm>
          <a:off x="174498" y="2364105"/>
          <a:ext cx="11854102" cy="4345571"/>
        </p:xfrm>
        <a:graphic>
          <a:graphicData uri="http://schemas.openxmlformats.org/drawingml/2006/table">
            <a:tbl>
              <a:tblPr firstRow="1" bandRow="1">
                <a:tableStyleId>{04F8C4C1-8297-42D1-9A54-EEA6ACFCCACD}</a:tableStyleId>
              </a:tblPr>
              <a:tblGrid>
                <a:gridCol w="4485659">
                  <a:extLst>
                    <a:ext uri="{9D8B030D-6E8A-4147-A177-3AD203B41FA5}">
                      <a16:colId xmlns:a16="http://schemas.microsoft.com/office/drawing/2014/main" val="3153889302"/>
                    </a:ext>
                  </a:extLst>
                </a:gridCol>
                <a:gridCol w="1735327">
                  <a:extLst>
                    <a:ext uri="{9D8B030D-6E8A-4147-A177-3AD203B41FA5}">
                      <a16:colId xmlns:a16="http://schemas.microsoft.com/office/drawing/2014/main" val="3484608665"/>
                    </a:ext>
                  </a:extLst>
                </a:gridCol>
                <a:gridCol w="1263544">
                  <a:extLst>
                    <a:ext uri="{9D8B030D-6E8A-4147-A177-3AD203B41FA5}">
                      <a16:colId xmlns:a16="http://schemas.microsoft.com/office/drawing/2014/main" val="2072263661"/>
                    </a:ext>
                  </a:extLst>
                </a:gridCol>
                <a:gridCol w="1476367">
                  <a:extLst>
                    <a:ext uri="{9D8B030D-6E8A-4147-A177-3AD203B41FA5}">
                      <a16:colId xmlns:a16="http://schemas.microsoft.com/office/drawing/2014/main" val="4167691855"/>
                    </a:ext>
                  </a:extLst>
                </a:gridCol>
                <a:gridCol w="2893205">
                  <a:extLst>
                    <a:ext uri="{9D8B030D-6E8A-4147-A177-3AD203B41FA5}">
                      <a16:colId xmlns:a16="http://schemas.microsoft.com/office/drawing/2014/main" val="1895977683"/>
                    </a:ext>
                  </a:extLst>
                </a:gridCol>
              </a:tblGrid>
              <a:tr h="22871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effectLst/>
                        </a:rPr>
                        <a:t>Borrower Name</a:t>
                      </a:r>
                      <a:endParaRPr lang="en-US" dirty="0" err="1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effectLst/>
                        </a:rPr>
                        <a:t>Negative Contribution</a:t>
                      </a:r>
                      <a:endParaRPr lang="en-US" dirty="0" err="1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effectLst/>
                        </a:rPr>
                        <a:t>Negative Share</a:t>
                      </a:r>
                      <a:endParaRPr lang="en-US" dirty="0" err="1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effectLst/>
                        </a:rPr>
                        <a:t>Cumulative Share</a:t>
                      </a:r>
                      <a:endParaRPr lang="en-US" dirty="0" err="1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Subsector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9407902"/>
                  </a:ext>
                </a:extLst>
              </a:tr>
              <a:tr h="4574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Miami Beach Medical Group LLC, Health Care Equipment &amp; Services 2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0.42%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43.99%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43.99%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Healthcare Services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824186"/>
                  </a:ext>
                </a:extLst>
              </a:tr>
              <a:tr h="4574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National Dentex Labs LLC (</a:t>
                      </a:r>
                      <a:r>
                        <a:rPr lang="en-US" dirty="0" err="1">
                          <a:effectLst/>
                        </a:rPr>
                        <a:t>fka</a:t>
                      </a:r>
                      <a:r>
                        <a:rPr lang="en-US" dirty="0">
                          <a:effectLst/>
                        </a:rPr>
                        <a:t> Barracuda Dental LLC), First lien senior secured loan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0.06%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6.71%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50.70%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Dental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1095137"/>
                  </a:ext>
                </a:extLst>
              </a:tr>
              <a:tr h="2287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 err="1">
                          <a:effectLst/>
                        </a:rPr>
                        <a:t>Covetrus</a:t>
                      </a:r>
                      <a:r>
                        <a:rPr lang="en-US" dirty="0">
                          <a:effectLst/>
                        </a:rPr>
                        <a:t>, Inc., Second lien senior secured loan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0.02%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2.50%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53.20%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Other Healthcare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4292284"/>
                  </a:ext>
                </a:extLst>
              </a:tr>
              <a:tr h="4574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Miami Beach Medical Group LLC, Health Care Equipment &amp; Services 3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0.02%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2.44%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55.65%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Healthcare Services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530197"/>
                  </a:ext>
                </a:extLst>
              </a:tr>
              <a:tr h="4574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Wellpath Holdings, Inc., Health Care Providers &amp; Services, Second Lien Term Loan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0.02%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1.80%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57.44%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Healthcare Services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2760241"/>
                  </a:ext>
                </a:extLst>
              </a:tr>
              <a:tr h="4574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Medical Solutions Holdings, Inc., Health Care Providers &amp; Services, Second Lien Term Loan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0.02%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1.75%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59.20%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Healthcare Services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6458045"/>
                  </a:ext>
                </a:extLst>
              </a:tr>
              <a:tr h="4574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 err="1">
                          <a:effectLst/>
                        </a:rPr>
                        <a:t>STATinMED</a:t>
                      </a:r>
                      <a:r>
                        <a:rPr lang="en-US" dirty="0">
                          <a:effectLst/>
                        </a:rPr>
                        <a:t>, LLC., Senior Secured First Lien Debt, 7/1/2027 Maturity, 1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0.01%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1.54%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60.74%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Unknown / Insufficient Information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741070"/>
                  </a:ext>
                </a:extLst>
              </a:tr>
              <a:tr h="2287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 err="1">
                          <a:effectLst/>
                        </a:rPr>
                        <a:t>PetVet</a:t>
                      </a:r>
                      <a:r>
                        <a:rPr lang="en-US" dirty="0">
                          <a:effectLst/>
                        </a:rPr>
                        <a:t> Care Centers, LLC, First lien senior secured loan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0.01%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1.49%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62.23%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Other Healthcare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190895"/>
                  </a:ext>
                </a:extLst>
              </a:tr>
              <a:tr h="4574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Wellpath Holdings, Inc., Health Care Providers &amp; Services, First Lien Term Loan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0.01%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1.48%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63.71%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Healthcare Services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9523077"/>
                  </a:ext>
                </a:extLst>
              </a:tr>
              <a:tr h="4574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Laboratories Bidco LLC and Laboratories Topco LLC, First lien senior secured loan 1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0.01%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1.35%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65.06%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Diagnostics / Labs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944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72579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9"/>
        </a:solidFill>
        <a:effectLst/>
      </p:bgPr>
    </p:bg>
    <p:spTree>
      <p:nvGrpSpPr>
        <p:cNvPr id="1" name="Shape 57">
          <a:extLst>
            <a:ext uri="{FF2B5EF4-FFF2-40B4-BE49-F238E27FC236}">
              <a16:creationId xmlns:a16="http://schemas.microsoft.com/office/drawing/2014/main" id="{24672F5A-C561-9FD8-1B5C-7B9AC036C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g3f8d79f6689_0_18" descr="assets/seal.png">
            <a:extLst>
              <a:ext uri="{FF2B5EF4-FFF2-40B4-BE49-F238E27FC236}">
                <a16:creationId xmlns:a16="http://schemas.microsoft.com/office/drawing/2014/main" id="{D75EE658-3C9A-467C-1477-A61BB582AF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54466" y="433426"/>
            <a:ext cx="254203" cy="254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" name="Google Shape;59;g3f8d79f6689_0_18">
            <a:extLst>
              <a:ext uri="{FF2B5EF4-FFF2-40B4-BE49-F238E27FC236}">
                <a16:creationId xmlns:a16="http://schemas.microsoft.com/office/drawing/2014/main" id="{7CC6487B-82FC-7755-0E1F-56DE186288C4}"/>
              </a:ext>
            </a:extLst>
          </p:cNvPr>
          <p:cNvCxnSpPr/>
          <p:nvPr/>
        </p:nvCxnSpPr>
        <p:spPr>
          <a:xfrm>
            <a:off x="9062618" y="437083"/>
            <a:ext cx="0" cy="252300"/>
          </a:xfrm>
          <a:prstGeom prst="straightConnector1">
            <a:avLst/>
          </a:prstGeom>
          <a:noFill/>
          <a:ln w="9525" cap="flat" cmpd="sng">
            <a:solidFill>
              <a:srgbClr val="7C808B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60" name="Google Shape;60;g3f8d79f6689_0_18" descr="assets/mlogo.png">
            <a:extLst>
              <a:ext uri="{FF2B5EF4-FFF2-40B4-BE49-F238E27FC236}">
                <a16:creationId xmlns:a16="http://schemas.microsoft.com/office/drawing/2014/main" id="{40D3AD0F-81CA-C9B1-99E8-A33803E2479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31198" y="43342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3f8d79f6689_0_18">
            <a:extLst>
              <a:ext uri="{FF2B5EF4-FFF2-40B4-BE49-F238E27FC236}">
                <a16:creationId xmlns:a16="http://schemas.microsoft.com/office/drawing/2014/main" id="{BBF24EF5-7620-F4DA-AC1D-A37186D5E666}"/>
              </a:ext>
            </a:extLst>
          </p:cNvPr>
          <p:cNvSpPr txBox="1"/>
          <p:nvPr/>
        </p:nvSpPr>
        <p:spPr>
          <a:xfrm>
            <a:off x="9425635" y="407822"/>
            <a:ext cx="23775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920"/>
              <a:buFont typeface="DM Sans"/>
              <a:buNone/>
            </a:pPr>
            <a:r>
              <a:rPr lang="en-US" sz="9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MARATHON ASSET MANAGEMENT</a:t>
            </a:r>
            <a:endParaRPr sz="9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f8d79f6689_0_18">
            <a:extLst>
              <a:ext uri="{FF2B5EF4-FFF2-40B4-BE49-F238E27FC236}">
                <a16:creationId xmlns:a16="http://schemas.microsoft.com/office/drawing/2014/main" id="{39F6E13D-3E80-FB1E-001C-2B5D77A4ED5F}"/>
              </a:ext>
            </a:extLst>
          </p:cNvPr>
          <p:cNvSpPr txBox="1"/>
          <p:nvPr/>
        </p:nvSpPr>
        <p:spPr>
          <a:xfrm>
            <a:off x="9425635" y="576072"/>
            <a:ext cx="23775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451"/>
              </a:buClr>
              <a:buSzPts val="620"/>
              <a:buFont typeface="DM Sans"/>
              <a:buNone/>
            </a:pPr>
            <a:r>
              <a:rPr lang="en-US" sz="620" b="0" i="0" u="none" strike="noStrike" cap="none">
                <a:solidFill>
                  <a:srgbClr val="404451"/>
                </a:solidFill>
                <a:latin typeface="DM Sans"/>
                <a:ea typeface="DM Sans"/>
                <a:cs typeface="DM Sans"/>
                <a:sym typeface="DM Sans"/>
              </a:rPr>
              <a:t>CORNELL CFEM CAPSTONE 2026</a:t>
            </a:r>
            <a:endParaRPr sz="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3f8d79f6689_0_18">
            <a:extLst>
              <a:ext uri="{FF2B5EF4-FFF2-40B4-BE49-F238E27FC236}">
                <a16:creationId xmlns:a16="http://schemas.microsoft.com/office/drawing/2014/main" id="{8A7A7591-3432-DBE5-9A59-622415BE2768}"/>
              </a:ext>
            </a:extLst>
          </p:cNvPr>
          <p:cNvSpPr txBox="1"/>
          <p:nvPr/>
        </p:nvSpPr>
        <p:spPr>
          <a:xfrm>
            <a:off x="685800" y="650002"/>
            <a:ext cx="10536758" cy="694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4000" b="1" dirty="0">
                <a:solidFill>
                  <a:srgbClr val="1D243E"/>
                </a:solidFill>
                <a:latin typeface="Saira"/>
                <a:sym typeface="Saira"/>
              </a:rPr>
              <a:t>Subsector Analysis: Financials 2026Q1</a:t>
            </a:r>
            <a:endParaRPr lang="en-US" dirty="0"/>
          </a:p>
        </p:txBody>
      </p:sp>
      <p:sp>
        <p:nvSpPr>
          <p:cNvPr id="64" name="Google Shape;64;g3f8d79f6689_0_18">
            <a:extLst>
              <a:ext uri="{FF2B5EF4-FFF2-40B4-BE49-F238E27FC236}">
                <a16:creationId xmlns:a16="http://schemas.microsoft.com/office/drawing/2014/main" id="{5AD69F6F-DD5C-0139-667C-2E01E5D21DA8}"/>
              </a:ext>
            </a:extLst>
          </p:cNvPr>
          <p:cNvSpPr txBox="1"/>
          <p:nvPr/>
        </p:nvSpPr>
        <p:spPr>
          <a:xfrm>
            <a:off x="687975" y="1345200"/>
            <a:ext cx="11097401" cy="1021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>
              <a:buChar char="•"/>
            </a:pPr>
            <a:r>
              <a:rPr lang="en-US" sz="2000" dirty="0">
                <a:solidFill>
                  <a:srgbClr val="1D243E"/>
                </a:solidFill>
                <a:latin typeface="Cambria"/>
                <a:ea typeface="Cambria"/>
              </a:rPr>
              <a:t>Price return: -0.96%</a:t>
            </a:r>
          </a:p>
          <a:p>
            <a:pPr marL="342900" indent="-342900">
              <a:buChar char="•"/>
            </a:pPr>
            <a:r>
              <a:rPr lang="en-US" sz="2000" dirty="0">
                <a:solidFill>
                  <a:srgbClr val="1D243E"/>
                </a:solidFill>
                <a:latin typeface="Cambria"/>
                <a:ea typeface="Cambria"/>
              </a:rPr>
              <a:t>Highly diffused: top 10 negative contributors only account for 18.14%</a:t>
            </a:r>
          </a:p>
          <a:p>
            <a:pPr marL="342900" indent="-342900">
              <a:buChar char="•"/>
            </a:pPr>
            <a:r>
              <a:rPr lang="en-US" sz="2000" dirty="0">
                <a:solidFill>
                  <a:srgbClr val="1D243E"/>
                </a:solidFill>
                <a:latin typeface="Cambria"/>
                <a:ea typeface="Cambria"/>
              </a:rPr>
              <a:t>Insurance and Asset Management led the top-ten mix, but each remained modest.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EE11B6F-E595-6378-FEDE-EAA5EBAF88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887623"/>
              </p:ext>
            </p:extLst>
          </p:nvPr>
        </p:nvGraphicFramePr>
        <p:xfrm>
          <a:off x="171450" y="2305050"/>
          <a:ext cx="11854126" cy="4388874"/>
        </p:xfrm>
        <a:graphic>
          <a:graphicData uri="http://schemas.openxmlformats.org/drawingml/2006/table">
            <a:tbl>
              <a:tblPr firstRow="1" bandRow="1">
                <a:tableStyleId>{04F8C4C1-8297-42D1-9A54-EEA6ACFCCACD}</a:tableStyleId>
              </a:tblPr>
              <a:tblGrid>
                <a:gridCol w="4485668">
                  <a:extLst>
                    <a:ext uri="{9D8B030D-6E8A-4147-A177-3AD203B41FA5}">
                      <a16:colId xmlns:a16="http://schemas.microsoft.com/office/drawing/2014/main" val="905124992"/>
                    </a:ext>
                  </a:extLst>
                </a:gridCol>
                <a:gridCol w="1735330">
                  <a:extLst>
                    <a:ext uri="{9D8B030D-6E8A-4147-A177-3AD203B41FA5}">
                      <a16:colId xmlns:a16="http://schemas.microsoft.com/office/drawing/2014/main" val="2601984366"/>
                    </a:ext>
                  </a:extLst>
                </a:gridCol>
                <a:gridCol w="1263546">
                  <a:extLst>
                    <a:ext uri="{9D8B030D-6E8A-4147-A177-3AD203B41FA5}">
                      <a16:colId xmlns:a16="http://schemas.microsoft.com/office/drawing/2014/main" val="4016522236"/>
                    </a:ext>
                  </a:extLst>
                </a:gridCol>
                <a:gridCol w="1476371">
                  <a:extLst>
                    <a:ext uri="{9D8B030D-6E8A-4147-A177-3AD203B41FA5}">
                      <a16:colId xmlns:a16="http://schemas.microsoft.com/office/drawing/2014/main" val="1020550625"/>
                    </a:ext>
                  </a:extLst>
                </a:gridCol>
                <a:gridCol w="2893211">
                  <a:extLst>
                    <a:ext uri="{9D8B030D-6E8A-4147-A177-3AD203B41FA5}">
                      <a16:colId xmlns:a16="http://schemas.microsoft.com/office/drawing/2014/main" val="3330374832"/>
                    </a:ext>
                  </a:extLst>
                </a:gridCol>
              </a:tblGrid>
              <a:tr h="25816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effectLst/>
                        </a:rPr>
                        <a:t>Borrower Name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effectLst/>
                        </a:rPr>
                        <a:t>Negative Contribution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effectLst/>
                        </a:rPr>
                        <a:t>Negative Share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>
                          <a:effectLst/>
                        </a:rPr>
                        <a:t>Cumulative Share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Subsector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962309"/>
                  </a:ext>
                </a:extLst>
              </a:tr>
              <a:tr h="5163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 err="1">
                          <a:effectLst/>
                        </a:rPr>
                        <a:t>Trucordia</a:t>
                      </a:r>
                      <a:r>
                        <a:rPr lang="en-US" dirty="0">
                          <a:effectLst/>
                        </a:rPr>
                        <a:t> Insurance Holdings, LLC | Second lien senior secured loan | Non-Affiliated Issuer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0.03%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2.94%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2.94%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Insurance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190137"/>
                  </a:ext>
                </a:extLst>
              </a:tr>
              <a:tr h="5163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RAD CLO 27, Ltd. - Subordinated Notes | Non-Affiliated Issuer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0.02%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2.39%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5.33%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Asset Management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5390980"/>
                  </a:ext>
                </a:extLst>
              </a:tr>
              <a:tr h="5163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Alera Group, Inc. | Second lien senior secured loan | Non-Affiliated Issuer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0.02%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2.37%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7.70%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Insurance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9320338"/>
                  </a:ext>
                </a:extLst>
              </a:tr>
              <a:tr h="2581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ANCHF 2025-19, </a:t>
                      </a:r>
                      <a:r>
                        <a:rPr lang="en-US" dirty="0" err="1">
                          <a:effectLst/>
                        </a:rPr>
                        <a:t>Collaterized</a:t>
                      </a:r>
                      <a:r>
                        <a:rPr lang="en-US" dirty="0">
                          <a:effectLst/>
                        </a:rPr>
                        <a:t> loan obligation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0.02%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2.00%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9.69%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Asset Management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6211966"/>
                  </a:ext>
                </a:extLst>
              </a:tr>
              <a:tr h="2581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CoreLogic, Inc. | Non-Affiliated Issuer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0.02%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1.74%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11.43%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Unknown / Insufficient Information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7348030"/>
                  </a:ext>
                </a:extLst>
              </a:tr>
              <a:tr h="2581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DIA Finance S.L.U. | Non-Affiliated Issuer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0.01%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1.40%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12.83%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Specialty Finance / Lending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8044008"/>
                  </a:ext>
                </a:extLst>
              </a:tr>
              <a:tr h="2581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MDPK 2025-75, </a:t>
                      </a:r>
                      <a:r>
                        <a:rPr lang="en-US" dirty="0" err="1">
                          <a:effectLst/>
                        </a:rPr>
                        <a:t>Collaterized</a:t>
                      </a:r>
                      <a:r>
                        <a:rPr lang="en-US" dirty="0">
                          <a:effectLst/>
                        </a:rPr>
                        <a:t> loan obligation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0.01%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1.38%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14.21%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Asset Management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0764102"/>
                  </a:ext>
                </a:extLst>
              </a:tr>
              <a:tr h="5163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 err="1">
                          <a:effectLst/>
                        </a:rPr>
                        <a:t>Trucordia</a:t>
                      </a:r>
                      <a:r>
                        <a:rPr lang="en-US" dirty="0">
                          <a:effectLst/>
                        </a:rPr>
                        <a:t> Insurance Holdings, LLC | First lien senior secured loan | Non-Affiliated Issuer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0.01%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1.35%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15.56%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Insurance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5109138"/>
                  </a:ext>
                </a:extLst>
              </a:tr>
              <a:tr h="5163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 err="1">
                          <a:effectLst/>
                        </a:rPr>
                        <a:t>Trucordia</a:t>
                      </a:r>
                      <a:r>
                        <a:rPr lang="en-US" dirty="0">
                          <a:effectLst/>
                        </a:rPr>
                        <a:t> Insurance Holdings, LLC | Second lien senior secured loan | Non-Affiliated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0.01%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1.31%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16.87%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Insurance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3394846"/>
                  </a:ext>
                </a:extLst>
              </a:tr>
              <a:tr h="5163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AQ Carver Buyer, Inc. (dba </a:t>
                      </a:r>
                      <a:r>
                        <a:rPr lang="en-US" dirty="0" err="1">
                          <a:effectLst/>
                        </a:rPr>
                        <a:t>CoAdvantage</a:t>
                      </a:r>
                      <a:r>
                        <a:rPr lang="en-US" dirty="0">
                          <a:effectLst/>
                        </a:rPr>
                        <a:t>) | First lien senior secured loan | Non-Affiliated Issuer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0.01%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1.27%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18.14%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Other Financials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6530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1741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19</Slides>
  <Notes>19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revision>225</cp:revision>
  <dcterms:created xsi:type="dcterms:W3CDTF">2026-09-02T01:49:34Z</dcterms:created>
  <dcterms:modified xsi:type="dcterms:W3CDTF">2026-09-17T03:11:57Z</dcterms:modified>
</cp:coreProperties>
</file>