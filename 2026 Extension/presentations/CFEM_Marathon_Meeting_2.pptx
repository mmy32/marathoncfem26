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12192000"/>
  <p:embeddedFontLst>
    <p:embeddedFont>
      <p:font typeface="Saira"/>
      <p:regular r:id="rId27"/>
      <p:bold r:id="rId28"/>
      <p:italic r:id="rId29"/>
      <p:boldItalic r:id="rId30"/>
    </p:embeddedFont>
    <p:embeddedFont>
      <p:font typeface="Saira ExtraLight"/>
      <p:regular r:id="rId31"/>
      <p:bold r:id="rId32"/>
      <p:italic r:id="rId33"/>
      <p:boldItalic r:id="rId34"/>
    </p:embeddedFont>
    <p:embeddedFont>
      <p:font typeface="DM Sans"/>
      <p:regular r:id="rId35"/>
      <p:bold r:id="rId36"/>
      <p:italic r:id="rId37"/>
      <p:boldItalic r:id="rId38"/>
    </p:embeddedFont>
    <p:embeddedFont>
      <p:font typeface="Saira Thin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hM46z0jtJTlExO2w9hi0lOu9rj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CD304C-B025-4309-8BCE-837958AB5780}">
  <a:tblStyle styleId="{7DCD304C-B025-4309-8BCE-837958AB57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airaThin-bold.fntdata"/><Relationship Id="rId20" Type="http://schemas.openxmlformats.org/officeDocument/2006/relationships/slide" Target="slides/slide15.xml"/><Relationship Id="rId42" Type="http://schemas.openxmlformats.org/officeDocument/2006/relationships/font" Target="fonts/SairaThin-boldItalic.fntdata"/><Relationship Id="rId41" Type="http://schemas.openxmlformats.org/officeDocument/2006/relationships/font" Target="fonts/SairaThin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Saira-bold.fntdata"/><Relationship Id="rId27" Type="http://schemas.openxmlformats.org/officeDocument/2006/relationships/font" Target="fonts/Sair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air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airaExtraLight-regular.fntdata"/><Relationship Id="rId30" Type="http://schemas.openxmlformats.org/officeDocument/2006/relationships/font" Target="fonts/Saira-boldItalic.fntdata"/><Relationship Id="rId11" Type="http://schemas.openxmlformats.org/officeDocument/2006/relationships/slide" Target="slides/slide6.xml"/><Relationship Id="rId33" Type="http://schemas.openxmlformats.org/officeDocument/2006/relationships/font" Target="fonts/SairaExtraLight-italic.fntdata"/><Relationship Id="rId10" Type="http://schemas.openxmlformats.org/officeDocument/2006/relationships/slide" Target="slides/slide5.xml"/><Relationship Id="rId32" Type="http://schemas.openxmlformats.org/officeDocument/2006/relationships/font" Target="fonts/SairaExtraLight-bold.fntdata"/><Relationship Id="rId13" Type="http://schemas.openxmlformats.org/officeDocument/2006/relationships/slide" Target="slides/slide8.xml"/><Relationship Id="rId35" Type="http://schemas.openxmlformats.org/officeDocument/2006/relationships/font" Target="fonts/DMSans-regular.fntdata"/><Relationship Id="rId12" Type="http://schemas.openxmlformats.org/officeDocument/2006/relationships/slide" Target="slides/slide7.xml"/><Relationship Id="rId34" Type="http://schemas.openxmlformats.org/officeDocument/2006/relationships/font" Target="fonts/SairaExtraLight-boldItalic.fntdata"/><Relationship Id="rId15" Type="http://schemas.openxmlformats.org/officeDocument/2006/relationships/slide" Target="slides/slide10.xml"/><Relationship Id="rId37" Type="http://schemas.openxmlformats.org/officeDocument/2006/relationships/font" Target="fonts/DMSans-italic.fntdata"/><Relationship Id="rId14" Type="http://schemas.openxmlformats.org/officeDocument/2006/relationships/slide" Target="slides/slide9.xml"/><Relationship Id="rId36" Type="http://schemas.openxmlformats.org/officeDocument/2006/relationships/font" Target="fonts/DMSans-bold.fntdata"/><Relationship Id="rId17" Type="http://schemas.openxmlformats.org/officeDocument/2006/relationships/slide" Target="slides/slide12.xml"/><Relationship Id="rId39" Type="http://schemas.openxmlformats.org/officeDocument/2006/relationships/font" Target="fonts/SairaThin-regular.fntdata"/><Relationship Id="rId16" Type="http://schemas.openxmlformats.org/officeDocument/2006/relationships/slide" Target="slides/slide11.xml"/><Relationship Id="rId38" Type="http://schemas.openxmlformats.org/officeDocument/2006/relationships/font" Target="fonts/DM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a60c7c3ca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g3fa60c7c3ca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fa60c7c3ca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a60c7c3ca_0_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g3fa60c7c3ca_0_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fa60c7c3ca_0_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a60c7c3ca_0_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g3fa60c7c3ca_0_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fa60c7c3ca_0_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a60c7c3ca_0_7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g3fa60c7c3ca_0_7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fa60c7c3ca_0_7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a60c7c3ca_0_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g3fa60c7c3ca_0_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fa60c7c3ca_0_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a60c7c3ca_0_8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g3fa60c7c3ca_0_8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fa60c7c3ca_0_8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a60c7c3ca_0_1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g3fa60c7c3ca_0_1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fa60c7c3ca_0_1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a60c7c3ca_0_1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g3fa60c7c3ca_0_1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fa60c7c3ca_0_1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a80b84933_0_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g3fa80b84933_0_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fa80b84933_0_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a80b84933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g3fa80b84933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a80b84933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a80b84933_0_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g3fa80b84933_0_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fa80b84933_0_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a80b84933_0_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g3fa80b84933_0_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fa80b84933_0_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a80b84933_1_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g3fa80b84933_1_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fa80b84933_1_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a90a6371b_0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g3fa90a6371b_0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fa90a6371b_0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2" name="Google Shape;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692201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3;p1"/>
          <p:cNvCxnSpPr/>
          <p:nvPr/>
        </p:nvCxnSpPr>
        <p:spPr>
          <a:xfrm>
            <a:off x="993953" y="695858"/>
            <a:ext cx="0" cy="252374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4" name="Google Shape;1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2533" y="69220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/>
        </p:nvSpPr>
        <p:spPr>
          <a:xfrm>
            <a:off x="1356970" y="66659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1356970" y="834847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685800" y="1810500"/>
            <a:ext cx="110766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43E"/>
              </a:buClr>
              <a:buSzPts val="7000"/>
              <a:buFont typeface="Saira"/>
              <a:buNone/>
            </a:pPr>
            <a:r>
              <a:rPr b="1" lang="en-US" sz="70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Marathon Project Meeting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685800" y="3054096"/>
            <a:ext cx="10972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4487B8"/>
              </a:buClr>
              <a:buSzPts val="3470"/>
              <a:buFont typeface="DM Sans"/>
              <a:buNone/>
            </a:pPr>
            <a:r>
              <a:rPr b="1" i="0" lang="en-US" sz="3470" u="none" cap="none" strike="noStrike">
                <a:solidFill>
                  <a:srgbClr val="4487B8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b="1" lang="en-US" sz="3470">
                <a:solidFill>
                  <a:srgbClr val="4487B8"/>
                </a:solidFill>
                <a:latin typeface="DM Sans"/>
                <a:ea typeface="DM Sans"/>
                <a:cs typeface="DM Sans"/>
                <a:sym typeface="DM Sans"/>
              </a:rPr>
              <a:t>ipeline Review &amp; Subindex Construction</a:t>
            </a:r>
            <a:endParaRPr b="0" i="0" sz="34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685800" y="5486400"/>
            <a:ext cx="6858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b="0" i="0" lang="en-US" sz="133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SPONSOR: </a:t>
            </a:r>
            <a:r>
              <a:rPr lang="en-US" sz="1330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Jason Foster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b="0" i="0" lang="en-US" sz="133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ADVISOR: </a:t>
            </a:r>
            <a:r>
              <a:rPr lang="en-US" sz="1330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Sasha Stoikov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b="0" i="0" lang="en-US" sz="133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TEAM: </a:t>
            </a:r>
            <a:r>
              <a:rPr lang="en-US" sz="1330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Alex Lee, Max Yap, Minxi Lin, Yung Lee, Olivia Mei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b="0" i="0" lang="en-US" sz="133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DATE: </a:t>
            </a:r>
            <a:r>
              <a:rPr lang="en-US" sz="1330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September 10, 2026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25" name="Google Shape;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5"/>
          <p:cNvCxnSpPr/>
          <p:nvPr/>
        </p:nvCxnSpPr>
        <p:spPr>
          <a:xfrm>
            <a:off x="9062618" y="437083"/>
            <a:ext cx="0" cy="252374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27" name="Google Shape;2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Introduction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 txBox="1"/>
          <p:nvPr/>
        </p:nvSpPr>
        <p:spPr>
          <a:xfrm>
            <a:off x="685800" y="1472565"/>
            <a:ext cx="1078992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N-54A/N-54C filings establish who belongs in the BDC universe and when</a:t>
            </a:r>
            <a:endParaRPr b="1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They provide the CIKs used to retrieve each BDC’s periodic financial disclosures.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10-K/10-Q filings contain the BDC’s investment schedule: its reported positions, loan terms, and valuations.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AI-generated content may be incorrect." id="32" name="Google Shape;3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1538" y="2524125"/>
            <a:ext cx="4000500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33" name="Google Shape;3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7388" y="2538413"/>
            <a:ext cx="5057775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39" name="Google Shape;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p20"/>
          <p:cNvCxnSpPr/>
          <p:nvPr/>
        </p:nvCxnSpPr>
        <p:spPr>
          <a:xfrm>
            <a:off x="9062618" y="437083"/>
            <a:ext cx="0" cy="252374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41" name="Google Shape;4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0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0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0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Data Example</a:t>
            </a:r>
            <a:endParaRPr/>
          </a:p>
        </p:txBody>
      </p:sp>
      <p:pic>
        <p:nvPicPr>
          <p:cNvPr descr="A screenshot of a report&#10;&#10;AI-generated content may be incorrect." id="45" name="Google Shape;4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038" y="1452563"/>
            <a:ext cx="801052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6"/>
          <p:cNvCxnSpPr/>
          <p:nvPr/>
        </p:nvCxnSpPr>
        <p:spPr>
          <a:xfrm>
            <a:off x="9062618" y="437083"/>
            <a:ext cx="0" cy="252374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53" name="Google Shape;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Data Example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black screen&#10;&#10;AI-generated content may be incorrect." id="57" name="Google Shape;5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2245060"/>
            <a:ext cx="12192000" cy="2196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63" name="Google Shape;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7"/>
          <p:cNvCxnSpPr/>
          <p:nvPr/>
        </p:nvCxnSpPr>
        <p:spPr>
          <a:xfrm>
            <a:off x="9062618" y="437083"/>
            <a:ext cx="0" cy="252374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65" name="Google Shape;6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Data Example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685800" y="1472565"/>
            <a:ext cx="1078992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Maturity Date is often not available -&gt; difficult to do Bond DCF and duration analysis (~73% missing)</a:t>
            </a:r>
            <a:endParaRPr/>
          </a:p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But does not prevent index construction, can still use the BDC's reported fair value</a:t>
            </a:r>
            <a:endParaRPr/>
          </a:p>
        </p:txBody>
      </p:sp>
      <p:pic>
        <p:nvPicPr>
          <p:cNvPr descr="A screenshot of a graph&#10;&#10;AI-generated content may be incorrect." id="70" name="Google Shape;7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2191940"/>
            <a:ext cx="8201025" cy="2302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76" name="Google Shape;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8"/>
          <p:cNvCxnSpPr/>
          <p:nvPr/>
        </p:nvCxnSpPr>
        <p:spPr>
          <a:xfrm>
            <a:off x="9062618" y="437083"/>
            <a:ext cx="0" cy="252374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78" name="Google Shape;7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Case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 txBox="1"/>
          <p:nvPr/>
        </p:nvSpPr>
        <p:spPr>
          <a:xfrm>
            <a:off x="685800" y="146304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04451"/>
                </a:solidFill>
                <a:latin typeface="Saira ExtraLight"/>
                <a:ea typeface="Saira ExtraLight"/>
                <a:cs typeface="Saira ExtraLight"/>
                <a:sym typeface="Saira ExtraLight"/>
              </a:rPr>
              <a:t>First Brands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black and white screen&#10;&#10;AI-generated content may be incorrect." id="83" name="Google Shape;8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088" y="1843088"/>
            <a:ext cx="8429625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89" name="Google Shape;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9"/>
          <p:cNvCxnSpPr/>
          <p:nvPr/>
        </p:nvCxnSpPr>
        <p:spPr>
          <a:xfrm>
            <a:off x="9062618" y="437083"/>
            <a:ext cx="0" cy="252374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91" name="Google Shape;9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9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Case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table with numbers and a black background&#10;&#10;AI-generated content may be incorrect." id="95" name="Google Shape;9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0038" y="1714500"/>
            <a:ext cx="5495925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a number of brands&#10;&#10;AI-generated content may be incorrect." id="96" name="Google Shape;9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04430" y="1718205"/>
            <a:ext cx="6247341" cy="366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02" name="Google Shape;102;g3fa60c7c3c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g3fa60c7c3ca_0_0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04" name="Google Shape;104;g3fa60c7c3ca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fa60c7c3ca_0_0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fa60c7c3ca_0_0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fa60c7c3ca_0_0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Parsing Coverage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g3fa60c7c3ca_0_0" title="parsing_coverage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03875" y="1365063"/>
            <a:ext cx="6784249" cy="3769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fa60c7c3ca_0_0" title="3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57413" y="5365758"/>
            <a:ext cx="7877175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15" name="Google Shape;115;g3fa60c7c3ca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g3fa60c7c3ca_0_14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17" name="Google Shape;117;g3fa60c7c3ca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fa60c7c3ca_0_14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fa60c7c3ca_0_14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fa60c7c3ca_0_14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Data Coverage (Preprocessing)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g3fa60c7c3ca_0_14" title="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1516528"/>
            <a:ext cx="5130650" cy="473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fa60c7c3ca_0_14"/>
          <p:cNvSpPr txBox="1"/>
          <p:nvPr/>
        </p:nvSpPr>
        <p:spPr>
          <a:xfrm>
            <a:off x="6046275" y="1939525"/>
            <a:ext cx="60327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Restrict to the index’s coverage window	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2023Q1 onward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Drop share-denominated rows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Retain rows with InvestmentOwnedBalanceShares == 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Drop rows with a context tag “amounts_only”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This can be moved to data cleaning process, but it was included in the preprocessing pipeline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28" name="Google Shape;128;g3fa60c7c3ca_0_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g3fa60c7c3ca_0_43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30" name="Google Shape;130;g3fa60c7c3ca_0_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fa60c7c3ca_0_43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fa60c7c3ca_0_43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fa60c7c3ca_0_43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Data Coverage (Cleaning)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fa60c7c3ca_0_43"/>
          <p:cNvSpPr txBox="1"/>
          <p:nvPr/>
        </p:nvSpPr>
        <p:spPr>
          <a:xfrm>
            <a:off x="6046275" y="1939525"/>
            <a:ext cx="60327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Drop rows with context tag == “empty”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neither “terms_only” (spread/rate/maturity) nor “amounts_only” (cost/fair value/principal)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Drop quarter outliers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filer’s whole quarter is flagged and dropped when its total fair value is more than 20 times the median of filer’s own other quarters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Handles the case when fair values, principals, and costs are all tagged with a wrong scale (systematic unit tagging error on the filing level)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Only 182 rows drop (0.03% of the total rows)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Drop fully-missing-rate rows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When all four rate fields (spread, total rate, PIC rate, PIK rate) are empty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g3fa60c7c3ca_0_43" title="6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9825" y="1458229"/>
            <a:ext cx="4283375" cy="47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41" name="Google Shape;141;g3fa60c7c3ca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g3fa60c7c3ca_0_72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43" name="Google Shape;143;g3fa60c7c3ca_0_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fa60c7c3ca_0_72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fa60c7c3ca_0_72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fa60c7c3ca_0_72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Data Coverage (Cleaning)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g3fa60c7c3ca_0_72" title="9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1925" y="1556379"/>
            <a:ext cx="5908150" cy="445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53" name="Google Shape;153;g3fa60c7c3ca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g3fa60c7c3ca_0_29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55" name="Google Shape;155;g3fa60c7c3ca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fa60c7c3ca_0_29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fa60c7c3ca_0_29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fa60c7c3ca_0_29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Data Coverage (Cleaning)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g3fa60c7c3ca_0_29" title="8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7950" y="1536453"/>
            <a:ext cx="7316101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65" name="Google Shape;165;g3fa60c7c3ca_0_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g3fa60c7c3ca_0_88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67" name="Google Shape;167;g3fa60c7c3ca_0_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fa60c7c3ca_0_88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a60c7c3ca_0_88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fa60c7c3ca_0_88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Sector &amp; Seniority Coverage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g3fa60c7c3ca_0_88" title="10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41600" y="1496579"/>
            <a:ext cx="5708800" cy="49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77" name="Google Shape;177;g3fa60c7c3ca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g3fa60c7c3ca_0_118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79" name="Google Shape;179;g3fa60c7c3ca_0_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fa60c7c3ca_0_118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a60c7c3ca_0_118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a60c7c3ca_0_118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Updated CDLI Index Construction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g3fa60c7c3ca_0_118" title="1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66163" y="1955105"/>
            <a:ext cx="7859675" cy="357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89" name="Google Shape;189;g3fa60c7c3ca_0_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g3fa60c7c3ca_0_130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91" name="Google Shape;191;g3fa60c7c3ca_0_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fa60c7c3ca_0_130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a60c7c3ca_0_130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a60c7c3ca_0_130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Subindex Construction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a60c7c3ca_0_130"/>
          <p:cNvSpPr txBox="1"/>
          <p:nvPr/>
        </p:nvSpPr>
        <p:spPr>
          <a:xfrm>
            <a:off x="685800" y="146304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g3fa60c7c3ca_0_1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8413" y="1344175"/>
            <a:ext cx="9455164" cy="536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202" name="Google Shape;202;g3fa80b84933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g3fa80b84933_0_35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204" name="Google Shape;204;g3fa80b84933_0_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fa80b84933_0_35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fa80b84933_0_35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fa80b84933_0_35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Subindex Construction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fa80b84933_0_35"/>
          <p:cNvSpPr txBox="1"/>
          <p:nvPr/>
        </p:nvSpPr>
        <p:spPr>
          <a:xfrm>
            <a:off x="685800" y="146304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404451"/>
                </a:solidFill>
                <a:latin typeface="Saira ExtraLight"/>
                <a:ea typeface="Saira ExtraLight"/>
                <a:cs typeface="Saira ExtraLight"/>
                <a:sym typeface="Saira ExtraLight"/>
              </a:rPr>
              <a:t>Top-5 Sectors - 2026Q1 Decomposition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9" name="Google Shape;209;g3fa80b84933_0_35"/>
          <p:cNvGraphicFramePr/>
          <p:nvPr/>
        </p:nvGraphicFramePr>
        <p:xfrm>
          <a:off x="296913" y="196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{7DCD304C-B025-4309-8BCE-837958AB5780}</a:tableStyleId>
              </a:tblPr>
              <a:tblGrid>
                <a:gridCol w="2256325"/>
                <a:gridCol w="1066575"/>
                <a:gridCol w="1066575"/>
                <a:gridCol w="1066575"/>
                <a:gridCol w="1066575"/>
              </a:tblGrid>
              <a:tr h="55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Sector</a:t>
                      </a:r>
                      <a:endParaRPr b="1" sz="1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Count</a:t>
                      </a:r>
                      <a:endParaRPr b="1" sz="1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Price Return</a:t>
                      </a:r>
                      <a:endParaRPr b="1" sz="1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Cash Interest</a:t>
                      </a:r>
                      <a:endParaRPr b="1" sz="1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PIK Interest</a:t>
                      </a:r>
                      <a:endParaRPr b="1" sz="1700"/>
                    </a:p>
                  </a:txBody>
                  <a:tcPr marT="91425" marB="91425" marR="91425" marL="91425" anchor="ctr"/>
                </a:tc>
              </a:tr>
              <a:tr h="55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Technology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98,841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-2.86%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2.08%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0.13%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55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Healthcare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65,071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-1.15%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2.05%</a:t>
                      </a:r>
                      <a:endParaRPr sz="16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0.24%</a:t>
                      </a:r>
                      <a:endParaRPr sz="16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Consumers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63,661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-0.83%</a:t>
                      </a:r>
                      <a:endParaRPr sz="1600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2.21%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0.22%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Industrials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51,031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-0.75%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2.18%</a:t>
                      </a:r>
                      <a:endParaRPr sz="16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0.13%</a:t>
                      </a:r>
                      <a:endParaRPr sz="16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5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Financials &amp; Insurance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46,818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-0.96%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2.08%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0.19%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55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Overall</a:t>
                      </a:r>
                      <a:endParaRPr b="1"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476,403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-1.38%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2.13%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0.16%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210" name="Google Shape;210;g3fa80b84933_0_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3025" y="1852202"/>
            <a:ext cx="5067621" cy="429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216" name="Google Shape;216;g3fa80b8493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Google Shape;217;g3fa80b84933_0_0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218" name="Google Shape;218;g3fa80b84933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fa80b84933_0_0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fa80b84933_0_0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fa80b84933_0_0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Subindex Construction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fa80b84933_0_0"/>
          <p:cNvSpPr txBox="1"/>
          <p:nvPr/>
        </p:nvSpPr>
        <p:spPr>
          <a:xfrm>
            <a:off x="685800" y="146304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404451"/>
                </a:solidFill>
                <a:latin typeface="Saira ExtraLight"/>
                <a:ea typeface="Saira ExtraLight"/>
                <a:cs typeface="Saira ExtraLight"/>
                <a:sym typeface="Saira ExtraLight"/>
              </a:rPr>
              <a:t>Technology: Sector-Specific Repricing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a80b84933_0_0"/>
          <p:cNvSpPr txBox="1"/>
          <p:nvPr/>
        </p:nvSpPr>
        <p:spPr>
          <a:xfrm>
            <a:off x="685800" y="2148850"/>
            <a:ext cx="4424700" cy="4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Price Return: -2.18%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The weakest result among the top-5 sector subindices: the decline was 148 bps below the overall BDC index price return of -1.38%.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The negative price return continued into 2026Q2 at -1.08%, suggesting that the repricing was not limited to a single quarter.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Market Context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MSCI: the early-2026 listed BDC selloff was partly driven by software-specific repricing.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Golub Capital: software loans declined much more sharply than non-software loans in the broadly syndicated loan market during Q1 2026.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4" name="Google Shape;224;g3fa80b84933_0_0" title="technolog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2900" y="1999440"/>
            <a:ext cx="6776698" cy="384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230" name="Google Shape;230;g3fa80b84933_0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1" name="Google Shape;231;g3fa80b84933_0_66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232" name="Google Shape;232;g3fa80b84933_0_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fa80b84933_0_66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fa80b84933_0_66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fa80b84933_0_66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Subindex Construction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fa80b84933_0_66"/>
          <p:cNvSpPr txBox="1"/>
          <p:nvPr/>
        </p:nvSpPr>
        <p:spPr>
          <a:xfrm>
            <a:off x="685800" y="146304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404451"/>
                </a:solidFill>
                <a:latin typeface="Saira ExtraLight"/>
                <a:ea typeface="Saira ExtraLight"/>
                <a:cs typeface="Saira ExtraLight"/>
                <a:sym typeface="Saira ExtraLight"/>
              </a:rPr>
              <a:t>Healthcare: Persistent Negative Price Returns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a80b84933_0_66"/>
          <p:cNvSpPr txBox="1"/>
          <p:nvPr/>
        </p:nvSpPr>
        <p:spPr>
          <a:xfrm>
            <a:off x="685800" y="2148850"/>
            <a:ext cx="4424700" cy="4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Price Return: -1.15%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The second-weakest result among the top-5 sector subindices in 2026Q1.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Repeated negative price returns: suggests more persistent markdown pressure rather than a short-term shock.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PIK Interest / Credit-Risk Signal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Highest observed PIK interest among the top-5 sectors, reaching 0.70% in 2024Q4.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Elevated PIK interest may indicate borrower cash-flow pressure.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38" name="Google Shape;238;g3fa80b84933_0_66" title="healthcar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2900" y="1999440"/>
            <a:ext cx="6776698" cy="384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244" name="Google Shape;244;g3fa80b84933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5" name="Google Shape;245;g3fa80b84933_0_13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246" name="Google Shape;246;g3fa80b84933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fa80b84933_0_13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a80b84933_0_13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a80b84933_0_13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Subindex Construction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fa80b84933_0_13"/>
          <p:cNvSpPr txBox="1"/>
          <p:nvPr/>
        </p:nvSpPr>
        <p:spPr>
          <a:xfrm>
            <a:off x="685800" y="146304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latin typeface="Saira Thin"/>
                <a:ea typeface="Saira Thin"/>
                <a:cs typeface="Saira Thin"/>
                <a:sym typeface="Saira Thin"/>
              </a:rPr>
              <a:t>Consumers, Industrials, and Financials &amp; Insurance</a:t>
            </a:r>
            <a:endParaRPr sz="2000">
              <a:latin typeface="Saira Thin"/>
              <a:ea typeface="Saira Thin"/>
              <a:cs typeface="Saira Thin"/>
              <a:sym typeface="Saira Th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Saira Thin"/>
              <a:ea typeface="Saira Thin"/>
              <a:cs typeface="Saira Thin"/>
              <a:sym typeface="Saira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Saira Thin"/>
              <a:ea typeface="Saira Thin"/>
              <a:cs typeface="Saira Thin"/>
              <a:sym typeface="Saira Thin"/>
            </a:endParaRPr>
          </a:p>
        </p:txBody>
      </p:sp>
      <p:pic>
        <p:nvPicPr>
          <p:cNvPr id="251" name="Google Shape;251;g3fa80b84933_0_13" title="consum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075" y="1965925"/>
            <a:ext cx="3743220" cy="212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fa80b84933_0_13" title="industrial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24387" y="1965926"/>
            <a:ext cx="3743220" cy="212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3fa80b84933_0_13" title="Financials &amp; Insuranc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36675" y="1965925"/>
            <a:ext cx="3743199" cy="212627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fa80b84933_0_13"/>
          <p:cNvSpPr txBox="1"/>
          <p:nvPr/>
        </p:nvSpPr>
        <p:spPr>
          <a:xfrm>
            <a:off x="212075" y="4211075"/>
            <a:ext cx="37431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Consumers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2026Q1 Price Return: -1.15%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Cash interest declined gradually – weaker income contribution over time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5" name="Google Shape;255;g3fa80b84933_0_13"/>
          <p:cNvSpPr txBox="1"/>
          <p:nvPr/>
        </p:nvSpPr>
        <p:spPr>
          <a:xfrm>
            <a:off x="4224425" y="4211075"/>
            <a:ext cx="37431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Industrials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2026Q1 Price Return: -0.75%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Relatively stable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6" name="Google Shape;256;g3fa80b84933_0_13"/>
          <p:cNvSpPr txBox="1"/>
          <p:nvPr/>
        </p:nvSpPr>
        <p:spPr>
          <a:xfrm>
            <a:off x="8236775" y="4211075"/>
            <a:ext cx="3743100" cy="14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Financials &amp; Insurance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2026Q1 Price Return: -0.96%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Strong performance in 2024 - mixed performance over time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262" name="Google Shape;262;g3fa80b84933_1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g3fa80b84933_1_26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264" name="Google Shape;264;g3fa80b84933_1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fa80b84933_1_26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fa80b84933_1_26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fa80b84933_1_26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Subindex Construction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fa80b84933_1_26"/>
          <p:cNvSpPr txBox="1"/>
          <p:nvPr/>
        </p:nvSpPr>
        <p:spPr>
          <a:xfrm>
            <a:off x="685800" y="146304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404451"/>
                </a:solidFill>
                <a:latin typeface="Saira ExtraLight"/>
                <a:ea typeface="Saira ExtraLight"/>
                <a:cs typeface="Saira ExtraLight"/>
                <a:sym typeface="Saira ExtraLight"/>
              </a:rPr>
              <a:t>Cash Interest: broad, relatively uniform decline across sectors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g3fa80b84933_1_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2537" y="1841975"/>
            <a:ext cx="7591625" cy="469585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fa80b84933_1_26"/>
          <p:cNvSpPr txBox="1"/>
          <p:nvPr/>
        </p:nvSpPr>
        <p:spPr>
          <a:xfrm>
            <a:off x="685800" y="2148850"/>
            <a:ext cx="3022800" cy="4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Broad Decline Across Sectors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Cash-interest returns declined across all top-5 sectors from roughly 2.7%–3.0% in 2023 to around 2.0%–2.2% by 2026Q2.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Market-wide decline in income contribution rather than a sector-specific pattern.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Spikes: temporary and do not reverse the overall declining trend.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Cash Interest: provides less sector differentiation than price return.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276" name="Google Shape;276;g3fa90a6371b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g3fa90a6371b_0_3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278" name="Google Shape;278;g3fa90a6371b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fa90a6371b_0_3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fa90a6371b_0_3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fa90a6371b_0_3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Refactor of Codebase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fa90a6371b_0_3"/>
          <p:cNvSpPr txBox="1"/>
          <p:nvPr/>
        </p:nvSpPr>
        <p:spPr>
          <a:xfrm>
            <a:off x="685800" y="146304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404451"/>
                </a:solidFill>
                <a:latin typeface="Saira ExtraLight"/>
                <a:ea typeface="Saira ExtraLight"/>
                <a:cs typeface="Saira ExtraLight"/>
                <a:sym typeface="Saira ExtraLight"/>
              </a:rPr>
              <a:t>Reorganised flat directory into a layered structure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fa90a6371b_0_3"/>
          <p:cNvSpPr txBox="1"/>
          <p:nvPr/>
        </p:nvSpPr>
        <p:spPr>
          <a:xfrm>
            <a:off x="685800" y="2148850"/>
            <a:ext cx="3022800" cy="4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Modular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DM Sans"/>
              <a:buChar char="○"/>
            </a:pPr>
            <a:r>
              <a:rPr lang="en-US" sz="2000">
                <a:latin typeface="DM Sans"/>
                <a:ea typeface="DM Sans"/>
                <a:cs typeface="DM Sans"/>
                <a:sym typeface="DM Sans"/>
              </a:rPr>
              <a:t>Separating library code, orchestration scripts, notebooks, docs, generated outputs, and presentation decks</a:t>
            </a:r>
            <a:endParaRPr sz="2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84" name="Google Shape;284;g3fa90a6371b_0_3"/>
          <p:cNvPicPr preferRelativeResize="0"/>
          <p:nvPr/>
        </p:nvPicPr>
        <p:blipFill rotWithShape="1">
          <a:blip r:embed="rId5">
            <a:alphaModFix/>
          </a:blip>
          <a:srcRect b="0" l="0" r="45142" t="0"/>
          <a:stretch/>
        </p:blipFill>
        <p:spPr>
          <a:xfrm>
            <a:off x="3861000" y="1999450"/>
            <a:ext cx="2377500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3fa90a6371b_0_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6125" y="2385215"/>
            <a:ext cx="3152775" cy="3505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g3fa90a6371b_0_3"/>
          <p:cNvCxnSpPr>
            <a:stCxn id="284" idx="3"/>
            <a:endCxn id="285" idx="1"/>
          </p:cNvCxnSpPr>
          <p:nvPr/>
        </p:nvCxnSpPr>
        <p:spPr>
          <a:xfrm>
            <a:off x="6238500" y="4137813"/>
            <a:ext cx="2107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2026-09-02T01:49:34Z</dcterms:created>
  <dc:creator>PptxGenJS</dc:creator>
</cp:coreProperties>
</file>