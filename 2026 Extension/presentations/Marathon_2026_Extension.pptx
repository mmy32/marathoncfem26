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DM Sans" panose="020B0604020202020204" charset="-120"/>
      <p:regular r:id="rId15"/>
      <p:bold r:id="rId16"/>
      <p:italic r:id="rId17"/>
      <p:boldItalic r:id="rId18"/>
    </p:embeddedFont>
    <p:embeddedFont>
      <p:font typeface="Saira" panose="020B0604020202020204" charset="-12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6B05D8-B7CC-4AC8-828E-E27E145750E5}">
  <a:tblStyle styleId="{DA6B05D8-B7CC-4AC8-828E-E27E145750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eb8baec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9eb8baec7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f9eb8baec7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9eb8baec7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3f9eb8baec7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f9eb8baec7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9eb8baec7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f9eb8baec7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f9eb8baec7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eb8baec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f9eb8baec7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9eb8baec7_0_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9eb8baec7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f9eb8baec7_0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f9eb8baec7_0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9eb8baec7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f9eb8baec7_0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f9eb8baec7_0_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9eb8baec7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f9eb8baec7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f9eb8baec7_0_1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eb8baec7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f9eb8baec7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f9eb8baec7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assets/se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692201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3"/>
          <p:cNvCxnSpPr/>
          <p:nvPr/>
        </p:nvCxnSpPr>
        <p:spPr>
          <a:xfrm>
            <a:off x="993953" y="695858"/>
            <a:ext cx="0" cy="252374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Google Shape;18;p3" descr="assets/m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2533" y="69220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1356970" y="66659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1356970" y="834847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38200" y="1810512"/>
            <a:ext cx="10515600" cy="1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7000"/>
              <a:buFont typeface="Saira"/>
              <a:buNone/>
            </a:pPr>
            <a:r>
              <a:rPr lang="en-US" sz="5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Reproducing and Extending the BDC Private Credit Index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85800" y="54864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lang="en-US" sz="133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SPONSOR: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Jason Foster</a:t>
            </a:r>
            <a:endParaRPr sz="13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lang="en-US" sz="133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ADVISOR: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 Sasha Stoikov</a:t>
            </a:r>
            <a:endParaRPr sz="13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lang="en-US" sz="133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TEAM: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Alex Lee, Max Yap, Minxi Lin, Yung Lee, Olivia Mei</a:t>
            </a:r>
            <a:endParaRPr sz="13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lang="en-US" sz="133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DATE: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September 3, 2026</a:t>
            </a:r>
            <a:endParaRPr sz="13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1719072" y="3383280"/>
            <a:ext cx="8754466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An end-to-end walkthrough of the pipeline: how it runs, what goes in, what comes out, the parameter choices that drive the results </a:t>
            </a:r>
            <a:endParaRPr sz="2000" b="1">
              <a:solidFill>
                <a:srgbClr val="40445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4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2" name="Google Shape;32;p4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Overview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685800" y="2148840"/>
            <a:ext cx="512064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DM Sans"/>
              <a:buChar char="•"/>
            </a:pPr>
            <a:r>
              <a:rPr lang="en-US" sz="2200" b="1">
                <a:latin typeface="DM Sans"/>
                <a:ea typeface="DM Sans"/>
                <a:cs typeface="DM Sans"/>
                <a:sym typeface="DM Sans"/>
              </a:rPr>
              <a:t>1 - </a:t>
            </a:r>
            <a:r>
              <a:rPr lang="en-US" sz="2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200" b="1">
                <a:latin typeface="DM Sans"/>
                <a:ea typeface="DM Sans"/>
                <a:cs typeface="DM Sans"/>
                <a:sym typeface="DM Sans"/>
              </a:rPr>
              <a:t>cope of the Work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DM Sans"/>
              <a:buChar char="•"/>
            </a:pPr>
            <a:r>
              <a:rPr lang="en-US" sz="2200" b="1">
                <a:latin typeface="DM Sans"/>
                <a:ea typeface="DM Sans"/>
                <a:cs typeface="DM Sans"/>
                <a:sym typeface="DM Sans"/>
              </a:rPr>
              <a:t>2 - Pipeline Structure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DM Sans"/>
              <a:buChar char="•"/>
            </a:pPr>
            <a:r>
              <a:rPr lang="en-US"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3 - Inputs</a:t>
            </a:r>
            <a:endParaRPr sz="22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marR="0" lvl="0" indent="-228600" algn="l" rtl="0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DM Sans"/>
              <a:buChar char="•"/>
            </a:pPr>
            <a:r>
              <a:rPr lang="en-US"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4 - Outputs</a:t>
            </a:r>
            <a:endParaRPr sz="22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6263640" y="2148840"/>
            <a:ext cx="521208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DM Sans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5 - Reproduction vs. Report</a:t>
            </a:r>
            <a:endParaRPr sz="22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marR="0" lvl="0" indent="-228600" algn="l" rtl="0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DM Sans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6 - Parameter Choices</a:t>
            </a:r>
            <a:endParaRPr sz="22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marR="0" lvl="0" indent="-228600" algn="l" rtl="0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DM Sans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 – Major Defect Found &amp; Fixed</a:t>
            </a:r>
            <a:endParaRPr sz="22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marR="0" lvl="0" indent="-228600" algn="l" rtl="0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DM Sans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8 - Conclusion &amp; Discussion</a:t>
            </a:r>
            <a:endParaRPr sz="2200" b="1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5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6" name="Google Shape;46;p5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1. Scope of the Work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685800" y="2148840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latin typeface="DM Sans"/>
                <a:ea typeface="DM Sans"/>
                <a:cs typeface="DM Sans"/>
                <a:sym typeface="DM Sans"/>
              </a:rPr>
              <a:t>Three Goals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Rerun the pipeline end-to-end – every stage executed, not merely inspected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Extend out the report’s 2023Q1 - 2025Q2 window to 2023Q1 - 2026Q2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Validate that the reproduced results still match the December 2025 findings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latin typeface="DM Sans"/>
                <a:ea typeface="DM Sans"/>
                <a:cs typeface="DM Sans"/>
                <a:sym typeface="DM Sans"/>
              </a:rPr>
              <a:t>What Changed Operationally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Reference data (FX, SOFR, EFFR, CDLI) refreshed to 2026Q2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ector classification migrated from </a:t>
            </a:r>
            <a:r>
              <a:rPr lang="en-US" sz="1400" dirty="0" err="1">
                <a:latin typeface="DM Sans"/>
                <a:ea typeface="DM Sans"/>
                <a:cs typeface="DM Sans"/>
                <a:sym typeface="DM Sans"/>
              </a:rPr>
              <a:t>OpenAI</a:t>
            </a: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 to Claude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latin typeface="DM Sans"/>
                <a:ea typeface="DM Sans"/>
                <a:cs typeface="DM Sans"/>
                <a:sym typeface="DM Sans"/>
              </a:rPr>
              <a:t>Headline Results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Reproduced the report’s figures closely on the identical window (2023Q1 - 2025Q2)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After one data-quality fix, constructed CDLI index vs. CDLI improved substantially: correlation: 96.2%, tracking error: 0.36% </a:t>
            </a:r>
            <a:endParaRPr sz="1400" dirty="0"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Constructed CDLI-S index vs. CDLI-S: correlation: 96.5%, tracking error: 0.31%</a:t>
            </a:r>
            <a:endParaRPr sz="1400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6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6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9" name="Google Shape;59;p6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2. Pipeline Structure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11292840" y="6144768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685800" y="2148840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latin typeface="DM Sans"/>
                <a:ea typeface="DM Sans"/>
                <a:cs typeface="DM Sans"/>
                <a:sym typeface="DM Sans"/>
              </a:rPr>
              <a:t>Data Ingestion (stages 1-2)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run_bdc_universe.py – scrapes EDGAR for N-54A/N-54C filings to identify every BDC and its active window</a:t>
            </a:r>
            <a:endParaRPr sz="1400" dirty="0"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run_downloader.py – pulls all 10-K/10-Q filings into a per-CIK local cache, rate-limited</a:t>
            </a:r>
            <a:endParaRPr sz="1400" dirty="0">
              <a:latin typeface="DM Sans"/>
              <a:ea typeface="DM Sans"/>
              <a:cs typeface="DM Sans"/>
              <a:sym typeface="DM Sans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latin typeface="DM Sans"/>
                <a:ea typeface="DM Sans"/>
                <a:cs typeface="DM Sans"/>
                <a:sym typeface="DM Sans"/>
              </a:rPr>
              <a:t>Extraction &amp; Cleaning (stages 3-5)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run_ixbrl_parser.py – extracts SOI facts from </a:t>
            </a:r>
            <a:r>
              <a:rPr lang="en-US" sz="1400" dirty="0" err="1">
                <a:latin typeface="DM Sans"/>
                <a:ea typeface="DM Sans"/>
                <a:cs typeface="DM Sans"/>
                <a:sym typeface="DM Sans"/>
              </a:rPr>
              <a:t>iXBRL</a:t>
            </a: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 instance documents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run_preprocessor.py – consolidates per-file output into one panel with quarter labels </a:t>
            </a:r>
            <a:endParaRPr sz="1400" dirty="0"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run_ixbrl_pipeline.py – rate/spread normalization, FX conversion, scale correction, SOFR-based coupon estimation</a:t>
            </a:r>
            <a:endParaRPr sz="1400" dirty="0">
              <a:latin typeface="DM Sans"/>
              <a:ea typeface="DM Sans"/>
              <a:cs typeface="DM Sans"/>
              <a:sym typeface="DM Sans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latin typeface="DM Sans"/>
                <a:ea typeface="DM Sans"/>
                <a:cs typeface="DM Sans"/>
                <a:sym typeface="DM Sans"/>
              </a:rPr>
              <a:t>Classification &amp; Construction (stages 6-7)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get_seniority_debttype.py – rules-based seniority, then rules-plus-LLM sector classification, checkpointed</a:t>
            </a:r>
            <a:endParaRPr sz="1400" dirty="0"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latin typeface="DM Sans"/>
                <a:ea typeface="DM Sans"/>
                <a:cs typeface="DM Sans"/>
                <a:sym typeface="DM Sans"/>
              </a:rPr>
              <a:t>index_construction.py – flow returns, MV weighting, index levels, and benchmark comparisons </a:t>
            </a:r>
            <a:endParaRPr sz="1400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7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7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7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3. Inputs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685800" y="5577840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Figure </a:t>
            </a:r>
            <a:r>
              <a:rPr lang="en-US" sz="1200" b="1">
                <a:latin typeface="DM Sans"/>
                <a:ea typeface="DM Sans"/>
                <a:cs typeface="DM Sans"/>
                <a:sym typeface="DM Sans"/>
              </a:rPr>
              <a:t>1. Referenced data files refreshed this cycle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6766560" y="169164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0" dirty="0">
                <a:latin typeface="DM Sans"/>
                <a:ea typeface="DM Sans"/>
                <a:cs typeface="DM Sans"/>
                <a:sym typeface="DM Sans"/>
              </a:rPr>
              <a:t>Primary Inputs: ~ 33.0 GB of raw 10-K/10-Q filings cached per CIK, plus the parsed loan-level panel</a:t>
            </a:r>
            <a:endParaRPr sz="1400" b="1" dirty="0">
              <a:latin typeface="DM Sans"/>
              <a:ea typeface="DM Sans"/>
              <a:cs typeface="DM Sans"/>
              <a:sym typeface="DM Sans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0" dirty="0">
                <a:latin typeface="DM Sans"/>
                <a:ea typeface="DM Sans"/>
                <a:cs typeface="DM Sans"/>
                <a:sym typeface="DM Sans"/>
              </a:rPr>
              <a:t>Coverage starts at 2023Q1, when </a:t>
            </a:r>
            <a:r>
              <a:rPr lang="en-US" sz="1400" b="0" dirty="0" err="1">
                <a:latin typeface="DM Sans"/>
                <a:ea typeface="DM Sans"/>
                <a:cs typeface="DM Sans"/>
                <a:sym typeface="DM Sans"/>
              </a:rPr>
              <a:t>iXBRL</a:t>
            </a:r>
            <a:r>
              <a:rPr lang="en-US" sz="1400" b="0" dirty="0">
                <a:latin typeface="DM Sans"/>
                <a:ea typeface="DM Sans"/>
                <a:cs typeface="DM Sans"/>
                <a:sym typeface="DM Sans"/>
              </a:rPr>
              <a:t> adoption crosses ~ 90% of filings</a:t>
            </a:r>
            <a:endParaRPr sz="1400" b="1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solidFill>
            <a:srgbClr val="B4D4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lang="en-US" sz="1200" b="0">
                <a:latin typeface="DM Sans"/>
                <a:ea typeface="DM Sans"/>
                <a:cs typeface="DM Sans"/>
                <a:sym typeface="DM Sans"/>
              </a:rPr>
              <a:t>Parsed panel: 573K rows | Window: 2023Q1 - 2026Q2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7"/>
          <p:cNvGraphicFramePr/>
          <p:nvPr/>
        </p:nvGraphicFramePr>
        <p:xfrm>
          <a:off x="685800" y="1691640"/>
          <a:ext cx="5753100" cy="3429000"/>
        </p:xfrm>
        <a:graphic>
          <a:graphicData uri="http://schemas.openxmlformats.org/drawingml/2006/table">
            <a:tbl>
              <a:tblPr>
                <a:noFill/>
                <a:tableStyleId>{DA6B05D8-B7CC-4AC8-828E-E27E145750E5}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Contents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Now Through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FX.csv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Treasury quarterly exchange rates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2026Q2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SOFR.csv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Quarterly avg SOFR (ECB series)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2026Q2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Search.xlsx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EFFR + SOFR (NY Fed)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2026-08-28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cdli.csv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Cliffwater Direct Lending Index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2026Q2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cdli-s.csv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CDLI-Senior sub-index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2026Q2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8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9" name="Google Shape;89;p8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4. Outputs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11292840" y="6144768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685800" y="5577840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Figure </a:t>
            </a:r>
            <a:r>
              <a:rPr lang="en-US" sz="1200" b="1">
                <a:latin typeface="DM Sans"/>
                <a:ea typeface="DM Sans"/>
                <a:cs typeface="DM Sans"/>
                <a:sym typeface="DM Sans"/>
              </a:rPr>
              <a:t>2. Headline index results, 2023Q1 - 2026Q2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 txBox="1"/>
          <p:nvPr/>
        </p:nvSpPr>
        <p:spPr>
          <a:xfrm>
            <a:off x="6766560" y="169164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0" dirty="0">
                <a:latin typeface="DM Sans"/>
                <a:ea typeface="DM Sans"/>
                <a:cs typeface="DM Sans"/>
                <a:sym typeface="DM Sans"/>
              </a:rPr>
              <a:t>Cleaned panel carries normalized rates, USD-converted amounts, and audit columns (</a:t>
            </a:r>
            <a:r>
              <a:rPr lang="en-US" sz="1400" b="0" dirty="0" err="1">
                <a:latin typeface="DM Sans"/>
                <a:ea typeface="DM Sans"/>
                <a:cs typeface="DM Sans"/>
                <a:sym typeface="DM Sans"/>
              </a:rPr>
              <a:t>change_tracker</a:t>
            </a:r>
            <a:r>
              <a:rPr lang="en-US" sz="1400" b="0" dirty="0">
                <a:latin typeface="DM Sans"/>
                <a:ea typeface="DM Sans"/>
                <a:cs typeface="DM Sans"/>
                <a:sym typeface="DM Sans"/>
              </a:rPr>
              <a:t>, check_1-3, scale flags)</a:t>
            </a:r>
            <a:endParaRPr sz="1400" b="1" dirty="0">
              <a:latin typeface="DM Sans"/>
              <a:ea typeface="DM Sans"/>
              <a:cs typeface="DM Sans"/>
              <a:sym typeface="DM Sans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0" dirty="0">
                <a:latin typeface="DM Sans"/>
                <a:ea typeface="DM Sans"/>
                <a:cs typeface="DM Sans"/>
                <a:sym typeface="DM Sans"/>
              </a:rPr>
              <a:t>Enriched panel adds sector and instrument seniority; a cached LLM checkpoint makes reruns free</a:t>
            </a:r>
            <a:endParaRPr sz="1400" b="1" dirty="0">
              <a:latin typeface="DM Sans"/>
              <a:ea typeface="DM Sans"/>
              <a:cs typeface="DM Sans"/>
              <a:sym typeface="DM Sans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0" dirty="0">
                <a:latin typeface="DM Sans"/>
                <a:ea typeface="DM Sans"/>
                <a:cs typeface="DM Sans"/>
                <a:sym typeface="DM Sans"/>
              </a:rPr>
              <a:t>Six charts, correlation/tracking-error stats, and senior-loan &amp; sector </a:t>
            </a:r>
            <a:r>
              <a:rPr lang="en-US" sz="1400" b="0" dirty="0" err="1">
                <a:latin typeface="DM Sans"/>
                <a:ea typeface="DM Sans"/>
                <a:cs typeface="DM Sans"/>
                <a:sym typeface="DM Sans"/>
              </a:rPr>
              <a:t>subindices</a:t>
            </a:r>
            <a:r>
              <a:rPr lang="en-US" sz="1400" b="0" dirty="0">
                <a:latin typeface="DM Sans"/>
                <a:ea typeface="DM Sans"/>
                <a:cs typeface="DM Sans"/>
                <a:sym typeface="DM Sans"/>
              </a:rPr>
              <a:t> wrap up the analysis</a:t>
            </a:r>
            <a:endParaRPr sz="1400" b="1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solidFill>
            <a:srgbClr val="B4D4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lang="en-US" sz="1200" b="0">
                <a:latin typeface="DM Sans"/>
                <a:ea typeface="DM Sans"/>
                <a:cs typeface="DM Sans"/>
                <a:sym typeface="DM Sans"/>
              </a:rPr>
              <a:t>Sector coverage ~80% | Seniority coverage ~63% | Full LLM rerun cost: ~$10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8"/>
          <p:cNvGraphicFramePr/>
          <p:nvPr/>
        </p:nvGraphicFramePr>
        <p:xfrm>
          <a:off x="685800" y="1691640"/>
          <a:ext cx="5762625" cy="3589884"/>
        </p:xfrm>
        <a:graphic>
          <a:graphicData uri="http://schemas.openxmlformats.org/drawingml/2006/table">
            <a:tbl>
              <a:tblPr>
                <a:noFill/>
                <a:tableStyleId>{DA6B05D8-B7CC-4AC8-828E-E27E145750E5}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Annualized return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10.84%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Geometric, over 3.25 years of quarterly returns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Annualized volatility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1.54%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Characteristically low — income-dominated returns</a:t>
                      </a:r>
                      <a:endParaRPr sz="13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Correlation to CDLI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96.17%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2023Q2–2026Q2 (2023Q1 return undefined for the given window)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Tracking error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Annualized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 level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143.4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base 100 at 2023Q1</a:t>
                      </a:r>
                      <a:endParaRPr sz="13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9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9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6" name="Google Shape;106;p9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5. Reproduction vs. Report (CDLI)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11292840" y="6144768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 txBox="1"/>
          <p:nvPr/>
        </p:nvSpPr>
        <p:spPr>
          <a:xfrm>
            <a:off x="685800" y="5577840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Figure 3. Reproduction vs. Dec 2025 report, identical window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solidFill>
            <a:srgbClr val="B4D4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lang="en-US" sz="1200" b="0">
                <a:latin typeface="DM Sans"/>
                <a:ea typeface="DM Sans"/>
                <a:cs typeface="DM Sans"/>
                <a:sym typeface="DM Sans"/>
              </a:rPr>
              <a:t>7 of 8 metrics match | 1 explained divergence (undefined 2023 Q1 return)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9"/>
          <p:cNvGraphicFramePr/>
          <p:nvPr/>
        </p:nvGraphicFramePr>
        <p:xfrm>
          <a:off x="685800" y="1691640"/>
          <a:ext cx="5753100" cy="3559320"/>
        </p:xfrm>
        <a:graphic>
          <a:graphicData uri="http://schemas.openxmlformats.org/drawingml/2006/table">
            <a:tbl>
              <a:tblPr>
                <a:noFill/>
                <a:tableStyleId>{DA6B05D8-B7CC-4AC8-828E-E27E145750E5}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 (Dec '25)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Reproduced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Verdict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Quarterly returns 23Q2–25Q2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2.91…2.62%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2.92…2.62%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E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</a:t>
                      </a:r>
                      <a:endParaRPr sz="1300" b="1">
                        <a:solidFill>
                          <a:srgbClr val="1E7A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4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Correlation to CDLI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86.95%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85.78%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E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</a:t>
                      </a:r>
                      <a:endParaRPr sz="1300" b="1">
                        <a:solidFill>
                          <a:srgbClr val="1E7A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Tracking error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E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</a:t>
                      </a:r>
                      <a:endParaRPr sz="1300" b="1">
                        <a:solidFill>
                          <a:srgbClr val="1E7A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Annualized return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11.23%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11.61%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E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</a:t>
                      </a:r>
                      <a:endParaRPr sz="1300" b="1">
                        <a:solidFill>
                          <a:srgbClr val="1E7A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Senior sub-index — corr.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87.5%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87.22%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E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</a:t>
                      </a:r>
                      <a:endParaRPr sz="1300" b="1">
                        <a:solidFill>
                          <a:srgbClr val="1E7A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Senior sub-index — TE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E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</a:t>
                      </a:r>
                      <a:endParaRPr sz="1300" b="1">
                        <a:solidFill>
                          <a:srgbClr val="1E7A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Seniority coverage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64.07%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63.37%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E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</a:t>
                      </a:r>
                      <a:endParaRPr sz="1300" b="1">
                        <a:solidFill>
                          <a:srgbClr val="1E7A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2023Q1 return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1.90%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Diverges</a:t>
                      </a:r>
                      <a:endParaRPr sz="1300" b="1">
                        <a:solidFill>
                          <a:srgbClr val="B03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5" name="Google Shape;115;p9"/>
          <p:cNvSpPr txBox="1"/>
          <p:nvPr/>
        </p:nvSpPr>
        <p:spPr>
          <a:xfrm>
            <a:off x="6766560" y="169164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0">
                <a:latin typeface="DM Sans"/>
                <a:ea typeface="DM Sans"/>
                <a:cs typeface="DM Sans"/>
                <a:sym typeface="DM Sans"/>
              </a:rPr>
              <a:t>Restricted to the report’s exact window, the pipeline reproduces the published figures closely</a:t>
            </a:r>
            <a:endParaRPr sz="1400" b="1">
              <a:latin typeface="DM Sans"/>
              <a:ea typeface="DM Sans"/>
              <a:cs typeface="DM Sans"/>
              <a:sym typeface="DM Sans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0">
                <a:latin typeface="DM Sans"/>
                <a:ea typeface="DM Sans"/>
                <a:cs typeface="DM Sans"/>
                <a:sym typeface="DM Sans"/>
              </a:rPr>
              <a:t>One divergence: 2023Q1 is the first quarter, so a flow-based return is undefined (2022Q4 data needed for computing 2023Q1 return)</a:t>
            </a:r>
            <a:endParaRPr sz="1400"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0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1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3" name="Google Shape;123;p10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Constructed Index vs. CDLI Plot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 title="index_vs_cdl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3195" y="1481328"/>
            <a:ext cx="9525305" cy="4762195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pageno;p8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1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11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5" name="Google Shape;135;p11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1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Constructed Index vs. CDLI-S Plot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1" title="senior_loans_vs_cdli_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3195" y="1481328"/>
            <a:ext cx="9525305" cy="4762195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pageno;p9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2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12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7" name="Google Shape;147;p12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2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6. Parameter Choices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11292840" y="6144768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685800" y="2148840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>
                <a:latin typeface="DM Sans"/>
                <a:ea typeface="DM Sans"/>
                <a:cs typeface="DM Sans"/>
                <a:sym typeface="DM Sans"/>
              </a:rPr>
              <a:t>Sector Classification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conf_thresh = 0.70: at 0.90, Haiku’s confidence is at most 0.85 and zero names cleared the bar 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llm_model = claude-haiku-4-5: ~$10 for the full 100k-name runs 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checkpoint_path added to store previous results for later use 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>
                <a:latin typeface="DM Sans"/>
                <a:ea typeface="DM Sans"/>
                <a:cs typeface="DM Sans"/>
                <a:sym typeface="DM Sans"/>
              </a:rPr>
              <a:t>Data Cleaning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SPREAD_RANGE 0-20% and RATE_RANGE 0-50%: plausible ranges for a spread, floor, or coupon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VALUE_RATIO_RANGE 0-3x (new): fair value beyond 3 x principal is treated as a unit-scale error 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>
                <a:latin typeface="DM Sans"/>
                <a:ea typeface="DM Sans"/>
                <a:cs typeface="DM Sans"/>
                <a:sym typeface="DM Sans"/>
              </a:rPr>
              <a:t>Index Construction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num_years_now = len(returns)/4 (fixed): generalized based on data, rather than hardcoded 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start_idx = 1: drops the structurally invalid first quarter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3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13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0" name="Google Shape;160;p13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3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7. Major Defect Found &amp; Fixed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11292840" y="6144768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685800" y="2148840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Fair values inflated 1000x by unit-tagging errors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Some filings tagged fair value and cost in a different unit scale from principal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533400" marR="0" lvl="2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▪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Brivo, Inc.: $40.19 billion (2025Q2) → $41.00 million (2025Q3)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533400" marR="0" lvl="2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▪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Dejero Labs Inc.: $14.71 billion (2025Q2) → $14.97 million (2025Q3)</a:t>
            </a:r>
            <a:endParaRPr sz="1400">
              <a:latin typeface="DM Sans"/>
              <a:ea typeface="DM Sans"/>
              <a:cs typeface="DM Sans"/>
              <a:sym typeface="DM Sans"/>
            </a:endParaRPr>
          </a:p>
          <a:p>
            <a:pPr marL="533400" marR="0" lvl="2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▪"/>
            </a:pPr>
            <a:r>
              <a:rPr lang="en-US" sz="1400">
                <a:latin typeface="DM Sans"/>
                <a:ea typeface="DM Sans"/>
                <a:cs typeface="DM Sans"/>
                <a:sym typeface="DM Sans"/>
              </a:rPr>
              <a:t>Linxup, LLC: $30.50 billion (2025Q2) → $30.66 million (2025Q3)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Implemented normalize_value_scale() to anchor FV and cost against the position’s own principal; corrected 1,459 FV and 1,127 cost rows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Impact: correlation to CDLI drastically increased from 68.0% to 96.2%; tracking error notably decreased from 0.81% to 0.36%</a:t>
            </a:r>
            <a:endParaRPr sz="1400"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4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4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3" name="Google Shape;173;p14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4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4000"/>
              <a:buFont typeface="Saira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8. Conclusion &amp; Discussion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11292840" y="6144768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685800" y="2148840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Reproduction validated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Reproduces the report’s figures closely in the identical window (2023Q1 - 2025Q2)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Corr. 96.2%, tracking error 0.36% vs. CDLI over the full 2023Q1 - 2026Q2 window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Found and Resolved a Major Defect 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Fixing the FV and cost scaling errors drove the biggest boost in tracking accuracy and correlation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Potential Future Extensions 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Constructing </a:t>
            </a:r>
            <a:r>
              <a:rPr lang="en-US" sz="14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Subindices</a:t>
            </a: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for additional dimensions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Using an HTML parser for greater data coverage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Implementing nowcasting to increase frequency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1" indent="-177800" algn="l" rtl="0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Detecting warning signals for drawdown (e.g., % PIK increase, valuation dispersion, BDC exposure)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1249</Words>
  <Application>Microsoft Office PowerPoint</Application>
  <PresentationFormat>Widescreen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Saira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IEEA_GC_Laptop_05</cp:lastModifiedBy>
  <cp:revision>2</cp:revision>
  <dcterms:modified xsi:type="dcterms:W3CDTF">2026-09-02T18:22:02Z</dcterms:modified>
</cp:coreProperties>
</file>