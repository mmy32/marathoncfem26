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12192000"/>
  <p:embeddedFontLst>
    <p:embeddedFont>
      <p:font typeface="Saira"/>
      <p:regular r:id="rId21"/>
      <p:bold r:id="rId22"/>
      <p:italic r:id="rId23"/>
      <p:boldItalic r:id="rId24"/>
    </p:embeddedFont>
    <p:embeddedFont>
      <p:font typeface="DM Sa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9" roundtripDataSignature="AMtx7mh9+B8ZTqjPaay9R/CyRCAWNmWN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7213EA9-1547-4A63-AA08-DC131FC94DA9}">
  <a:tblStyle styleId="{07213EA9-1547-4A63-AA08-DC131FC94DA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D0773569-B6B9-448E-8E3C-2C3D85EB641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Saira-bold.fntdata"/><Relationship Id="rId21" Type="http://schemas.openxmlformats.org/officeDocument/2006/relationships/font" Target="fonts/Saira-regular.fntdata"/><Relationship Id="rId24" Type="http://schemas.openxmlformats.org/officeDocument/2006/relationships/font" Target="fonts/Saira-boldItalic.fntdata"/><Relationship Id="rId23" Type="http://schemas.openxmlformats.org/officeDocument/2006/relationships/font" Target="fonts/Saira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DMSans-bold.fntdata"/><Relationship Id="rId25" Type="http://schemas.openxmlformats.org/officeDocument/2006/relationships/font" Target="fonts/DMSans-regular.fntdata"/><Relationship Id="rId28" Type="http://schemas.openxmlformats.org/officeDocument/2006/relationships/font" Target="fonts/DMSans-boldItalic.fntdata"/><Relationship Id="rId27" Type="http://schemas.openxmlformats.org/officeDocument/2006/relationships/font" Target="fonts/DM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h71c2a19aba2f255b_0_41:notes"/>
          <p:cNvSpPr/>
          <p:nvPr>
            <p:ph idx="2" type="sldImg"/>
          </p:nvPr>
        </p:nvSpPr>
        <p:spPr>
          <a:xfrm>
            <a:off x="-1166813" y="0"/>
            <a:ext cx="5334000" cy="3000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" name="Google Shape;22;h71c2a19aba2f255b_0_4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h71c2a19aba2f255b_0_4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h71c2a19aba2f255b_0_115:notes"/>
          <p:cNvSpPr/>
          <p:nvPr>
            <p:ph idx="2" type="sldImg"/>
          </p:nvPr>
        </p:nvSpPr>
        <p:spPr>
          <a:xfrm>
            <a:off x="-1166813" y="0"/>
            <a:ext cx="5334000" cy="3000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" name="Google Shape;36;h71c2a19aba2f255b_0_1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h71c2a19aba2f255b_0_1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h71c2a19aba2f255b_0_129:notes"/>
          <p:cNvSpPr/>
          <p:nvPr>
            <p:ph idx="2" type="sldImg"/>
          </p:nvPr>
        </p:nvSpPr>
        <p:spPr>
          <a:xfrm>
            <a:off x="-1166813" y="0"/>
            <a:ext cx="5334000" cy="3000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" name="Google Shape;49;h71c2a19aba2f255b_0_1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h71c2a19aba2f255b_0_1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h71c2a19aba2f255b_0_142:notes"/>
          <p:cNvSpPr/>
          <p:nvPr>
            <p:ph idx="2" type="sldImg"/>
          </p:nvPr>
        </p:nvSpPr>
        <p:spPr>
          <a:xfrm>
            <a:off x="-1166813" y="0"/>
            <a:ext cx="5334000" cy="3000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" name="Google Shape;63;h71c2a19aba2f255b_0_14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h71c2a19aba2f255b_0_14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h71c2a19aba2f255b_0_156:notes"/>
          <p:cNvSpPr/>
          <p:nvPr>
            <p:ph idx="2" type="sldImg"/>
          </p:nvPr>
        </p:nvSpPr>
        <p:spPr>
          <a:xfrm>
            <a:off x="-1166813" y="0"/>
            <a:ext cx="5334000" cy="3000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" name="Google Shape;76;h71c2a19aba2f255b_0_15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h71c2a19aba2f255b_0_15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h71c2a19aba2f255b_0_175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" name="Google Shape;89;h71c2a19aba2f255b_0_17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h71c2a19aba2f255b_0_17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h73caec4e7783443e_0_0:notes"/>
          <p:cNvSpPr/>
          <p:nvPr>
            <p:ph idx="2" type="sldImg"/>
          </p:nvPr>
        </p:nvSpPr>
        <p:spPr>
          <a:xfrm>
            <a:off x="-1166813" y="0"/>
            <a:ext cx="5334000" cy="3000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" name="Google Shape;103;h73caec4e7783443e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h73caec4e7783443e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h73caec4e7783443e_1_0:notes"/>
          <p:cNvSpPr/>
          <p:nvPr>
            <p:ph idx="2" type="sldImg"/>
          </p:nvPr>
        </p:nvSpPr>
        <p:spPr>
          <a:xfrm>
            <a:off x="-1166813" y="0"/>
            <a:ext cx="5334000" cy="3000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" name="Google Shape;116;h73caec4e7783443e_1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h73caec4e7783443e_1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h73caec4e7783443e_1_15:notes"/>
          <p:cNvSpPr/>
          <p:nvPr>
            <p:ph idx="2" type="sldImg"/>
          </p:nvPr>
        </p:nvSpPr>
        <p:spPr>
          <a:xfrm>
            <a:off x="-1166813" y="0"/>
            <a:ext cx="5334000" cy="3000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" name="Google Shape;130;h73caec4e7783443e_1_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h73caec4e7783443e_1_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h73caec4e7783443e_1_29:notes"/>
          <p:cNvSpPr/>
          <p:nvPr>
            <p:ph idx="2" type="sldImg"/>
          </p:nvPr>
        </p:nvSpPr>
        <p:spPr>
          <a:xfrm>
            <a:off x="-1166813" y="0"/>
            <a:ext cx="5334000" cy="3000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2" name="Google Shape;142;h73caec4e7783443e_1_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h73caec4e7783443e_1_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h69e5d5706f53bffa_0_0:notes"/>
          <p:cNvSpPr/>
          <p:nvPr>
            <p:ph idx="2" type="sldImg"/>
          </p:nvPr>
        </p:nvSpPr>
        <p:spPr>
          <a:xfrm>
            <a:off x="-1166813" y="0"/>
            <a:ext cx="5334000" cy="3000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4" name="Google Shape;154;h69e5d5706f53bffa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h69e5d5706f53bffa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h69e5d5706f53bffa_1_22:notes"/>
          <p:cNvSpPr/>
          <p:nvPr>
            <p:ph idx="2" type="sldImg"/>
          </p:nvPr>
        </p:nvSpPr>
        <p:spPr>
          <a:xfrm>
            <a:off x="-1166813" y="0"/>
            <a:ext cx="5334000" cy="3000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" name="Google Shape;168;h69e5d5706f53bffa_1_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h69e5d5706f53bffa_1_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h69e5d5706f53bffa_1_85:notes"/>
          <p:cNvSpPr/>
          <p:nvPr>
            <p:ph idx="2" type="sldImg"/>
          </p:nvPr>
        </p:nvSpPr>
        <p:spPr>
          <a:xfrm>
            <a:off x="-1166813" y="0"/>
            <a:ext cx="5334000" cy="3000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" name="Google Shape;181;h69e5d5706f53bffa_1_8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h69e5d5706f53bffa_1_8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h13c6c42b85884eb5_0_0:notes"/>
          <p:cNvSpPr/>
          <p:nvPr>
            <p:ph idx="2" type="sldImg"/>
          </p:nvPr>
        </p:nvSpPr>
        <p:spPr>
          <a:xfrm>
            <a:off x="-1166813" y="0"/>
            <a:ext cx="5334000" cy="3000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4" name="Google Shape;194;h13c6c42b85884eb5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h13c6c42b85884eb5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seal.png" id="12" name="Google Shape;1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692201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Google Shape;13;p1"/>
          <p:cNvCxnSpPr/>
          <p:nvPr/>
        </p:nvCxnSpPr>
        <p:spPr>
          <a:xfrm>
            <a:off x="993953" y="695858"/>
            <a:ext cx="0" cy="252374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ssets/mlogo.png" id="14" name="Google Shape;14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2533" y="692201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"/>
          <p:cNvSpPr txBox="1"/>
          <p:nvPr/>
        </p:nvSpPr>
        <p:spPr>
          <a:xfrm>
            <a:off x="1356970" y="666598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 txBox="1"/>
          <p:nvPr/>
        </p:nvSpPr>
        <p:spPr>
          <a:xfrm>
            <a:off x="1356970" y="834847"/>
            <a:ext cx="23774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685800" y="1810500"/>
            <a:ext cx="11076600" cy="2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43E"/>
              </a:buClr>
              <a:buSzPts val="7000"/>
              <a:buFont typeface="Saira"/>
              <a:buNone/>
            </a:pPr>
            <a:r>
              <a:rPr b="1" i="0" lang="en-US" sz="7000" u="none" cap="none" strike="noStrike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Marathon Project Meeting</a:t>
            </a:r>
            <a:endParaRPr b="0" i="0" sz="7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685800" y="4127950"/>
            <a:ext cx="109728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4487B8"/>
              </a:buClr>
              <a:buSzPts val="3470"/>
              <a:buFont typeface="DM Sans"/>
              <a:buNone/>
            </a:pPr>
            <a:r>
              <a:rPr b="1" i="0" lang="en-US" sz="3470" u="none" cap="none" strike="noStrike">
                <a:solidFill>
                  <a:srgbClr val="4487B8"/>
                </a:solidFill>
                <a:latin typeface="DM Sans"/>
                <a:ea typeface="DM Sans"/>
                <a:cs typeface="DM Sans"/>
                <a:sym typeface="DM Sans"/>
              </a:rPr>
              <a:t>Revisiting Data Cleaning Incorporating LLM – 2</a:t>
            </a:r>
            <a:endParaRPr b="0" i="0" sz="34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685800" y="5486400"/>
            <a:ext cx="6858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1330"/>
              <a:buFont typeface="DM Sans"/>
              <a:buNone/>
            </a:pPr>
            <a:r>
              <a:rPr b="0" i="0" lang="en-US" sz="133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SPONSOR: Jason Foster</a:t>
            </a:r>
            <a:endParaRPr b="0" i="0" sz="13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1330"/>
              <a:buFont typeface="DM Sans"/>
              <a:buNone/>
            </a:pPr>
            <a:r>
              <a:rPr b="0" i="0" lang="en-US" sz="133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ADVISOR: Sasha Stoikov</a:t>
            </a:r>
            <a:endParaRPr b="0" i="0" sz="13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1330"/>
              <a:buFont typeface="DM Sans"/>
              <a:buNone/>
            </a:pPr>
            <a:r>
              <a:rPr b="0" i="0" lang="en-US" sz="133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TEAM: Alex Lee, Max Yap, Minxi Lin, Yung Lee, Olivia Mei</a:t>
            </a:r>
            <a:endParaRPr b="0" i="0" sz="13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1330"/>
              <a:buFont typeface="DM Sans"/>
              <a:buNone/>
            </a:pPr>
            <a:r>
              <a:rPr b="0" i="0" lang="en-US" sz="133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DATE: October 8, 2026</a:t>
            </a:r>
            <a:endParaRPr b="0" i="0" sz="13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9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seal.png" id="25" name="Google Shape;25;h71c2a19aba2f255b_0_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" name="Google Shape;26;h71c2a19aba2f255b_0_41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ssets/mlogo.png" id="27" name="Google Shape;27;h71c2a19aba2f255b_0_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h71c2a19aba2f255b_0_41"/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h71c2a19aba2f255b_0_41"/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h71c2a19aba2f255b_0_41"/>
          <p:cNvSpPr txBox="1"/>
          <p:nvPr/>
        </p:nvSpPr>
        <p:spPr>
          <a:xfrm>
            <a:off x="697750" y="658375"/>
            <a:ext cx="9063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3200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Rules for Fair Value, Cost, and Principal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h71c2a19aba2f255b_0_41"/>
          <p:cNvSpPr txBox="1"/>
          <p:nvPr/>
        </p:nvSpPr>
        <p:spPr>
          <a:xfrm>
            <a:off x="685800" y="218275"/>
            <a:ext cx="36783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155CC"/>
                </a:solidFill>
              </a:rPr>
              <a:t>Value Cleaning</a:t>
            </a:r>
            <a:r>
              <a:rPr b="1" i="0" lang="en-US" sz="16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 | </a:t>
            </a:r>
            <a:r>
              <a:rPr b="1" lang="en-US" sz="1600">
                <a:solidFill>
                  <a:srgbClr val="1155CC"/>
                </a:solidFill>
              </a:rPr>
              <a:t>Rules</a:t>
            </a:r>
            <a:endParaRPr b="1" i="0" sz="16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2" name="Google Shape;32;h71c2a19aba2f255b_0_41"/>
          <p:cNvGraphicFramePr/>
          <p:nvPr/>
        </p:nvGraphicFramePr>
        <p:xfrm>
          <a:off x="101213" y="1258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{07213EA9-1547-4A63-AA08-DC131FC94DA9}</a:tableStyleId>
              </a:tblPr>
              <a:tblGrid>
                <a:gridCol w="2092750"/>
                <a:gridCol w="5882900"/>
                <a:gridCol w="649275"/>
                <a:gridCol w="3364650"/>
              </a:tblGrid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1C2541"/>
                          </a:solidFill>
                        </a:rPr>
                        <a:t>Rule</a:t>
                      </a:r>
                      <a:endParaRPr b="1" sz="1300">
                        <a:solidFill>
                          <a:srgbClr val="1C254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3B5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3B5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1C2541"/>
                          </a:solidFill>
                        </a:rPr>
                        <a:t>What it catches</a:t>
                      </a:r>
                      <a:endParaRPr b="1" sz="1300">
                        <a:solidFill>
                          <a:srgbClr val="1C254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3B5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3B5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3B5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1C2541"/>
                          </a:solidFill>
                        </a:rPr>
                        <a:t>Rows</a:t>
                      </a:r>
                      <a:endParaRPr b="1" sz="1300">
                        <a:solidFill>
                          <a:srgbClr val="1C254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3B5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3B5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3B5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1C2541"/>
                          </a:solidFill>
                        </a:rPr>
                        <a:t>Without it</a:t>
                      </a:r>
                      <a:endParaRPr b="1" sz="1300">
                        <a:solidFill>
                          <a:srgbClr val="1C254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3B5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3B5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3B5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C2541"/>
                          </a:solidFill>
                        </a:rPr>
                        <a:t>filing_mul1000</a:t>
                      </a:r>
                      <a:endParaRPr sz="1100">
                        <a:solidFill>
                          <a:srgbClr val="1C254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3B5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C2541"/>
                          </a:solidFill>
                        </a:rPr>
                        <a:t>Whole filing tags principal in thousands; fair value matches the filer's history</a:t>
                      </a:r>
                      <a:endParaRPr sz="1100">
                        <a:solidFill>
                          <a:srgbClr val="1C254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3B5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C2541"/>
                          </a:solidFill>
                        </a:rPr>
                        <a:t>959</a:t>
                      </a:r>
                      <a:endParaRPr sz="1100">
                        <a:solidFill>
                          <a:srgbClr val="1C254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3B5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C2541"/>
                          </a:solidFill>
                        </a:rPr>
                        <a:t>$3.5B of fair value divided away</a:t>
                      </a:r>
                      <a:endParaRPr sz="1100">
                        <a:solidFill>
                          <a:srgbClr val="1C254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3B5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C2541"/>
                          </a:solidFill>
                        </a:rPr>
                        <a:t>mul1000 on principal</a:t>
                      </a:r>
                      <a:endParaRPr sz="1100">
                        <a:solidFill>
                          <a:srgbClr val="1C254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C2541"/>
                          </a:solidFill>
                        </a:rPr>
                        <a:t>One principal 1,000x too small; fair value matches the position's other quarters</a:t>
                      </a:r>
                      <a:endParaRPr sz="1100">
                        <a:solidFill>
                          <a:srgbClr val="1C254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C2541"/>
                          </a:solidFill>
                        </a:rPr>
                        <a:t>39</a:t>
                      </a:r>
                      <a:endParaRPr sz="1100">
                        <a:solidFill>
                          <a:srgbClr val="1C254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C2541"/>
                          </a:solidFill>
                        </a:rPr>
                        <a:t>Fair value and cost divided instead</a:t>
                      </a:r>
                      <a:endParaRPr sz="1100">
                        <a:solidFill>
                          <a:srgbClr val="1C254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C2541"/>
                          </a:solidFill>
                        </a:rPr>
                        <a:t>div1000 on principal</a:t>
                      </a:r>
                      <a:endParaRPr sz="1100">
                        <a:solidFill>
                          <a:srgbClr val="1C254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C2541"/>
                          </a:solidFill>
                        </a:rPr>
                        <a:t>Principal about 1,000x cost; under $1M of cost, only an exact 1,000x on an outsized position</a:t>
                      </a:r>
                      <a:endParaRPr sz="1100">
                        <a:solidFill>
                          <a:srgbClr val="1C254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C2541"/>
                          </a:solidFill>
                        </a:rPr>
                        <a:t>56</a:t>
                      </a:r>
                      <a:endParaRPr sz="1100">
                        <a:solidFill>
                          <a:srgbClr val="1C254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C2541"/>
                          </a:solidFill>
                        </a:rPr>
                        <a:t>$1.6B phantom principal; +0.25pp income in 2026Q1</a:t>
                      </a:r>
                      <a:endParaRPr sz="1100">
                        <a:solidFill>
                          <a:srgbClr val="1C254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C2541"/>
                          </a:solidFill>
                        </a:rPr>
                        <a:t>div1000 on fair value / cost</a:t>
                      </a:r>
                      <a:endParaRPr sz="1100">
                        <a:solidFill>
                          <a:srgbClr val="1C254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C2541"/>
                          </a:solidFill>
                        </a:rPr>
                        <a:t>Fair value or cost 1,000x or 1,000,000x the principal</a:t>
                      </a:r>
                      <a:endParaRPr sz="1100">
                        <a:solidFill>
                          <a:srgbClr val="1C254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C2541"/>
                          </a:solidFill>
                        </a:rPr>
                        <a:t>153</a:t>
                      </a:r>
                      <a:endParaRPr sz="1100">
                        <a:solidFill>
                          <a:srgbClr val="1C254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C2541"/>
                          </a:solidFill>
                        </a:rPr>
                        <a:t>Position weight inflated 1,000x</a:t>
                      </a:r>
                      <a:endParaRPr sz="1100">
                        <a:solidFill>
                          <a:srgbClr val="1C254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C2541"/>
                          </a:solidFill>
                        </a:rPr>
                        <a:t>mul1000 on fair value / cost</a:t>
                      </a:r>
                      <a:endParaRPr sz="1100">
                        <a:solidFill>
                          <a:srgbClr val="1C254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C2541"/>
                          </a:solidFill>
                        </a:rPr>
                        <a:t>Fair value or cost exactly 1/1,000 of the principal</a:t>
                      </a:r>
                      <a:endParaRPr sz="1100">
                        <a:solidFill>
                          <a:srgbClr val="1C254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C2541"/>
                          </a:solidFill>
                        </a:rPr>
                        <a:t>23</a:t>
                      </a:r>
                      <a:endParaRPr sz="1100">
                        <a:solidFill>
                          <a:srgbClr val="1C254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C2541"/>
                          </a:solidFill>
                        </a:rPr>
                        <a:t>$178M carried at $0.2M</a:t>
                      </a:r>
                      <a:endParaRPr sz="1100">
                        <a:solidFill>
                          <a:srgbClr val="1C254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C2541"/>
                          </a:solidFill>
                        </a:rPr>
                        <a:t>filer_quarter_div1000</a:t>
                      </a:r>
                      <a:endParaRPr sz="1100">
                        <a:solidFill>
                          <a:srgbClr val="1C254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C2541"/>
                          </a:solidFill>
                        </a:rPr>
                        <a:t>Fair value, cost and principal all 1,000x too large together</a:t>
                      </a:r>
                      <a:endParaRPr sz="1100">
                        <a:solidFill>
                          <a:srgbClr val="1C254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C2541"/>
                          </a:solidFill>
                        </a:rPr>
                        <a:t>37</a:t>
                      </a:r>
                      <a:endParaRPr sz="1100">
                        <a:solidFill>
                          <a:srgbClr val="1C254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C2541"/>
                          </a:solidFill>
                        </a:rPr>
                        <a:t>2023Q1 total $565B, not $242B</a:t>
                      </a:r>
                      <a:endParaRPr sz="1100">
                        <a:solidFill>
                          <a:srgbClr val="1C254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C2541"/>
                          </a:solidFill>
                        </a:rPr>
                        <a:t>units_as_principal · equity cap</a:t>
                      </a:r>
                      <a:endParaRPr sz="1100">
                        <a:solidFill>
                          <a:srgbClr val="1C254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C2541"/>
                          </a:solidFill>
                        </a:rPr>
                        <a:t>Share or unit count in the principal field, far below or far above cost</a:t>
                      </a:r>
                      <a:endParaRPr sz="1100">
                        <a:solidFill>
                          <a:srgbClr val="1C254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C2541"/>
                          </a:solidFill>
                        </a:rPr>
                        <a:t>170</a:t>
                      </a:r>
                      <a:endParaRPr sz="1100">
                        <a:solidFill>
                          <a:srgbClr val="1C254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C2541"/>
                          </a:solidFill>
                        </a:rPr>
                        <a:t>Income booked on a count, not on dollars</a:t>
                      </a:r>
                      <a:endParaRPr sz="1100">
                        <a:solidFill>
                          <a:srgbClr val="1C254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C2541"/>
                          </a:solidFill>
                        </a:rPr>
                        <a:t>unit_mismatch_fixed</a:t>
                      </a:r>
                      <a:endParaRPr sz="1100">
                        <a:solidFill>
                          <a:srgbClr val="1C254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C2541"/>
                          </a:solidFill>
                        </a:rPr>
                        <a:t>Principal tagged in the wrong currency (yen as usd, dollars as EGP)</a:t>
                      </a:r>
                      <a:endParaRPr sz="1100">
                        <a:solidFill>
                          <a:srgbClr val="1C254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C2541"/>
                          </a:solidFill>
                        </a:rPr>
                        <a:t>30</a:t>
                      </a:r>
                      <a:endParaRPr sz="1100">
                        <a:solidFill>
                          <a:srgbClr val="1C254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C2541"/>
                          </a:solidFill>
                        </a:rPr>
                        <a:t>About $11B of phantom principal</a:t>
                      </a:r>
                      <a:endParaRPr sz="1100">
                        <a:solidFill>
                          <a:srgbClr val="1C254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C2541"/>
                          </a:solidFill>
                        </a:rPr>
                        <a:t>Currency table · ISK, KRW</a:t>
                      </a:r>
                      <a:endParaRPr sz="1100">
                        <a:solidFill>
                          <a:srgbClr val="1C254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C2541"/>
                          </a:solidFill>
                        </a:rPr>
                        <a:t>Unit tags the currency table did not know</a:t>
                      </a:r>
                      <a:endParaRPr sz="1100">
                        <a:solidFill>
                          <a:srgbClr val="1C254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C2541"/>
                          </a:solidFill>
                        </a:rPr>
                        <a:t>16</a:t>
                      </a:r>
                      <a:endParaRPr sz="1100">
                        <a:solidFill>
                          <a:srgbClr val="1C254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C2541"/>
                          </a:solidFill>
                        </a:rPr>
                        <a:t>$11.7B read as USD; 8 principals blank</a:t>
                      </a:r>
                      <a:endParaRPr sz="1100">
                        <a:solidFill>
                          <a:srgbClr val="1C254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C2541"/>
                          </a:solidFill>
                        </a:rPr>
                        <a:t>Rescale only round gaps</a:t>
                      </a:r>
                      <a:endParaRPr sz="1100">
                        <a:solidFill>
                          <a:srgbClr val="1C254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C2541"/>
                          </a:solidFill>
                        </a:rPr>
                        <a:t>A gap that is not 1,000x or 1,000,000x is kept and flagged "unresolved"</a:t>
                      </a:r>
                      <a:endParaRPr sz="1100">
                        <a:solidFill>
                          <a:srgbClr val="1C254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C2541"/>
                          </a:solidFill>
                        </a:rPr>
                        <a:t>262</a:t>
                      </a:r>
                      <a:endParaRPr sz="1100">
                        <a:solidFill>
                          <a:srgbClr val="1C254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C2541"/>
                          </a:solidFill>
                        </a:rPr>
                        <a:t>Real positions shrunk 1,000x</a:t>
                      </a:r>
                      <a:endParaRPr sz="1100">
                        <a:solidFill>
                          <a:srgbClr val="1C254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" name="Google Shape;33;h71c2a19aba2f255b_0_41"/>
          <p:cNvSpPr txBox="1"/>
          <p:nvPr/>
        </p:nvSpPr>
        <p:spPr>
          <a:xfrm>
            <a:off x="105450" y="6314475"/>
            <a:ext cx="119811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Rows in the final output of 502,299; first eight rules are mutually exclusive.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9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seal.png" id="39" name="Google Shape;39;h71c2a19aba2f255b_0_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" name="Google Shape;40;h71c2a19aba2f255b_0_115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ssets/mlogo.png" id="41" name="Google Shape;41;h71c2a19aba2f255b_0_1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h71c2a19aba2f255b_0_115"/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h71c2a19aba2f255b_0_115"/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h71c2a19aba2f255b_0_115"/>
          <p:cNvSpPr txBox="1"/>
          <p:nvPr/>
        </p:nvSpPr>
        <p:spPr>
          <a:xfrm>
            <a:off x="596100" y="576075"/>
            <a:ext cx="1138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3200">
                <a:solidFill>
                  <a:srgbClr val="1155CC"/>
                </a:solidFill>
              </a:rPr>
              <a:t>Examples | Handling Scale Errors in Principal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h71c2a19aba2f255b_0_115"/>
          <p:cNvSpPr txBox="1"/>
          <p:nvPr/>
        </p:nvSpPr>
        <p:spPr>
          <a:xfrm>
            <a:off x="314025" y="4814550"/>
            <a:ext cx="116028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agrees with</a:t>
            </a:r>
            <a:r>
              <a:rPr lang="en-US"/>
              <a:t>: ratio within 0.5x – 2.0x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exactly</a:t>
            </a:r>
            <a:r>
              <a:rPr lang="en-US"/>
              <a:t>: within ±5%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out of line</a:t>
            </a:r>
            <a:r>
              <a:rPr lang="en-US"/>
              <a:t>: more than 3x apart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about 1,000x</a:t>
            </a:r>
            <a:r>
              <a:rPr lang="en-US"/>
              <a:t>: 300x – 3000x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 the same tests done with 1,000,000 besides 1,000</a:t>
            </a:r>
            <a:endParaRPr/>
          </a:p>
        </p:txBody>
      </p:sp>
      <p:pic>
        <p:nvPicPr>
          <p:cNvPr id="46" name="Google Shape;46;h71c2a19aba2f255b_0_1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4013" y="1261875"/>
            <a:ext cx="11563969" cy="3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9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seal.png" id="52" name="Google Shape;52;h71c2a19aba2f255b_0_1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3" name="Google Shape;53;h71c2a19aba2f255b_0_129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ssets/mlogo.png" id="54" name="Google Shape;54;h71c2a19aba2f255b_0_1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h71c2a19aba2f255b_0_129"/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h71c2a19aba2f255b_0_129"/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h71c2a19aba2f255b_0_129"/>
          <p:cNvSpPr txBox="1"/>
          <p:nvPr/>
        </p:nvSpPr>
        <p:spPr>
          <a:xfrm>
            <a:off x="596100" y="576075"/>
            <a:ext cx="1138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3200">
                <a:solidFill>
                  <a:srgbClr val="1155CC"/>
                </a:solidFill>
              </a:rPr>
              <a:t>Examples | Handling Scale Errors in Fair Value and Cost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h71c2a19aba2f255b_0_129"/>
          <p:cNvSpPr txBox="1"/>
          <p:nvPr/>
        </p:nvSpPr>
        <p:spPr>
          <a:xfrm>
            <a:off x="1386875" y="4747450"/>
            <a:ext cx="9669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A small or negative fair value is otherwise untouched (uncommitted or delayed fund); not an error</a:t>
            </a:r>
            <a:endParaRPr/>
          </a:p>
        </p:txBody>
      </p:sp>
      <p:pic>
        <p:nvPicPr>
          <p:cNvPr id="59" name="Google Shape;59;h71c2a19aba2f255b_0_1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86875" y="1439750"/>
            <a:ext cx="9804057" cy="3307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h71c2a19aba2f255b_0_129"/>
          <p:cNvSpPr txBox="1"/>
          <p:nvPr/>
        </p:nvSpPr>
        <p:spPr>
          <a:xfrm>
            <a:off x="1386875" y="5176150"/>
            <a:ext cx="116028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agrees with</a:t>
            </a:r>
            <a:r>
              <a:rPr lang="en-US"/>
              <a:t>: ratio within 0.5x – 2.0x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exactly</a:t>
            </a:r>
            <a:r>
              <a:rPr lang="en-US"/>
              <a:t>: within ±5%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out of line</a:t>
            </a:r>
            <a:r>
              <a:rPr lang="en-US"/>
              <a:t>: more than 3x apart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about 1,000x</a:t>
            </a:r>
            <a:r>
              <a:rPr lang="en-US"/>
              <a:t>: 300x – 3000x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 the same tests done with 1,000,000 besides 1,000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9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seal.png" id="66" name="Google Shape;66;h71c2a19aba2f255b_0_1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7" name="Google Shape;67;h71c2a19aba2f255b_0_142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ssets/mlogo.png" id="68" name="Google Shape;68;h71c2a19aba2f255b_0_1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h71c2a19aba2f255b_0_142"/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h71c2a19aba2f255b_0_142"/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h71c2a19aba2f255b_0_142"/>
          <p:cNvSpPr txBox="1"/>
          <p:nvPr/>
        </p:nvSpPr>
        <p:spPr>
          <a:xfrm>
            <a:off x="596100" y="576075"/>
            <a:ext cx="1138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3200">
                <a:solidFill>
                  <a:srgbClr val="1155CC"/>
                </a:solidFill>
              </a:rPr>
              <a:t>Examples | Handling Currency Units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" name="Google Shape;72;h71c2a19aba2f255b_0_1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344500"/>
            <a:ext cx="11887202" cy="383436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h71c2a19aba2f255b_0_142"/>
          <p:cNvSpPr txBox="1"/>
          <p:nvPr/>
        </p:nvSpPr>
        <p:spPr>
          <a:xfrm>
            <a:off x="200325" y="5178850"/>
            <a:ext cx="116028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agrees with</a:t>
            </a:r>
            <a:r>
              <a:rPr lang="en-US"/>
              <a:t>: ratio within 0.5x – 2.0x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exactly</a:t>
            </a:r>
            <a:r>
              <a:rPr lang="en-US"/>
              <a:t>: within ±5%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out of line</a:t>
            </a:r>
            <a:r>
              <a:rPr lang="en-US"/>
              <a:t>: more than 3x apart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about 1,000x</a:t>
            </a:r>
            <a:r>
              <a:rPr lang="en-US"/>
              <a:t>: 300x – 3000x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9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seal.png" id="79" name="Google Shape;79;h71c2a19aba2f255b_0_1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0" name="Google Shape;80;h71c2a19aba2f255b_0_156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ssets/mlogo.png" id="81" name="Google Shape;81;h71c2a19aba2f255b_0_1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h71c2a19aba2f255b_0_156"/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h71c2a19aba2f255b_0_156"/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h71c2a19aba2f255b_0_156"/>
          <p:cNvSpPr txBox="1"/>
          <p:nvPr/>
        </p:nvSpPr>
        <p:spPr>
          <a:xfrm>
            <a:off x="596100" y="590825"/>
            <a:ext cx="1138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3200">
                <a:solidFill>
                  <a:srgbClr val="1155CC"/>
                </a:solidFill>
              </a:rPr>
              <a:t>Examples | Handling Unit Counts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h71c2a19aba2f255b_0_1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4850" y="1139950"/>
            <a:ext cx="10982325" cy="41829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h71c2a19aba2f255b_0_156"/>
          <p:cNvSpPr txBox="1"/>
          <p:nvPr/>
        </p:nvSpPr>
        <p:spPr>
          <a:xfrm>
            <a:off x="604850" y="5322925"/>
            <a:ext cx="116028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agrees with</a:t>
            </a:r>
            <a:r>
              <a:rPr lang="en-US"/>
              <a:t>: ratio within 0.5x – 2.0x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exactly</a:t>
            </a:r>
            <a:r>
              <a:rPr lang="en-US"/>
              <a:t>: within ±5%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out of line</a:t>
            </a:r>
            <a:r>
              <a:rPr lang="en-US"/>
              <a:t>: more than 3x apart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about 1,000x</a:t>
            </a:r>
            <a:r>
              <a:rPr lang="en-US"/>
              <a:t>: 300x – 3000x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9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seal.png" id="92" name="Google Shape;92;h71c2a19aba2f255b_0_1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" name="Google Shape;93;h71c2a19aba2f255b_0_175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ssets/mlogo.png" id="94" name="Google Shape;94;h71c2a19aba2f255b_0_1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h71c2a19aba2f255b_0_175"/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h71c2a19aba2f255b_0_175"/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h71c2a19aba2f255b_0_175"/>
          <p:cNvSpPr txBox="1"/>
          <p:nvPr/>
        </p:nvSpPr>
        <p:spPr>
          <a:xfrm>
            <a:off x="596100" y="590825"/>
            <a:ext cx="1138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3200" u="none" cap="none" strike="noStrike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Data cleaning result</a:t>
            </a:r>
            <a:r>
              <a:rPr b="1" lang="en-US" sz="3200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 for FV, PAR, &amp; COST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h71c2a19aba2f255b_0_175"/>
          <p:cNvSpPr txBox="1"/>
          <p:nvPr/>
        </p:nvSpPr>
        <p:spPr>
          <a:xfrm>
            <a:off x="596100" y="6325350"/>
            <a:ext cx="108567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Negative values are intact before and after cleaning; they mostly indicate uncommitted or delayed funds. </a:t>
            </a:r>
            <a:endParaRPr/>
          </a:p>
        </p:txBody>
      </p:sp>
      <p:graphicFrame>
        <p:nvGraphicFramePr>
          <p:cNvPr id="99" name="Google Shape;99;h71c2a19aba2f255b_0_175"/>
          <p:cNvGraphicFramePr/>
          <p:nvPr/>
        </p:nvGraphicFramePr>
        <p:xfrm>
          <a:off x="596100" y="1139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{07213EA9-1547-4A63-AA08-DC131FC94DA9}</a:tableStyleId>
              </a:tblPr>
              <a:tblGrid>
                <a:gridCol w="3476625"/>
                <a:gridCol w="1914525"/>
                <a:gridCol w="1733550"/>
                <a:gridCol w="1714500"/>
                <a:gridCol w="1704975"/>
              </a:tblGrid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2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Negative values (kept as filed)</a:t>
                      </a:r>
                      <a:endParaRPr b="1" sz="120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3B5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3B5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2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Rows</a:t>
                      </a:r>
                      <a:endParaRPr b="1" sz="120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3B5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3B5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3B5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2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Min</a:t>
                      </a:r>
                      <a:endParaRPr b="1" sz="120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3B5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3B5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3B5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2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Median</a:t>
                      </a:r>
                      <a:endParaRPr b="1" sz="120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3B5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3B5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3B5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2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Max</a:t>
                      </a:r>
                      <a:endParaRPr b="1" sz="120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3B5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3B5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3B5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2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Negative principal</a:t>
                      </a:r>
                      <a:endParaRPr sz="120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3B5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2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8</a:t>
                      </a:r>
                      <a:endParaRPr sz="120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3B5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2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−$134K</a:t>
                      </a:r>
                      <a:endParaRPr sz="120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3B5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2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−$13K</a:t>
                      </a:r>
                      <a:endParaRPr sz="120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3B5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2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−$2,449</a:t>
                      </a:r>
                      <a:endParaRPr sz="120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3B5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2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Negative cost</a:t>
                      </a:r>
                      <a:endParaRPr sz="120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2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48,317 (9.62%)</a:t>
                      </a:r>
                      <a:endParaRPr sz="120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2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−$26.47M</a:t>
                      </a:r>
                      <a:endParaRPr sz="120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2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−$10K</a:t>
                      </a:r>
                      <a:endParaRPr sz="120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2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−$1</a:t>
                      </a:r>
                      <a:endParaRPr sz="120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2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Negative fair value</a:t>
                      </a:r>
                      <a:endParaRPr sz="120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2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37,966 (7.56%)</a:t>
                      </a:r>
                      <a:endParaRPr sz="120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2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−$25.96M</a:t>
                      </a:r>
                      <a:endParaRPr sz="120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2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−$14K</a:t>
                      </a:r>
                      <a:endParaRPr sz="120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2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−$1</a:t>
                      </a:r>
                      <a:endParaRPr sz="120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0" name="Google Shape;100;h71c2a19aba2f255b_0_175"/>
          <p:cNvGraphicFramePr/>
          <p:nvPr/>
        </p:nvGraphicFramePr>
        <p:xfrm>
          <a:off x="596100" y="3043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{07213EA9-1547-4A63-AA08-DC131FC94DA9}</a:tableStyleId>
              </a:tblPr>
              <a:tblGrid>
                <a:gridCol w="5419725"/>
                <a:gridCol w="2562225"/>
                <a:gridCol w="25622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2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Unit mistagging errors (each row counted once)</a:t>
                      </a:r>
                      <a:endParaRPr b="1" sz="120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3B5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3B5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2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As filed</a:t>
                      </a:r>
                      <a:endParaRPr b="1" sz="120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3B5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3B5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3B5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2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Final</a:t>
                      </a:r>
                      <a:endParaRPr b="1" sz="120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3B5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3B5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3B5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2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Principal 1,000x off</a:t>
                      </a:r>
                      <a:endParaRPr b="1" sz="120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3B5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2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1,054</a:t>
                      </a:r>
                      <a:endParaRPr b="1" sz="120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3B5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2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A9561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</a:t>
                      </a:r>
                      <a:endParaRPr b="1" sz="1200">
                        <a:solidFill>
                          <a:srgbClr val="A9561C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3B5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2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Fair value or cost 1,000x off</a:t>
                      </a:r>
                      <a:endParaRPr b="1" sz="120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2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176</a:t>
                      </a:r>
                      <a:endParaRPr b="1" sz="120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2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A9561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</a:t>
                      </a:r>
                      <a:endParaRPr b="1" sz="1200">
                        <a:solidFill>
                          <a:srgbClr val="A9561C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2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All three amounts 1,000x too large</a:t>
                      </a:r>
                      <a:endParaRPr b="1" sz="120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2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37</a:t>
                      </a:r>
                      <a:endParaRPr b="1" sz="120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2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A9561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</a:t>
                      </a:r>
                      <a:endParaRPr b="1" sz="1200">
                        <a:solidFill>
                          <a:srgbClr val="A9561C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2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Share or unit count as principal</a:t>
                      </a:r>
                      <a:endParaRPr sz="120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2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170</a:t>
                      </a:r>
                      <a:endParaRPr sz="120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2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A9561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</a:t>
                      </a:r>
                      <a:endParaRPr sz="1200">
                        <a:solidFill>
                          <a:srgbClr val="A9561C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2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Principal in the wrong currency</a:t>
                      </a:r>
                      <a:endParaRPr sz="120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BC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2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30</a:t>
                      </a:r>
                      <a:endParaRPr sz="120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BC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2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A9561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</a:t>
                      </a:r>
                      <a:endParaRPr sz="1200">
                        <a:solidFill>
                          <a:srgbClr val="A9561C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BC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2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Total</a:t>
                      </a: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6BC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BC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BC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BC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2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1,467 (0.29%)</a:t>
                      </a: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6BC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BC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BC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BC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2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6BC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BC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BC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BC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9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seal.png" id="106" name="Google Shape;106;h73caec4e7783443e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7" name="Google Shape;107;h73caec4e7783443e_0_0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ssets/mlogo.png" id="108" name="Google Shape;108;h73caec4e7783443e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h73caec4e7783443e_0_0"/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h73caec4e7783443e_0_0"/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h73caec4e7783443e_0_0"/>
          <p:cNvSpPr txBox="1"/>
          <p:nvPr/>
        </p:nvSpPr>
        <p:spPr>
          <a:xfrm>
            <a:off x="596100" y="590825"/>
            <a:ext cx="1138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3200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Missing values</a:t>
            </a:r>
            <a:r>
              <a:rPr b="1" lang="en-US" sz="3200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 for FV, PAR, &amp; COST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2" name="Google Shape;112;h73caec4e7783443e_0_0"/>
          <p:cNvGraphicFramePr/>
          <p:nvPr/>
        </p:nvGraphicFramePr>
        <p:xfrm>
          <a:off x="596100" y="1159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{07213EA9-1547-4A63-AA08-DC131FC94DA9}</a:tableStyleId>
              </a:tblPr>
              <a:tblGrid>
                <a:gridCol w="1781175"/>
                <a:gridCol w="1781175"/>
                <a:gridCol w="1800225"/>
                <a:gridCol w="1790700"/>
                <a:gridCol w="1504950"/>
                <a:gridCol w="1885950"/>
              </a:tblGrid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Fair value</a:t>
                      </a:r>
                      <a:endParaRPr b="1" sz="125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3B5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3B5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Cost</a:t>
                      </a:r>
                      <a:endParaRPr b="1" sz="125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3B5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3B5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3B5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Principal</a:t>
                      </a:r>
                      <a:endParaRPr b="1" sz="125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3B5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3B5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3B5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Rows</a:t>
                      </a:r>
                      <a:endParaRPr b="1" sz="125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3B5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3B5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3B5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% Rows</a:t>
                      </a:r>
                      <a:endParaRPr b="1" sz="125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3B5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3B5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3B5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Fair value, $B</a:t>
                      </a:r>
                      <a:endParaRPr b="1" sz="125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3B5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3B5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3B5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Present</a:t>
                      </a:r>
                      <a:endParaRPr sz="125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BC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3B5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BC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Present</a:t>
                      </a:r>
                      <a:endParaRPr sz="125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6BC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BC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3B5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BC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Present</a:t>
                      </a:r>
                      <a:endParaRPr sz="125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6BC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BC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3B5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BC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459,183</a:t>
                      </a:r>
                      <a:endParaRPr sz="125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6BC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BC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3B5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BC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91.42%</a:t>
                      </a:r>
                      <a:endParaRPr sz="125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6BC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BC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3B5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BC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5,090.4</a:t>
                      </a:r>
                      <a:endParaRPr sz="125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6BC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BC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3B5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BC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Present</a:t>
                      </a:r>
                      <a:endParaRPr sz="125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BC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Present</a:t>
                      </a:r>
                      <a:endParaRPr sz="125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BC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>
                          <a:solidFill>
                            <a:srgbClr val="A9561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Missing</a:t>
                      </a:r>
                      <a:endParaRPr sz="1250">
                        <a:solidFill>
                          <a:srgbClr val="A9561C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BC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19,468</a:t>
                      </a:r>
                      <a:endParaRPr sz="125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BC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3.88%</a:t>
                      </a:r>
                      <a:endParaRPr sz="125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BC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272.5</a:t>
                      </a:r>
                      <a:endParaRPr sz="125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BC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Present</a:t>
                      </a:r>
                      <a:endParaRPr sz="125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>
                          <a:solidFill>
                            <a:srgbClr val="A9561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Missing</a:t>
                      </a:r>
                      <a:endParaRPr sz="1250">
                        <a:solidFill>
                          <a:srgbClr val="A9561C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Present</a:t>
                      </a:r>
                      <a:endParaRPr sz="125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6,810</a:t>
                      </a:r>
                      <a:endParaRPr sz="125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1.36%</a:t>
                      </a:r>
                      <a:endParaRPr sz="125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24.7</a:t>
                      </a:r>
                      <a:endParaRPr sz="125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Present</a:t>
                      </a:r>
                      <a:endParaRPr sz="125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>
                          <a:solidFill>
                            <a:srgbClr val="A9561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Missing</a:t>
                      </a:r>
                      <a:endParaRPr sz="1250">
                        <a:solidFill>
                          <a:srgbClr val="A9561C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>
                          <a:solidFill>
                            <a:srgbClr val="A9561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Missing</a:t>
                      </a:r>
                      <a:endParaRPr sz="1250">
                        <a:solidFill>
                          <a:srgbClr val="A9561C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2,254</a:t>
                      </a:r>
                      <a:endParaRPr sz="125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0.45%</a:t>
                      </a:r>
                      <a:endParaRPr sz="125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13.2</a:t>
                      </a:r>
                      <a:endParaRPr sz="125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>
                          <a:solidFill>
                            <a:srgbClr val="A9561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Missing</a:t>
                      </a:r>
                      <a:endParaRPr sz="1250">
                        <a:solidFill>
                          <a:srgbClr val="A9561C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Present</a:t>
                      </a:r>
                      <a:endParaRPr sz="125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Present</a:t>
                      </a:r>
                      <a:endParaRPr sz="125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678</a:t>
                      </a:r>
                      <a:endParaRPr sz="125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0.13%</a:t>
                      </a:r>
                      <a:endParaRPr sz="125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–</a:t>
                      </a:r>
                      <a:endParaRPr sz="125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>
                          <a:solidFill>
                            <a:srgbClr val="A9561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Missing</a:t>
                      </a:r>
                      <a:endParaRPr sz="1250">
                        <a:solidFill>
                          <a:srgbClr val="A9561C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Present</a:t>
                      </a:r>
                      <a:endParaRPr sz="125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>
                          <a:solidFill>
                            <a:srgbClr val="A9561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Missing</a:t>
                      </a:r>
                      <a:endParaRPr sz="1250">
                        <a:solidFill>
                          <a:srgbClr val="A9561C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1,555</a:t>
                      </a:r>
                      <a:endParaRPr sz="125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0.31%</a:t>
                      </a:r>
                      <a:endParaRPr sz="125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–</a:t>
                      </a:r>
                      <a:endParaRPr sz="125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>
                          <a:solidFill>
                            <a:srgbClr val="A9561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Missing</a:t>
                      </a:r>
                      <a:endParaRPr sz="1250">
                        <a:solidFill>
                          <a:srgbClr val="A9561C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>
                          <a:solidFill>
                            <a:srgbClr val="A9561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Missing</a:t>
                      </a:r>
                      <a:endParaRPr sz="1250">
                        <a:solidFill>
                          <a:srgbClr val="A9561C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Present</a:t>
                      </a:r>
                      <a:endParaRPr sz="125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2,606</a:t>
                      </a:r>
                      <a:endParaRPr sz="125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0.52%</a:t>
                      </a:r>
                      <a:endParaRPr sz="125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–</a:t>
                      </a:r>
                      <a:endParaRPr sz="125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>
                          <a:solidFill>
                            <a:srgbClr val="A9561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Missing</a:t>
                      </a:r>
                      <a:endParaRPr sz="1250">
                        <a:solidFill>
                          <a:srgbClr val="A9561C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>
                          <a:solidFill>
                            <a:srgbClr val="A9561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Missing</a:t>
                      </a:r>
                      <a:endParaRPr sz="1250">
                        <a:solidFill>
                          <a:srgbClr val="A9561C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>
                          <a:solidFill>
                            <a:srgbClr val="A9561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Missing</a:t>
                      </a:r>
                      <a:endParaRPr sz="1250">
                        <a:solidFill>
                          <a:srgbClr val="A9561C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9,745</a:t>
                      </a:r>
                      <a:endParaRPr sz="125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1.94%</a:t>
                      </a:r>
                      <a:endParaRPr sz="125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–</a:t>
                      </a:r>
                      <a:endParaRPr sz="125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Total</a:t>
                      </a:r>
                      <a:endParaRPr sz="125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502,299</a:t>
                      </a:r>
                      <a:endParaRPr sz="125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100.00%</a:t>
                      </a:r>
                      <a:endParaRPr sz="125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>
                          <a:solidFill>
                            <a:srgbClr val="1C254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5,400.8</a:t>
                      </a:r>
                      <a:endParaRPr sz="1250">
                        <a:solidFill>
                          <a:srgbClr val="1C254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1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3" name="Google Shape;113;h73caec4e7783443e_0_0"/>
          <p:cNvSpPr txBox="1"/>
          <p:nvPr/>
        </p:nvSpPr>
        <p:spPr>
          <a:xfrm>
            <a:off x="596138" y="6080500"/>
            <a:ext cx="10544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Fair value: 14,584 rows missing (2.90%), Cost: 21,415 rows missing (4.26%), Principal: 33,022 rows missing (6.57%)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Cleaning does not fill or drop these, so the counts are the same as filed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Fair value in $B is the sum of absolute values (aggregate cash flows involved) over all 14 quarters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9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seal.png" id="119" name="Google Shape;119;h73caec4e7783443e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0" name="Google Shape;120;h73caec4e7783443e_1_0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ssets/mlogo.png" id="121" name="Google Shape;121;h73caec4e7783443e_1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h73caec4e7783443e_1_0"/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h73caec4e7783443e_1_0"/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h73caec4e7783443e_1_0"/>
          <p:cNvSpPr txBox="1"/>
          <p:nvPr/>
        </p:nvSpPr>
        <p:spPr>
          <a:xfrm>
            <a:off x="596100" y="590825"/>
            <a:ext cx="1138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3200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Sector/Loan Seniority Classification - LLM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h73caec4e7783443e_1_0"/>
          <p:cNvSpPr txBox="1"/>
          <p:nvPr/>
        </p:nvSpPr>
        <p:spPr>
          <a:xfrm>
            <a:off x="596100" y="1339350"/>
            <a:ext cx="1054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2026 Q2 → extend to the entire dataset (future)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LLM Models: Gemini 3.1 Pro, Claude Sonnet 5.5, ChatGPT 5.6 Luna</a:t>
            </a:r>
            <a:endParaRPr/>
          </a:p>
        </p:txBody>
      </p:sp>
      <p:pic>
        <p:nvPicPr>
          <p:cNvPr id="126" name="Google Shape;126;h73caec4e7783443e_1_0" title="Screenshot 2026-10-04 at 7.36.01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3050" y="2645425"/>
            <a:ext cx="6724650" cy="240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h73caec4e7783443e_1_0" title="Screenshot 2026-10-04 at 7.36.11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71550" y="2604925"/>
            <a:ext cx="5010149" cy="2530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9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seal.png" id="133" name="Google Shape;133;h73caec4e7783443e_1_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4" name="Google Shape;134;h73caec4e7783443e_1_15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ssets/mlogo.png" id="135" name="Google Shape;135;h73caec4e7783443e_1_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h73caec4e7783443e_1_15"/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h73caec4e7783443e_1_15"/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h73caec4e7783443e_1_15"/>
          <p:cNvSpPr txBox="1"/>
          <p:nvPr/>
        </p:nvSpPr>
        <p:spPr>
          <a:xfrm>
            <a:off x="596100" y="590825"/>
            <a:ext cx="1138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3200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Sector/Loan Seniority Classification - LLM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" name="Google Shape;139;h73caec4e7783443e_1_15" title="Screenshot 2026-10-04 at 7.37.35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6100" y="1184450"/>
            <a:ext cx="7035433" cy="527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9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seal.png" id="145" name="Google Shape;145;h73caec4e7783443e_1_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6" name="Google Shape;146;h73caec4e7783443e_1_29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ssets/mlogo.png" id="147" name="Google Shape;147;h73caec4e7783443e_1_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h73caec4e7783443e_1_29"/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h73caec4e7783443e_1_29"/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h73caec4e7783443e_1_29"/>
          <p:cNvSpPr txBox="1"/>
          <p:nvPr/>
        </p:nvSpPr>
        <p:spPr>
          <a:xfrm>
            <a:off x="596100" y="590825"/>
            <a:ext cx="1138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3200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Sector/Loan Seniority Classification - LLM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Google Shape;151;h73caec4e7783443e_1_29" title="Screenshot 2026-10-04 at 7.38.25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918175"/>
            <a:ext cx="11887198" cy="32732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9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seal.png" id="157" name="Google Shape;157;h69e5d5706f53bffa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8" name="Google Shape;158;h69e5d5706f53bffa_0_0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ssets/mlogo.png" id="159" name="Google Shape;159;h69e5d5706f53bffa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h69e5d5706f53bffa_0_0"/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h69e5d5706f53bffa_0_0"/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h69e5d5706f53bffa_0_0"/>
          <p:cNvSpPr txBox="1"/>
          <p:nvPr/>
        </p:nvSpPr>
        <p:spPr>
          <a:xfrm>
            <a:off x="596100" y="590825"/>
            <a:ext cx="1138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3200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Borrower Name - Full-Universe Evaluation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h69e5d5706f53bffa_0_0"/>
          <p:cNvSpPr txBox="1"/>
          <p:nvPr/>
        </p:nvSpPr>
        <p:spPr>
          <a:xfrm>
            <a:off x="596100" y="1146300"/>
            <a:ext cx="10544100" cy="55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Benchmark Construction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Results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Review required: 1,486 rows, or 0.71%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Validation issue rows: 308 rows, or 0.15%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Parser failures: 3 rows, or 0.001%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aphicFrame>
        <p:nvGraphicFramePr>
          <p:cNvPr id="164" name="Google Shape;164;h69e5d5706f53bffa_0_0"/>
          <p:cNvGraphicFramePr/>
          <p:nvPr/>
        </p:nvGraphicFramePr>
        <p:xfrm>
          <a:off x="952500" y="1669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{D0773569-B6B9-448E-8E3C-2C3D85EB6412}</a:tableStyleId>
              </a:tblPr>
              <a:tblGrid>
                <a:gridCol w="3072725"/>
                <a:gridCol w="1487375"/>
                <a:gridCol w="5726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Benchmark Composition</a:t>
                      </a:r>
                      <a:endParaRPr b="1"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Count</a:t>
                      </a:r>
                      <a:endParaRPr b="1"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Label Source</a:t>
                      </a:r>
                      <a:endParaRPr b="1" sz="1600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Original accepted outputs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206,140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Original output treated as provisional benchmark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Corrected changelog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4,460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Manually corrected labels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Total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210,600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65" name="Google Shape;165;h69e5d5706f53bffa_0_0"/>
          <p:cNvGraphicFramePr/>
          <p:nvPr/>
        </p:nvGraphicFramePr>
        <p:xfrm>
          <a:off x="921913" y="3769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{D0773569-B6B9-448E-8E3C-2C3D85EB6412}</a:tableStyleId>
              </a:tblPr>
              <a:tblGrid>
                <a:gridCol w="2354125"/>
                <a:gridCol w="1852325"/>
                <a:gridCol w="1028125"/>
                <a:gridCol w="5113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Component</a:t>
                      </a:r>
                      <a:endParaRPr b="1"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Exact Matches</a:t>
                      </a:r>
                      <a:endParaRPr b="1"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Total</a:t>
                      </a:r>
                      <a:endParaRPr b="1"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Result</a:t>
                      </a:r>
                      <a:endParaRPr b="1" sz="1600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Original accepted</a:t>
                      </a:r>
                      <a:endParaRPr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196,734</a:t>
                      </a:r>
                      <a:endParaRPr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206,140</a:t>
                      </a:r>
                      <a:endParaRPr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95.44% preservation</a:t>
                      </a:r>
                      <a:endParaRPr sz="1600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Corrected changelog</a:t>
                      </a:r>
                      <a:endParaRPr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4,243</a:t>
                      </a:r>
                      <a:endParaRPr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4,460</a:t>
                      </a:r>
                      <a:endParaRPr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95.13% recovery</a:t>
                      </a:r>
                      <a:endParaRPr sz="1600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Combined</a:t>
                      </a:r>
                      <a:endParaRPr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200,977</a:t>
                      </a:r>
                      <a:endParaRPr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210,600</a:t>
                      </a:r>
                      <a:endParaRPr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95.43% agreement under benchmark assumption</a:t>
                      </a:r>
                      <a:endParaRPr sz="1600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9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seal.png" id="171" name="Google Shape;171;h69e5d5706f53bffa_1_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h69e5d5706f53bffa_1_22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ssets/mlogo.png" id="173" name="Google Shape;173;h69e5d5706f53bffa_1_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h69e5d5706f53bffa_1_22"/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h69e5d5706f53bffa_1_22"/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h69e5d5706f53bffa_1_22"/>
          <p:cNvSpPr txBox="1"/>
          <p:nvPr/>
        </p:nvSpPr>
        <p:spPr>
          <a:xfrm>
            <a:off x="596100" y="590825"/>
            <a:ext cx="1138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3200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Borrower Name - </a:t>
            </a:r>
            <a:r>
              <a:rPr b="1" lang="en-US" sz="3200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Interpreting the 9,406 Differences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h69e5d5706f53bffa_1_22"/>
          <p:cNvSpPr txBox="1"/>
          <p:nvPr/>
        </p:nvSpPr>
        <p:spPr>
          <a:xfrm>
            <a:off x="596100" y="1146300"/>
            <a:ext cx="10544100" cy="55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The new result differs from the original accepted output in 9,406 cases, or 4.56%.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Possible </a:t>
            </a:r>
            <a:r>
              <a:rPr lang="en-US" sz="1800"/>
              <a:t>error</a:t>
            </a:r>
            <a:r>
              <a:rPr lang="en-US" sz="1800"/>
              <a:t> (~6,975): US Bidco, LLC v.s </a:t>
            </a:r>
            <a:r>
              <a:rPr lang="en-US" sz="1800">
                <a:solidFill>
                  <a:srgbClr val="FF0000"/>
                </a:solidFill>
              </a:rPr>
              <a:t>Cyber</a:t>
            </a:r>
            <a:r>
              <a:rPr lang="en-US" sz="1800"/>
              <a:t> US Bidco, LLC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Possible additional correction (~423): United States of America SBP Holdings LP v.s SBP Holdings LP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Manual review (~2,008): Lexipol v.s Ranger Buyer, Inc.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aphicFrame>
        <p:nvGraphicFramePr>
          <p:cNvPr id="178" name="Google Shape;178;h69e5d5706f53bffa_1_22"/>
          <p:cNvGraphicFramePr/>
          <p:nvPr/>
        </p:nvGraphicFramePr>
        <p:xfrm>
          <a:off x="952500" y="1661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{D0773569-B6B9-448E-8E3C-2C3D85EB6412}</a:tableStyleId>
              </a:tblPr>
              <a:tblGrid>
                <a:gridCol w="3286500"/>
                <a:gridCol w="1505200"/>
                <a:gridCol w="5495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Difference pattern</a:t>
                      </a:r>
                      <a:endParaRPr b="1" sz="1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Count</a:t>
                      </a:r>
                      <a:endParaRPr b="1" sz="1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Interpretation</a:t>
                      </a:r>
                      <a:endParaRPr b="1" sz="1800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Original name contained inside V2 output</a:t>
                      </a:r>
                      <a:endParaRPr sz="1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5,289</a:t>
                      </a:r>
                      <a:endParaRPr sz="1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V2 may have retained an extra prefix or trade name</a:t>
                      </a:r>
                      <a:endParaRPr sz="1800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V2 output contained inside original name</a:t>
                      </a:r>
                      <a:endParaRPr sz="1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2,675</a:t>
                      </a:r>
                      <a:endParaRPr sz="1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V2 may have removed noise or truncated the name</a:t>
                      </a:r>
                      <a:endParaRPr sz="1800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V2 returned null</a:t>
                      </a:r>
                      <a:endParaRPr sz="1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814</a:t>
                      </a:r>
                      <a:endParaRPr sz="1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High-priority review</a:t>
                      </a:r>
                      <a:endParaRPr sz="1800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Different entities selected</a:t>
                      </a:r>
                      <a:endParaRPr sz="1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623</a:t>
                      </a:r>
                      <a:endParaRPr sz="1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Semantic entity-selection conflict</a:t>
                      </a:r>
                      <a:endParaRPr sz="1800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Same tokens in different order</a:t>
                      </a:r>
                      <a:endParaRPr sz="1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 sz="1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Minor normalization difference</a:t>
                      </a:r>
                      <a:endParaRPr sz="1800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Total</a:t>
                      </a:r>
                      <a:endParaRPr sz="1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9,406</a:t>
                      </a:r>
                      <a:endParaRPr sz="1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9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seal.png" id="184" name="Google Shape;184;h69e5d5706f53bffa_1_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5" name="Google Shape;185;h69e5d5706f53bffa_1_85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ssets/mlogo.png" id="186" name="Google Shape;186;h69e5d5706f53bffa_1_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h69e5d5706f53bffa_1_85"/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h69e5d5706f53bffa_1_85"/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h69e5d5706f53bffa_1_85"/>
          <p:cNvSpPr txBox="1"/>
          <p:nvPr/>
        </p:nvSpPr>
        <p:spPr>
          <a:xfrm>
            <a:off x="596100" y="590825"/>
            <a:ext cx="1138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3200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Borrower Name - </a:t>
            </a:r>
            <a:r>
              <a:rPr b="1" lang="en-US" sz="3200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Comparison with the original pipeline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h69e5d5706f53bffa_1_85"/>
          <p:cNvSpPr txBox="1"/>
          <p:nvPr/>
        </p:nvSpPr>
        <p:spPr>
          <a:xfrm>
            <a:off x="596100" y="1146300"/>
            <a:ext cx="10544100" cy="55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Result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Why underperformed globally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/>
              <a:t>Targeted optimization: the new pipeline was designed around the error patterns in the changelog but was applied to many names that were already clean.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/>
              <a:t>Candidate boundaries: Industry and trade-name prefixes were sometimes retained with the legal entity.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/>
              <a:t>Over-cleaning: the new pipeline sometimes returned null, truncated co-borrowers, or removed CLO and deal identifiers.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/>
              <a:t>Definition mismatch: the new pipeline prioritizes legal entities, while some original outputs use trade names.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/>
              <a:t>Limited validation: Source validation confirms that a name appears in the source, but not that the correct entity span was selected.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aphicFrame>
        <p:nvGraphicFramePr>
          <p:cNvPr id="191" name="Google Shape;191;h69e5d5706f53bffa_1_85"/>
          <p:cNvGraphicFramePr/>
          <p:nvPr/>
        </p:nvGraphicFramePr>
        <p:xfrm>
          <a:off x="952500" y="1574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{D0773569-B6B9-448E-8E3C-2C3D85EB6412}</a:tableStyleId>
              </a:tblPr>
              <a:tblGrid>
                <a:gridCol w="1930475"/>
                <a:gridCol w="2981450"/>
                <a:gridCol w="2803325"/>
                <a:gridCol w="2571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Pipeline</a:t>
                      </a:r>
                      <a:endParaRPr b="1" sz="1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Correct under benchmark assumption</a:t>
                      </a:r>
                      <a:endParaRPr b="1" sz="1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Total</a:t>
                      </a:r>
                      <a:endParaRPr b="1" sz="1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Correct Percentage</a:t>
                      </a:r>
                      <a:endParaRPr b="1" sz="1800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Original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206,140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210,600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97.88%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New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200,977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210,600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95.43%</a:t>
                      </a:r>
                      <a:endParaRPr sz="1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9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seal.png" id="197" name="Google Shape;197;h13c6c42b85884eb5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8" name="Google Shape;198;h13c6c42b85884eb5_0_0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ssets/mlogo.png" id="199" name="Google Shape;199;h13c6c42b85884eb5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h13c6c42b85884eb5_0_0"/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h13c6c42b85884eb5_0_0"/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h13c6c42b85884eb5_0_0"/>
          <p:cNvSpPr txBox="1"/>
          <p:nvPr/>
        </p:nvSpPr>
        <p:spPr>
          <a:xfrm>
            <a:off x="596100" y="590825"/>
            <a:ext cx="1138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3200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Nowcasting</a:t>
            </a:r>
            <a:r>
              <a:rPr b="1" lang="en-US" sz="3200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 - Next Steps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h13c6c42b85884eb5_0_0"/>
          <p:cNvSpPr txBox="1"/>
          <p:nvPr/>
        </p:nvSpPr>
        <p:spPr>
          <a:xfrm>
            <a:off x="596100" y="1146300"/>
            <a:ext cx="10544100" cy="55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Goal: Improve the use case of the index in spotting stress in private credit early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Proposal: Build a weekly nowcast of the current quarter's private credit index, update it as information arrives, and replace it with the realized value once filings are processed.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Data: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/>
              <a:t>Utilise earnings release (Form 8-K) with quarter-end NAV per share, released for some BDCs before 10-Q is filed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/>
              <a:t>Higher frequency market data (BDC prices and P/NAV discounts)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 sz="1800"/>
          </a:p>
        </p:txBody>
      </p:sp>
      <p:pic>
        <p:nvPicPr>
          <p:cNvPr id="204" name="Google Shape;204;h13c6c42b85884eb5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45875" y="3620651"/>
            <a:ext cx="9651124" cy="2777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2026-09-02T01:49:34Z</dcterms:created>
  <dc:creator>PptxGenJS</dc:creator>
</cp:coreProperties>
</file>